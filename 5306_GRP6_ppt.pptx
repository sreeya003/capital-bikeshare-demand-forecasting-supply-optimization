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71" r:id="rId8"/>
    <p:sldId id="266" r:id="rId9"/>
    <p:sldId id="270" r:id="rId10"/>
    <p:sldId id="272" r:id="rId11"/>
    <p:sldId id="267" r:id="rId12"/>
    <p:sldId id="262" r:id="rId13"/>
    <p:sldId id="263" r:id="rId14"/>
    <p:sldId id="273" r:id="rId15"/>
    <p:sldId id="264" r:id="rId16"/>
    <p:sldId id="274" r:id="rId17"/>
    <p:sldId id="275" r:id="rId18"/>
    <p:sldId id="268" r:id="rId19"/>
    <p:sldId id="269" r:id="rId20"/>
    <p:sldId id="276" r:id="rId21"/>
    <p:sldId id="265" r:id="rId22"/>
  </p:sldIdLst>
  <p:sldSz cx="18288000" cy="10287000"/>
  <p:notesSz cx="6858000" cy="9144000"/>
  <p:embeddedFontLst>
    <p:embeddedFont>
      <p:font typeface="Comic Sans MS" panose="030F0702030302020204" pitchFamily="66" charset="0"/>
      <p:regular r:id="rId24"/>
      <p:bold r:id="rId25"/>
      <p:italic r:id="rId26"/>
      <p:boldItalic r:id="rId27"/>
    </p:embeddedFont>
    <p:embeddedFont>
      <p:font typeface="Gabriola" panose="04040605051002020D02" pitchFamily="82"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2" d="100"/>
          <a:sy n="52" d="100"/>
        </p:scale>
        <p:origin x="850"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2A65F3FA-8FF7-52D7-C15B-419534424716}"/>
    <pc:docChg chg="modSld">
      <pc:chgData name="Guest User" userId="" providerId="Windows Live" clId="Web-{2A65F3FA-8FF7-52D7-C15B-419534424716}" dt="2026-04-30T14:46:06.726" v="448"/>
      <pc:docMkLst>
        <pc:docMk/>
      </pc:docMkLst>
      <pc:sldChg chg="modNotes">
        <pc:chgData name="Guest User" userId="" providerId="Windows Live" clId="Web-{2A65F3FA-8FF7-52D7-C15B-419534424716}" dt="2026-04-30T14:19:26.599" v="406"/>
        <pc:sldMkLst>
          <pc:docMk/>
          <pc:sldMk cId="0" sldId="262"/>
        </pc:sldMkLst>
      </pc:sldChg>
      <pc:sldChg chg="addSp delSp modSp modNotes">
        <pc:chgData name="Guest User" userId="" providerId="Windows Live" clId="Web-{2A65F3FA-8FF7-52D7-C15B-419534424716}" dt="2026-04-30T13:59:14.241" v="288"/>
        <pc:sldMkLst>
          <pc:docMk/>
          <pc:sldMk cId="0" sldId="263"/>
        </pc:sldMkLst>
        <pc:spChg chg="add del mod">
          <ac:chgData name="Guest User" userId="" providerId="Windows Live" clId="Web-{2A65F3FA-8FF7-52D7-C15B-419534424716}" dt="2026-04-30T08:03:54.754" v="4"/>
          <ac:spMkLst>
            <pc:docMk/>
            <pc:sldMk cId="0" sldId="263"/>
            <ac:spMk id="2" creationId="{2EA49FC3-96AB-6ED0-F61F-8188BDC13E9D}"/>
          </ac:spMkLst>
        </pc:spChg>
      </pc:sldChg>
      <pc:sldChg chg="modNotes">
        <pc:chgData name="Guest User" userId="" providerId="Windows Live" clId="Web-{2A65F3FA-8FF7-52D7-C15B-419534424716}" dt="2026-04-30T14:26:07.710" v="424"/>
        <pc:sldMkLst>
          <pc:docMk/>
          <pc:sldMk cId="0" sldId="264"/>
        </pc:sldMkLst>
      </pc:sldChg>
      <pc:sldChg chg="modNotes">
        <pc:chgData name="Guest User" userId="" providerId="Windows Live" clId="Web-{2A65F3FA-8FF7-52D7-C15B-419534424716}" dt="2026-04-30T07:28:37.364" v="0"/>
        <pc:sldMkLst>
          <pc:docMk/>
          <pc:sldMk cId="3972867019" sldId="267"/>
        </pc:sldMkLst>
      </pc:sldChg>
      <pc:sldChg chg="modNotes">
        <pc:chgData name="Guest User" userId="" providerId="Windows Live" clId="Web-{2A65F3FA-8FF7-52D7-C15B-419534424716}" dt="2026-04-30T14:43:19.349" v="441"/>
        <pc:sldMkLst>
          <pc:docMk/>
          <pc:sldMk cId="2699096952" sldId="268"/>
        </pc:sldMkLst>
      </pc:sldChg>
      <pc:sldChg chg="modNotes">
        <pc:chgData name="Guest User" userId="" providerId="Windows Live" clId="Web-{2A65F3FA-8FF7-52D7-C15B-419534424716}" dt="2026-04-30T14:13:56.908" v="403"/>
        <pc:sldMkLst>
          <pc:docMk/>
          <pc:sldMk cId="882299899" sldId="273"/>
        </pc:sldMkLst>
      </pc:sldChg>
      <pc:sldChg chg="modNotes">
        <pc:chgData name="Guest User" userId="" providerId="Windows Live" clId="Web-{2A65F3FA-8FF7-52D7-C15B-419534424716}" dt="2026-04-30T14:46:06.726" v="448"/>
        <pc:sldMkLst>
          <pc:docMk/>
          <pc:sldMk cId="504980920" sldId="275"/>
        </pc:sldMkLst>
      </pc:sldChg>
    </pc:docChg>
  </pc:docChgLst>
  <pc:docChgLst>
    <pc:chgData name="Guest User" providerId="Windows Live" clId="Web-{39D23D61-8004-93E9-B389-4103A0F77604}"/>
    <pc:docChg chg="modSld">
      <pc:chgData name="Guest User" userId="" providerId="Windows Live" clId="Web-{39D23D61-8004-93E9-B389-4103A0F77604}" dt="2026-04-30T02:04:16.323" v="14" actId="20577"/>
      <pc:docMkLst>
        <pc:docMk/>
      </pc:docMkLst>
      <pc:sldChg chg="modSp">
        <pc:chgData name="Guest User" userId="" providerId="Windows Live" clId="Web-{39D23D61-8004-93E9-B389-4103A0F77604}" dt="2026-04-30T02:04:16.323" v="14" actId="20577"/>
        <pc:sldMkLst>
          <pc:docMk/>
          <pc:sldMk cId="0" sldId="256"/>
        </pc:sldMkLst>
        <pc:spChg chg="mod">
          <ac:chgData name="Guest User" userId="" providerId="Windows Live" clId="Web-{39D23D61-8004-93E9-B389-4103A0F77604}" dt="2026-04-30T02:04:16.323" v="14" actId="20577"/>
          <ac:spMkLst>
            <pc:docMk/>
            <pc:sldMk cId="0" sldId="256"/>
            <ac:spMk id="3" creationId="{00000000-0000-0000-0000-000000000000}"/>
          </ac:spMkLst>
        </pc:spChg>
        <pc:spChg chg="mod">
          <ac:chgData name="Guest User" userId="" providerId="Windows Live" clId="Web-{39D23D61-8004-93E9-B389-4103A0F77604}" dt="2026-04-30T02:04:01.243" v="13" actId="20577"/>
          <ac:spMkLst>
            <pc:docMk/>
            <pc:sldMk cId="0" sldId="256"/>
            <ac:spMk id="6" creationId="{00000000-0000-0000-0000-000000000000}"/>
          </ac:spMkLst>
        </pc:spChg>
      </pc:sldChg>
      <pc:sldChg chg="modSp">
        <pc:chgData name="Guest User" userId="" providerId="Windows Live" clId="Web-{39D23D61-8004-93E9-B389-4103A0F77604}" dt="2026-04-30T02:03:16.880" v="11" actId="20577"/>
        <pc:sldMkLst>
          <pc:docMk/>
          <pc:sldMk cId="2699096952" sldId="268"/>
        </pc:sldMkLst>
        <pc:spChg chg="mod">
          <ac:chgData name="Guest User" userId="" providerId="Windows Live" clId="Web-{39D23D61-8004-93E9-B389-4103A0F77604}" dt="2026-04-30T02:03:16.880" v="11" actId="20577"/>
          <ac:spMkLst>
            <pc:docMk/>
            <pc:sldMk cId="2699096952" sldId="268"/>
            <ac:spMk id="5" creationId="{A524C22F-133E-3EAD-78D1-EF35D73ABBF0}"/>
          </ac:spMkLst>
        </pc:spChg>
      </pc:sldChg>
      <pc:sldChg chg="modSp">
        <pc:chgData name="Guest User" userId="" providerId="Windows Live" clId="Web-{39D23D61-8004-93E9-B389-4103A0F77604}" dt="2026-04-30T02:02:23.161" v="0" actId="20577"/>
        <pc:sldMkLst>
          <pc:docMk/>
          <pc:sldMk cId="504980920" sldId="275"/>
        </pc:sldMkLst>
        <pc:spChg chg="mod">
          <ac:chgData name="Guest User" userId="" providerId="Windows Live" clId="Web-{39D23D61-8004-93E9-B389-4103A0F77604}" dt="2026-04-30T02:02:23.161" v="0" actId="20577"/>
          <ac:spMkLst>
            <pc:docMk/>
            <pc:sldMk cId="504980920" sldId="275"/>
            <ac:spMk id="5" creationId="{CF368A5F-C017-C084-54FB-6CF22E2DEFDC}"/>
          </ac:spMkLst>
        </pc:spChg>
      </pc:sldChg>
    </pc:docChg>
  </pc:docChgLst>
  <pc:docChgLst>
    <pc:chgData name="Guest User" providerId="Windows Live" clId="Web-{0101B37E-0737-34E9-9766-F329C7BB581C}"/>
    <pc:docChg chg="modSld">
      <pc:chgData name="Guest User" userId="" providerId="Windows Live" clId="Web-{0101B37E-0737-34E9-9766-F329C7BB581C}" dt="2026-04-30T16:40:17.066" v="33"/>
      <pc:docMkLst>
        <pc:docMk/>
      </pc:docMkLst>
      <pc:sldChg chg="modNotes">
        <pc:chgData name="Guest User" userId="" providerId="Windows Live" clId="Web-{0101B37E-0737-34E9-9766-F329C7BB581C}" dt="2026-04-30T16:16:03.565" v="1"/>
        <pc:sldMkLst>
          <pc:docMk/>
          <pc:sldMk cId="0" sldId="264"/>
        </pc:sldMkLst>
      </pc:sldChg>
      <pc:sldChg chg="modNotes">
        <pc:chgData name="Guest User" userId="" providerId="Windows Live" clId="Web-{0101B37E-0737-34E9-9766-F329C7BB581C}" dt="2026-04-30T16:31:05.725" v="27"/>
        <pc:sldMkLst>
          <pc:docMk/>
          <pc:sldMk cId="882299899" sldId="273"/>
        </pc:sldMkLst>
      </pc:sldChg>
      <pc:sldChg chg="modNotes">
        <pc:chgData name="Guest User" userId="" providerId="Windows Live" clId="Web-{0101B37E-0737-34E9-9766-F329C7BB581C}" dt="2026-04-30T16:40:17.066" v="33"/>
        <pc:sldMkLst>
          <pc:docMk/>
          <pc:sldMk cId="2549816025" sldId="274"/>
        </pc:sldMkLst>
      </pc:sldChg>
    </pc:docChg>
  </pc:docChgLst>
  <pc:docChgLst>
    <pc:chgData name="Ch Venkata Satya Sreeya" userId="251eb767ea549acd" providerId="LiveId" clId="{7B55E39F-7BB4-444A-80D5-2407CB8BF237}"/>
    <pc:docChg chg="custSel addSld modSld">
      <pc:chgData name="Ch Venkata Satya Sreeya" userId="251eb767ea549acd" providerId="LiveId" clId="{7B55E39F-7BB4-444A-80D5-2407CB8BF237}" dt="2026-05-01T00:28:44.003" v="562" actId="1036"/>
      <pc:docMkLst>
        <pc:docMk/>
      </pc:docMkLst>
      <pc:sldChg chg="addSp modSp mod">
        <pc:chgData name="Ch Venkata Satya Sreeya" userId="251eb767ea549acd" providerId="LiveId" clId="{7B55E39F-7BB4-444A-80D5-2407CB8BF237}" dt="2026-04-30T16:03:08.507" v="536" actId="113"/>
        <pc:sldMkLst>
          <pc:docMk/>
          <pc:sldMk cId="0" sldId="256"/>
        </pc:sldMkLst>
        <pc:spChg chg="add mod">
          <ac:chgData name="Ch Venkata Satya Sreeya" userId="251eb767ea549acd" providerId="LiveId" clId="{7B55E39F-7BB4-444A-80D5-2407CB8BF237}" dt="2026-04-30T16:03:08.507" v="536" actId="113"/>
          <ac:spMkLst>
            <pc:docMk/>
            <pc:sldMk cId="0" sldId="256"/>
            <ac:spMk id="14" creationId="{EAC04296-5780-8827-BB66-6EB0B298ABDF}"/>
          </ac:spMkLst>
        </pc:spChg>
      </pc:sldChg>
      <pc:sldChg chg="modSp mod">
        <pc:chgData name="Ch Venkata Satya Sreeya" userId="251eb767ea549acd" providerId="LiveId" clId="{7B55E39F-7BB4-444A-80D5-2407CB8BF237}" dt="2026-04-30T02:53:30.628" v="44" actId="20577"/>
        <pc:sldMkLst>
          <pc:docMk/>
          <pc:sldMk cId="0" sldId="257"/>
        </pc:sldMkLst>
        <pc:spChg chg="mod">
          <ac:chgData name="Ch Venkata Satya Sreeya" userId="251eb767ea549acd" providerId="LiveId" clId="{7B55E39F-7BB4-444A-80D5-2407CB8BF237}" dt="2026-04-30T02:53:30.628" v="44" actId="20577"/>
          <ac:spMkLst>
            <pc:docMk/>
            <pc:sldMk cId="0" sldId="257"/>
            <ac:spMk id="5" creationId="{B2F49866-7D4F-478A-125B-EEA9CA1B912D}"/>
          </ac:spMkLst>
        </pc:spChg>
      </pc:sldChg>
      <pc:sldChg chg="modSp mod">
        <pc:chgData name="Ch Venkata Satya Sreeya" userId="251eb767ea549acd" providerId="LiveId" clId="{7B55E39F-7BB4-444A-80D5-2407CB8BF237}" dt="2026-05-01T00:28:44.003" v="562" actId="1036"/>
        <pc:sldMkLst>
          <pc:docMk/>
          <pc:sldMk cId="0" sldId="259"/>
        </pc:sldMkLst>
        <pc:spChg chg="mod">
          <ac:chgData name="Ch Venkata Satya Sreeya" userId="251eb767ea549acd" providerId="LiveId" clId="{7B55E39F-7BB4-444A-80D5-2407CB8BF237}" dt="2026-05-01T00:28:44.003" v="562" actId="1036"/>
          <ac:spMkLst>
            <pc:docMk/>
            <pc:sldMk cId="0" sldId="259"/>
            <ac:spMk id="2" creationId="{00000000-0000-0000-0000-000000000000}"/>
          </ac:spMkLst>
        </pc:spChg>
      </pc:sldChg>
      <pc:sldChg chg="modSp mod">
        <pc:chgData name="Ch Venkata Satya Sreeya" userId="251eb767ea549acd" providerId="LiveId" clId="{7B55E39F-7BB4-444A-80D5-2407CB8BF237}" dt="2026-04-30T16:08:33.067" v="545" actId="1076"/>
        <pc:sldMkLst>
          <pc:docMk/>
          <pc:sldMk cId="0" sldId="260"/>
        </pc:sldMkLst>
        <pc:spChg chg="mod">
          <ac:chgData name="Ch Venkata Satya Sreeya" userId="251eb767ea549acd" providerId="LiveId" clId="{7B55E39F-7BB4-444A-80D5-2407CB8BF237}" dt="2026-04-30T16:08:33.067" v="545" actId="1076"/>
          <ac:spMkLst>
            <pc:docMk/>
            <pc:sldMk cId="0" sldId="260"/>
            <ac:spMk id="12" creationId="{00000000-0000-0000-0000-000000000000}"/>
          </ac:spMkLst>
        </pc:spChg>
        <pc:graphicFrameChg chg="mod">
          <ac:chgData name="Ch Venkata Satya Sreeya" userId="251eb767ea549acd" providerId="LiveId" clId="{7B55E39F-7BB4-444A-80D5-2407CB8BF237}" dt="2026-04-30T16:08:29.121" v="544" actId="1076"/>
          <ac:graphicFrameMkLst>
            <pc:docMk/>
            <pc:sldMk cId="0" sldId="260"/>
            <ac:graphicFrameMk id="24" creationId="{B2F1A372-1BED-5E8B-A442-1E4679DBFCE5}"/>
          </ac:graphicFrameMkLst>
        </pc:graphicFrameChg>
      </pc:sldChg>
      <pc:sldChg chg="modNotesTx">
        <pc:chgData name="Ch Venkata Satya Sreeya" userId="251eb767ea549acd" providerId="LiveId" clId="{7B55E39F-7BB4-444A-80D5-2407CB8BF237}" dt="2026-04-30T13:17:40.145" v="501" actId="20577"/>
        <pc:sldMkLst>
          <pc:docMk/>
          <pc:sldMk cId="0" sldId="261"/>
        </pc:sldMkLst>
      </pc:sldChg>
      <pc:sldChg chg="modSp mod">
        <pc:chgData name="Ch Venkata Satya Sreeya" userId="251eb767ea549acd" providerId="LiveId" clId="{7B55E39F-7BB4-444A-80D5-2407CB8BF237}" dt="2026-04-30T03:18:18.577" v="50" actId="20577"/>
        <pc:sldMkLst>
          <pc:docMk/>
          <pc:sldMk cId="0" sldId="262"/>
        </pc:sldMkLst>
        <pc:spChg chg="mod">
          <ac:chgData name="Ch Venkata Satya Sreeya" userId="251eb767ea549acd" providerId="LiveId" clId="{7B55E39F-7BB4-444A-80D5-2407CB8BF237}" dt="2026-04-30T03:18:18.577" v="50" actId="20577"/>
          <ac:spMkLst>
            <pc:docMk/>
            <pc:sldMk cId="0" sldId="262"/>
            <ac:spMk id="19" creationId="{645B5DD9-4EF5-5A5D-7D4D-236198FBB8E0}"/>
          </ac:spMkLst>
        </pc:spChg>
      </pc:sldChg>
      <pc:sldChg chg="addSp delSp modSp mod">
        <pc:chgData name="Ch Venkata Satya Sreeya" userId="251eb767ea549acd" providerId="LiveId" clId="{7B55E39F-7BB4-444A-80D5-2407CB8BF237}" dt="2026-04-30T16:11:19.486" v="550" actId="120"/>
        <pc:sldMkLst>
          <pc:docMk/>
          <pc:sldMk cId="2397117421" sldId="266"/>
        </pc:sldMkLst>
        <pc:spChg chg="mod">
          <ac:chgData name="Ch Venkata Satya Sreeya" userId="251eb767ea549acd" providerId="LiveId" clId="{7B55E39F-7BB4-444A-80D5-2407CB8BF237}" dt="2026-04-30T03:56:44.516" v="109"/>
          <ac:spMkLst>
            <pc:docMk/>
            <pc:sldMk cId="2397117421" sldId="266"/>
            <ac:spMk id="7" creationId="{5486EC26-D68F-905E-8E44-CEB48029F6C3}"/>
          </ac:spMkLst>
        </pc:spChg>
        <pc:spChg chg="add mod">
          <ac:chgData name="Ch Venkata Satya Sreeya" userId="251eb767ea549acd" providerId="LiveId" clId="{7B55E39F-7BB4-444A-80D5-2407CB8BF237}" dt="2026-04-30T16:11:19.486" v="550" actId="120"/>
          <ac:spMkLst>
            <pc:docMk/>
            <pc:sldMk cId="2397117421" sldId="266"/>
            <ac:spMk id="8" creationId="{2B72F907-471B-A641-0D08-A1F209348430}"/>
          </ac:spMkLst>
        </pc:spChg>
        <pc:spChg chg="del">
          <ac:chgData name="Ch Venkata Satya Sreeya" userId="251eb767ea549acd" providerId="LiveId" clId="{7B55E39F-7BB4-444A-80D5-2407CB8BF237}" dt="2026-04-30T03:56:50.407" v="110" actId="478"/>
          <ac:spMkLst>
            <pc:docMk/>
            <pc:sldMk cId="2397117421" sldId="266"/>
            <ac:spMk id="17" creationId="{ED9C88A5-267D-4B99-D718-E976F06B5A24}"/>
          </ac:spMkLst>
        </pc:spChg>
        <pc:picChg chg="add mod modCrop">
          <ac:chgData name="Ch Venkata Satya Sreeya" userId="251eb767ea549acd" providerId="LiveId" clId="{7B55E39F-7BB4-444A-80D5-2407CB8BF237}" dt="2026-04-30T03:58:32.867" v="127" actId="1076"/>
          <ac:picMkLst>
            <pc:docMk/>
            <pc:sldMk cId="2397117421" sldId="266"/>
            <ac:picMk id="5" creationId="{DC56CF39-A144-FB25-5B68-E4F30753DAC8}"/>
          </ac:picMkLst>
        </pc:picChg>
        <pc:picChg chg="del">
          <ac:chgData name="Ch Venkata Satya Sreeya" userId="251eb767ea549acd" providerId="LiveId" clId="{7B55E39F-7BB4-444A-80D5-2407CB8BF237}" dt="2026-04-30T03:56:16.931" v="103" actId="478"/>
          <ac:picMkLst>
            <pc:docMk/>
            <pc:sldMk cId="2397117421" sldId="266"/>
            <ac:picMk id="6" creationId="{D6AE3EF9-F174-5956-11AC-3BD6EC8D11CC}"/>
          </ac:picMkLst>
        </pc:picChg>
      </pc:sldChg>
      <pc:sldChg chg="modSp modNotesTx">
        <pc:chgData name="Ch Venkata Satya Sreeya" userId="251eb767ea549acd" providerId="LiveId" clId="{7B55E39F-7BB4-444A-80D5-2407CB8BF237}" dt="2026-04-30T16:31:19.464" v="556" actId="20577"/>
        <pc:sldMkLst>
          <pc:docMk/>
          <pc:sldMk cId="2635779298" sldId="270"/>
        </pc:sldMkLst>
        <pc:spChg chg="mod">
          <ac:chgData name="Ch Venkata Satya Sreeya" userId="251eb767ea549acd" providerId="LiveId" clId="{7B55E39F-7BB4-444A-80D5-2407CB8BF237}" dt="2026-04-30T16:11:34.098" v="551" actId="14100"/>
          <ac:spMkLst>
            <pc:docMk/>
            <pc:sldMk cId="2635779298" sldId="270"/>
            <ac:spMk id="17" creationId="{6A7A19F4-72A4-4634-DC09-C82A3DBDDEAB}"/>
          </ac:spMkLst>
        </pc:spChg>
      </pc:sldChg>
      <pc:sldChg chg="modSp mod">
        <pc:chgData name="Ch Venkata Satya Sreeya" userId="251eb767ea549acd" providerId="LiveId" clId="{7B55E39F-7BB4-444A-80D5-2407CB8BF237}" dt="2026-04-30T16:11:12.637" v="547" actId="14100"/>
        <pc:sldMkLst>
          <pc:docMk/>
          <pc:sldMk cId="2851990807" sldId="271"/>
        </pc:sldMkLst>
        <pc:spChg chg="mod">
          <ac:chgData name="Ch Venkata Satya Sreeya" userId="251eb767ea549acd" providerId="LiveId" clId="{7B55E39F-7BB4-444A-80D5-2407CB8BF237}" dt="2026-04-30T16:11:12.637" v="547" actId="14100"/>
          <ac:spMkLst>
            <pc:docMk/>
            <pc:sldMk cId="2851990807" sldId="271"/>
            <ac:spMk id="8" creationId="{5F229070-7029-8156-5C2C-1DA74E7F5F36}"/>
          </ac:spMkLst>
        </pc:spChg>
      </pc:sldChg>
      <pc:sldChg chg="modSp mod">
        <pc:chgData name="Ch Venkata Satya Sreeya" userId="251eb767ea549acd" providerId="LiveId" clId="{7B55E39F-7BB4-444A-80D5-2407CB8BF237}" dt="2026-04-30T16:13:31.341" v="553" actId="113"/>
        <pc:sldMkLst>
          <pc:docMk/>
          <pc:sldMk cId="882299899" sldId="273"/>
        </pc:sldMkLst>
        <pc:graphicFrameChg chg="modGraphic">
          <ac:chgData name="Ch Venkata Satya Sreeya" userId="251eb767ea549acd" providerId="LiveId" clId="{7B55E39F-7BB4-444A-80D5-2407CB8BF237}" dt="2026-04-30T16:13:31.341" v="553" actId="113"/>
          <ac:graphicFrameMkLst>
            <pc:docMk/>
            <pc:sldMk cId="882299899" sldId="273"/>
            <ac:graphicFrameMk id="19" creationId="{D8DAD86E-330E-3514-792C-D38DE419C2D3}"/>
          </ac:graphicFrameMkLst>
        </pc:graphicFrameChg>
      </pc:sldChg>
      <pc:sldChg chg="addSp delSp modSp add mod">
        <pc:chgData name="Ch Venkata Satya Sreeya" userId="251eb767ea549acd" providerId="LiveId" clId="{7B55E39F-7BB4-444A-80D5-2407CB8BF237}" dt="2026-04-30T16:38:06.003" v="560" actId="403"/>
        <pc:sldMkLst>
          <pc:docMk/>
          <pc:sldMk cId="3233809977" sldId="276"/>
        </pc:sldMkLst>
        <pc:spChg chg="add mod">
          <ac:chgData name="Ch Venkata Satya Sreeya" userId="251eb767ea549acd" providerId="LiveId" clId="{7B55E39F-7BB4-444A-80D5-2407CB8BF237}" dt="2026-04-30T16:38:01.688" v="558" actId="403"/>
          <ac:spMkLst>
            <pc:docMk/>
            <pc:sldMk cId="3233809977" sldId="276"/>
            <ac:spMk id="2" creationId="{B423344E-8FE7-70FA-52CF-A41FBC0DEA90}"/>
          </ac:spMkLst>
        </pc:spChg>
        <pc:spChg chg="del mod">
          <ac:chgData name="Ch Venkata Satya Sreeya" userId="251eb767ea549acd" providerId="LiveId" clId="{7B55E39F-7BB4-444A-80D5-2407CB8BF237}" dt="2026-04-30T03:34:24.753" v="66"/>
          <ac:spMkLst>
            <pc:docMk/>
            <pc:sldMk cId="3233809977" sldId="276"/>
            <ac:spMk id="6" creationId="{D6152290-E615-F863-633C-EE818F59A592}"/>
          </ac:spMkLst>
        </pc:spChg>
        <pc:spChg chg="mod">
          <ac:chgData name="Ch Venkata Satya Sreeya" userId="251eb767ea549acd" providerId="LiveId" clId="{7B55E39F-7BB4-444A-80D5-2407CB8BF237}" dt="2026-04-30T16:38:06.003" v="560" actId="403"/>
          <ac:spMkLst>
            <pc:docMk/>
            <pc:sldMk cId="3233809977" sldId="276"/>
            <ac:spMk id="7" creationId="{AB006DF1-1F40-62CB-FD5C-DFCCC71739E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A6B6986-7B5A-43B0-87AF-4233D59E1E77}" type="doc">
      <dgm:prSet loTypeId="urn:microsoft.com/office/officeart/2005/8/layout/chevronAccent+Icon" loCatId="process" qsTypeId="urn:microsoft.com/office/officeart/2005/8/quickstyle/simple1" qsCatId="simple" csTypeId="urn:microsoft.com/office/officeart/2005/8/colors/colorful3" csCatId="colorful" phldr="1"/>
      <dgm:spPr/>
      <dgm:t>
        <a:bodyPr/>
        <a:lstStyle/>
        <a:p>
          <a:endParaRPr lang="en-US"/>
        </a:p>
      </dgm:t>
    </dgm:pt>
    <dgm:pt modelId="{892EE3C9-AEFB-449E-BEA3-C9D63CDFB7E1}">
      <dgm:prSet custT="1"/>
      <dgm:spPr/>
      <dgm:t>
        <a:bodyPr/>
        <a:lstStyle/>
        <a:p>
          <a:r>
            <a:rPr lang="en-US" sz="2400" b="1" i="0" baseline="0">
              <a:latin typeface="Comic Sans MS" panose="030F0702030302020204" pitchFamily="66" charset="0"/>
            </a:rPr>
            <a:t>Temporal Alignment &amp; Integrity Audit</a:t>
          </a:r>
          <a:endParaRPr lang="en-US" sz="2400">
            <a:latin typeface="Comic Sans MS" panose="030F0702030302020204" pitchFamily="66" charset="0"/>
          </a:endParaRPr>
        </a:p>
      </dgm:t>
    </dgm:pt>
    <dgm:pt modelId="{F0A693C3-E6A7-4DFC-8C05-D00AC05FF6E2}" type="parTrans" cxnId="{09E23A1F-42DF-421E-8FF8-30467523CCC4}">
      <dgm:prSet/>
      <dgm:spPr/>
      <dgm:t>
        <a:bodyPr/>
        <a:lstStyle/>
        <a:p>
          <a:endParaRPr lang="en-US" sz="2400"/>
        </a:p>
      </dgm:t>
    </dgm:pt>
    <dgm:pt modelId="{3016D53E-8742-4960-B6B5-21A303861B5A}" type="sibTrans" cxnId="{09E23A1F-42DF-421E-8FF8-30467523CCC4}">
      <dgm:prSet custT="1"/>
      <dgm:spPr/>
      <dgm:t>
        <a:bodyPr/>
        <a:lstStyle/>
        <a:p>
          <a:endParaRPr lang="en-US" sz="4400"/>
        </a:p>
      </dgm:t>
    </dgm:pt>
    <dgm:pt modelId="{4F846BF3-1503-4B0B-BA8C-B43334283160}">
      <dgm:prSet custT="1"/>
      <dgm:spPr/>
      <dgm:t>
        <a:bodyPr/>
        <a:lstStyle/>
        <a:p>
          <a:r>
            <a:rPr lang="en-US" sz="2400" b="1" i="0" baseline="0">
              <a:latin typeface="Comic Sans MS" panose="030F0702030302020204" pitchFamily="66" charset="0"/>
            </a:rPr>
            <a:t>Intelligent Imputation (The "Sandy" Solution)</a:t>
          </a:r>
          <a:endParaRPr lang="en-US" sz="2400">
            <a:latin typeface="Comic Sans MS" panose="030F0702030302020204" pitchFamily="66" charset="0"/>
          </a:endParaRPr>
        </a:p>
      </dgm:t>
    </dgm:pt>
    <dgm:pt modelId="{5B7EB634-61D1-40C5-A11E-3C6571BD833C}" type="parTrans" cxnId="{2BBF0396-5BDB-4F49-99E4-FAC689E9DE58}">
      <dgm:prSet/>
      <dgm:spPr/>
      <dgm:t>
        <a:bodyPr/>
        <a:lstStyle/>
        <a:p>
          <a:endParaRPr lang="en-US" sz="2400"/>
        </a:p>
      </dgm:t>
    </dgm:pt>
    <dgm:pt modelId="{B74B9004-D17D-409B-9A37-7E3A653876ED}" type="sibTrans" cxnId="{2BBF0396-5BDB-4F49-99E4-FAC689E9DE58}">
      <dgm:prSet custT="1"/>
      <dgm:spPr/>
      <dgm:t>
        <a:bodyPr/>
        <a:lstStyle/>
        <a:p>
          <a:endParaRPr lang="en-US" sz="4400"/>
        </a:p>
      </dgm:t>
    </dgm:pt>
    <dgm:pt modelId="{D798F515-32B0-49E1-9A93-7FF31BCF4BAE}">
      <dgm:prSet custT="1"/>
      <dgm:spPr/>
      <dgm:t>
        <a:bodyPr/>
        <a:lstStyle/>
        <a:p>
          <a:r>
            <a:rPr lang="en-US" sz="2400" b="1" i="0" baseline="0">
              <a:latin typeface="Comic Sans MS" panose="030F0702030302020204" pitchFamily="66" charset="0"/>
            </a:rPr>
            <a:t>Outlier Correction &amp; Sensor Repair</a:t>
          </a:r>
          <a:endParaRPr lang="en-US" sz="2400">
            <a:latin typeface="Comic Sans MS" panose="030F0702030302020204" pitchFamily="66" charset="0"/>
          </a:endParaRPr>
        </a:p>
      </dgm:t>
    </dgm:pt>
    <dgm:pt modelId="{72388152-2CFF-4D0A-BD60-3F5C27454CF9}" type="parTrans" cxnId="{449B60A9-CD83-4FD0-BB6B-A13070705D50}">
      <dgm:prSet/>
      <dgm:spPr/>
      <dgm:t>
        <a:bodyPr/>
        <a:lstStyle/>
        <a:p>
          <a:endParaRPr lang="en-US" sz="2400"/>
        </a:p>
      </dgm:t>
    </dgm:pt>
    <dgm:pt modelId="{FB683D24-6D8F-444F-8AF3-0BDF284D58A1}" type="sibTrans" cxnId="{449B60A9-CD83-4FD0-BB6B-A13070705D50}">
      <dgm:prSet custT="1"/>
      <dgm:spPr/>
      <dgm:t>
        <a:bodyPr/>
        <a:lstStyle/>
        <a:p>
          <a:endParaRPr lang="en-US" sz="4400"/>
        </a:p>
      </dgm:t>
    </dgm:pt>
    <dgm:pt modelId="{17AAFFEA-DEB0-44A2-9415-D1814DE33A30}">
      <dgm:prSet custT="1"/>
      <dgm:spPr/>
      <dgm:t>
        <a:bodyPr/>
        <a:lstStyle/>
        <a:p>
          <a:r>
            <a:rPr lang="en-US" sz="2400" b="1" i="0" baseline="0">
              <a:latin typeface="Comic Sans MS" panose="030F0702030302020204" pitchFamily="66" charset="0"/>
            </a:rPr>
            <a:t>Stationarity Transformation</a:t>
          </a:r>
          <a:endParaRPr lang="en-US" sz="2400">
            <a:latin typeface="Comic Sans MS" panose="030F0702030302020204" pitchFamily="66" charset="0"/>
          </a:endParaRPr>
        </a:p>
      </dgm:t>
    </dgm:pt>
    <dgm:pt modelId="{E0D1870A-479A-407D-8B1D-D07496B2ECC2}" type="parTrans" cxnId="{B286ED53-E617-4A59-A25E-CD710F7E10DD}">
      <dgm:prSet/>
      <dgm:spPr/>
      <dgm:t>
        <a:bodyPr/>
        <a:lstStyle/>
        <a:p>
          <a:endParaRPr lang="en-US" sz="2400"/>
        </a:p>
      </dgm:t>
    </dgm:pt>
    <dgm:pt modelId="{31136297-D2C4-49AF-AEBC-A278C20D9809}" type="sibTrans" cxnId="{B286ED53-E617-4A59-A25E-CD710F7E10DD}">
      <dgm:prSet/>
      <dgm:spPr/>
      <dgm:t>
        <a:bodyPr/>
        <a:lstStyle/>
        <a:p>
          <a:endParaRPr lang="en-US" sz="2400"/>
        </a:p>
      </dgm:t>
    </dgm:pt>
    <dgm:pt modelId="{27B95C03-BB55-4930-8AB2-4945E4E74CC7}" type="pres">
      <dgm:prSet presAssocID="{AA6B6986-7B5A-43B0-87AF-4233D59E1E77}" presName="Name0" presStyleCnt="0">
        <dgm:presLayoutVars>
          <dgm:dir/>
          <dgm:resizeHandles val="exact"/>
        </dgm:presLayoutVars>
      </dgm:prSet>
      <dgm:spPr/>
    </dgm:pt>
    <dgm:pt modelId="{DD5E4B04-C35E-4C53-83DC-B63B3E0BE961}" type="pres">
      <dgm:prSet presAssocID="{892EE3C9-AEFB-449E-BEA3-C9D63CDFB7E1}" presName="composite" presStyleCnt="0"/>
      <dgm:spPr/>
    </dgm:pt>
    <dgm:pt modelId="{915B8833-574B-413E-91E3-3AA17386D239}" type="pres">
      <dgm:prSet presAssocID="{892EE3C9-AEFB-449E-BEA3-C9D63CDFB7E1}" presName="bgChev" presStyleLbl="node1" presStyleIdx="0" presStyleCnt="4"/>
      <dgm:spPr/>
    </dgm:pt>
    <dgm:pt modelId="{6EB253AA-109D-48CE-BFAD-AB2D8CB39021}" type="pres">
      <dgm:prSet presAssocID="{892EE3C9-AEFB-449E-BEA3-C9D63CDFB7E1}" presName="txNode" presStyleLbl="fgAcc1" presStyleIdx="0" presStyleCnt="4">
        <dgm:presLayoutVars>
          <dgm:bulletEnabled val="1"/>
        </dgm:presLayoutVars>
      </dgm:prSet>
      <dgm:spPr/>
    </dgm:pt>
    <dgm:pt modelId="{EA9AF65C-8487-4993-8948-B7D0D6B4B048}" type="pres">
      <dgm:prSet presAssocID="{3016D53E-8742-4960-B6B5-21A303861B5A}" presName="compositeSpace" presStyleCnt="0"/>
      <dgm:spPr/>
    </dgm:pt>
    <dgm:pt modelId="{090942A7-C966-45D3-81E4-DEB7B73F73E2}" type="pres">
      <dgm:prSet presAssocID="{4F846BF3-1503-4B0B-BA8C-B43334283160}" presName="composite" presStyleCnt="0"/>
      <dgm:spPr/>
    </dgm:pt>
    <dgm:pt modelId="{6F6A162F-EAB5-432B-AFBB-338553114B4E}" type="pres">
      <dgm:prSet presAssocID="{4F846BF3-1503-4B0B-BA8C-B43334283160}" presName="bgChev" presStyleLbl="node1" presStyleIdx="1" presStyleCnt="4"/>
      <dgm:spPr/>
    </dgm:pt>
    <dgm:pt modelId="{7E030AEF-AFB5-4934-9887-2EA8B61D8A1C}" type="pres">
      <dgm:prSet presAssocID="{4F846BF3-1503-4B0B-BA8C-B43334283160}" presName="txNode" presStyleLbl="fgAcc1" presStyleIdx="1" presStyleCnt="4">
        <dgm:presLayoutVars>
          <dgm:bulletEnabled val="1"/>
        </dgm:presLayoutVars>
      </dgm:prSet>
      <dgm:spPr/>
    </dgm:pt>
    <dgm:pt modelId="{9D9CD604-4AD2-4824-B953-F75511E2320B}" type="pres">
      <dgm:prSet presAssocID="{B74B9004-D17D-409B-9A37-7E3A653876ED}" presName="compositeSpace" presStyleCnt="0"/>
      <dgm:spPr/>
    </dgm:pt>
    <dgm:pt modelId="{C6E335E3-B6C3-4E72-9437-80C65F6B7599}" type="pres">
      <dgm:prSet presAssocID="{D798F515-32B0-49E1-9A93-7FF31BCF4BAE}" presName="composite" presStyleCnt="0"/>
      <dgm:spPr/>
    </dgm:pt>
    <dgm:pt modelId="{A2E61035-7F6D-43B0-9C02-4D70B7E2DD4C}" type="pres">
      <dgm:prSet presAssocID="{D798F515-32B0-49E1-9A93-7FF31BCF4BAE}" presName="bgChev" presStyleLbl="node1" presStyleIdx="2" presStyleCnt="4"/>
      <dgm:spPr/>
    </dgm:pt>
    <dgm:pt modelId="{216D0AD8-4452-46C2-9A69-21FFDF9D19CC}" type="pres">
      <dgm:prSet presAssocID="{D798F515-32B0-49E1-9A93-7FF31BCF4BAE}" presName="txNode" presStyleLbl="fgAcc1" presStyleIdx="2" presStyleCnt="4">
        <dgm:presLayoutVars>
          <dgm:bulletEnabled val="1"/>
        </dgm:presLayoutVars>
      </dgm:prSet>
      <dgm:spPr/>
    </dgm:pt>
    <dgm:pt modelId="{177A04AF-3B1D-45EC-AE54-A985AA879CAC}" type="pres">
      <dgm:prSet presAssocID="{FB683D24-6D8F-444F-8AF3-0BDF284D58A1}" presName="compositeSpace" presStyleCnt="0"/>
      <dgm:spPr/>
    </dgm:pt>
    <dgm:pt modelId="{55628C2C-1A31-439B-BF10-8812CBB7F5AD}" type="pres">
      <dgm:prSet presAssocID="{17AAFFEA-DEB0-44A2-9415-D1814DE33A30}" presName="composite" presStyleCnt="0"/>
      <dgm:spPr/>
    </dgm:pt>
    <dgm:pt modelId="{54612E85-C25A-415C-9EA8-5D8A41930CF4}" type="pres">
      <dgm:prSet presAssocID="{17AAFFEA-DEB0-44A2-9415-D1814DE33A30}" presName="bgChev" presStyleLbl="node1" presStyleIdx="3" presStyleCnt="4"/>
      <dgm:spPr/>
    </dgm:pt>
    <dgm:pt modelId="{990A07BC-F771-4DD3-9E0B-3E8CD96815C7}" type="pres">
      <dgm:prSet presAssocID="{17AAFFEA-DEB0-44A2-9415-D1814DE33A30}" presName="txNode" presStyleLbl="fgAcc1" presStyleIdx="3" presStyleCnt="4">
        <dgm:presLayoutVars>
          <dgm:bulletEnabled val="1"/>
        </dgm:presLayoutVars>
      </dgm:prSet>
      <dgm:spPr/>
    </dgm:pt>
  </dgm:ptLst>
  <dgm:cxnLst>
    <dgm:cxn modelId="{4CDF8004-4655-42F3-B410-FFF503D3A456}" type="presOf" srcId="{17AAFFEA-DEB0-44A2-9415-D1814DE33A30}" destId="{990A07BC-F771-4DD3-9E0B-3E8CD96815C7}" srcOrd="0" destOrd="0" presId="urn:microsoft.com/office/officeart/2005/8/layout/chevronAccent+Icon"/>
    <dgm:cxn modelId="{09E23A1F-42DF-421E-8FF8-30467523CCC4}" srcId="{AA6B6986-7B5A-43B0-87AF-4233D59E1E77}" destId="{892EE3C9-AEFB-449E-BEA3-C9D63CDFB7E1}" srcOrd="0" destOrd="0" parTransId="{F0A693C3-E6A7-4DFC-8C05-D00AC05FF6E2}" sibTransId="{3016D53E-8742-4960-B6B5-21A303861B5A}"/>
    <dgm:cxn modelId="{FD3F5944-5F62-4C25-9980-EDE481BF16DE}" type="presOf" srcId="{4F846BF3-1503-4B0B-BA8C-B43334283160}" destId="{7E030AEF-AFB5-4934-9887-2EA8B61D8A1C}" srcOrd="0" destOrd="0" presId="urn:microsoft.com/office/officeart/2005/8/layout/chevronAccent+Icon"/>
    <dgm:cxn modelId="{B286ED53-E617-4A59-A25E-CD710F7E10DD}" srcId="{AA6B6986-7B5A-43B0-87AF-4233D59E1E77}" destId="{17AAFFEA-DEB0-44A2-9415-D1814DE33A30}" srcOrd="3" destOrd="0" parTransId="{E0D1870A-479A-407D-8B1D-D07496B2ECC2}" sibTransId="{31136297-D2C4-49AF-AEBC-A278C20D9809}"/>
    <dgm:cxn modelId="{2BBF0396-5BDB-4F49-99E4-FAC689E9DE58}" srcId="{AA6B6986-7B5A-43B0-87AF-4233D59E1E77}" destId="{4F846BF3-1503-4B0B-BA8C-B43334283160}" srcOrd="1" destOrd="0" parTransId="{5B7EB634-61D1-40C5-A11E-3C6571BD833C}" sibTransId="{B74B9004-D17D-409B-9A37-7E3A653876ED}"/>
    <dgm:cxn modelId="{449B60A9-CD83-4FD0-BB6B-A13070705D50}" srcId="{AA6B6986-7B5A-43B0-87AF-4233D59E1E77}" destId="{D798F515-32B0-49E1-9A93-7FF31BCF4BAE}" srcOrd="2" destOrd="0" parTransId="{72388152-2CFF-4D0A-BD60-3F5C27454CF9}" sibTransId="{FB683D24-6D8F-444F-8AF3-0BDF284D58A1}"/>
    <dgm:cxn modelId="{F9BCA0B4-B162-4116-AA6D-21893611981B}" type="presOf" srcId="{D798F515-32B0-49E1-9A93-7FF31BCF4BAE}" destId="{216D0AD8-4452-46C2-9A69-21FFDF9D19CC}" srcOrd="0" destOrd="0" presId="urn:microsoft.com/office/officeart/2005/8/layout/chevronAccent+Icon"/>
    <dgm:cxn modelId="{3E34CDC0-CA81-4086-B534-D14789F751E1}" type="presOf" srcId="{892EE3C9-AEFB-449E-BEA3-C9D63CDFB7E1}" destId="{6EB253AA-109D-48CE-BFAD-AB2D8CB39021}" srcOrd="0" destOrd="0" presId="urn:microsoft.com/office/officeart/2005/8/layout/chevronAccent+Icon"/>
    <dgm:cxn modelId="{F0EB2BC6-DFF7-4EB5-8C10-4577C82765FF}" type="presOf" srcId="{AA6B6986-7B5A-43B0-87AF-4233D59E1E77}" destId="{27B95C03-BB55-4930-8AB2-4945E4E74CC7}" srcOrd="0" destOrd="0" presId="urn:microsoft.com/office/officeart/2005/8/layout/chevronAccent+Icon"/>
    <dgm:cxn modelId="{9EC5A2DE-81CC-4075-993B-9309865F07CF}" type="presParOf" srcId="{27B95C03-BB55-4930-8AB2-4945E4E74CC7}" destId="{DD5E4B04-C35E-4C53-83DC-B63B3E0BE961}" srcOrd="0" destOrd="0" presId="urn:microsoft.com/office/officeart/2005/8/layout/chevronAccent+Icon"/>
    <dgm:cxn modelId="{FADFDCAB-77C6-4AF0-9178-A9CAEDA1600F}" type="presParOf" srcId="{DD5E4B04-C35E-4C53-83DC-B63B3E0BE961}" destId="{915B8833-574B-413E-91E3-3AA17386D239}" srcOrd="0" destOrd="0" presId="urn:microsoft.com/office/officeart/2005/8/layout/chevronAccent+Icon"/>
    <dgm:cxn modelId="{6383D32C-FB1B-4004-9512-B403DCD8C4B5}" type="presParOf" srcId="{DD5E4B04-C35E-4C53-83DC-B63B3E0BE961}" destId="{6EB253AA-109D-48CE-BFAD-AB2D8CB39021}" srcOrd="1" destOrd="0" presId="urn:microsoft.com/office/officeart/2005/8/layout/chevronAccent+Icon"/>
    <dgm:cxn modelId="{177471B8-6331-430A-9FED-9634F33BCC0B}" type="presParOf" srcId="{27B95C03-BB55-4930-8AB2-4945E4E74CC7}" destId="{EA9AF65C-8487-4993-8948-B7D0D6B4B048}" srcOrd="1" destOrd="0" presId="urn:microsoft.com/office/officeart/2005/8/layout/chevronAccent+Icon"/>
    <dgm:cxn modelId="{CC6B9887-29EE-451B-B79C-7A343005D8B9}" type="presParOf" srcId="{27B95C03-BB55-4930-8AB2-4945E4E74CC7}" destId="{090942A7-C966-45D3-81E4-DEB7B73F73E2}" srcOrd="2" destOrd="0" presId="urn:microsoft.com/office/officeart/2005/8/layout/chevronAccent+Icon"/>
    <dgm:cxn modelId="{C75C03AC-273C-4CDF-B2EB-3D5EF5E84970}" type="presParOf" srcId="{090942A7-C966-45D3-81E4-DEB7B73F73E2}" destId="{6F6A162F-EAB5-432B-AFBB-338553114B4E}" srcOrd="0" destOrd="0" presId="urn:microsoft.com/office/officeart/2005/8/layout/chevronAccent+Icon"/>
    <dgm:cxn modelId="{6F95F3E6-9893-4E61-A8AC-4BDBBB088781}" type="presParOf" srcId="{090942A7-C966-45D3-81E4-DEB7B73F73E2}" destId="{7E030AEF-AFB5-4934-9887-2EA8B61D8A1C}" srcOrd="1" destOrd="0" presId="urn:microsoft.com/office/officeart/2005/8/layout/chevronAccent+Icon"/>
    <dgm:cxn modelId="{98EC9109-EC47-45D5-B8E1-EC20632D617C}" type="presParOf" srcId="{27B95C03-BB55-4930-8AB2-4945E4E74CC7}" destId="{9D9CD604-4AD2-4824-B953-F75511E2320B}" srcOrd="3" destOrd="0" presId="urn:microsoft.com/office/officeart/2005/8/layout/chevronAccent+Icon"/>
    <dgm:cxn modelId="{4F16DECB-20BF-4E39-9A15-79CC1A2CA08B}" type="presParOf" srcId="{27B95C03-BB55-4930-8AB2-4945E4E74CC7}" destId="{C6E335E3-B6C3-4E72-9437-80C65F6B7599}" srcOrd="4" destOrd="0" presId="urn:microsoft.com/office/officeart/2005/8/layout/chevronAccent+Icon"/>
    <dgm:cxn modelId="{0064EE6E-46F0-4BE3-9CAF-F708BF915D27}" type="presParOf" srcId="{C6E335E3-B6C3-4E72-9437-80C65F6B7599}" destId="{A2E61035-7F6D-43B0-9C02-4D70B7E2DD4C}" srcOrd="0" destOrd="0" presId="urn:microsoft.com/office/officeart/2005/8/layout/chevronAccent+Icon"/>
    <dgm:cxn modelId="{773720B7-88E1-4522-811A-2F9BDD953D6C}" type="presParOf" srcId="{C6E335E3-B6C3-4E72-9437-80C65F6B7599}" destId="{216D0AD8-4452-46C2-9A69-21FFDF9D19CC}" srcOrd="1" destOrd="0" presId="urn:microsoft.com/office/officeart/2005/8/layout/chevronAccent+Icon"/>
    <dgm:cxn modelId="{1C253644-47D3-4643-9331-5AE2ED622209}" type="presParOf" srcId="{27B95C03-BB55-4930-8AB2-4945E4E74CC7}" destId="{177A04AF-3B1D-45EC-AE54-A985AA879CAC}" srcOrd="5" destOrd="0" presId="urn:microsoft.com/office/officeart/2005/8/layout/chevronAccent+Icon"/>
    <dgm:cxn modelId="{DD6043B7-3C32-400E-B539-194DB74C2780}" type="presParOf" srcId="{27B95C03-BB55-4930-8AB2-4945E4E74CC7}" destId="{55628C2C-1A31-439B-BF10-8812CBB7F5AD}" srcOrd="6" destOrd="0" presId="urn:microsoft.com/office/officeart/2005/8/layout/chevronAccent+Icon"/>
    <dgm:cxn modelId="{F7A658D8-E1BF-409A-B533-3CFFC0CC6C6E}" type="presParOf" srcId="{55628C2C-1A31-439B-BF10-8812CBB7F5AD}" destId="{54612E85-C25A-415C-9EA8-5D8A41930CF4}" srcOrd="0" destOrd="0" presId="urn:microsoft.com/office/officeart/2005/8/layout/chevronAccent+Icon"/>
    <dgm:cxn modelId="{9EB153F8-A767-4102-A696-8972EE0EBE2A}" type="presParOf" srcId="{55628C2C-1A31-439B-BF10-8812CBB7F5AD}" destId="{990A07BC-F771-4DD3-9E0B-3E8CD96815C7}" srcOrd="1" destOrd="0" presId="urn:microsoft.com/office/officeart/2005/8/layout/chevronAccent+Icon"/>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5B8833-574B-413E-91E3-3AA17386D239}">
      <dsp:nvSpPr>
        <dsp:cNvPr id="0" name=""/>
        <dsp:cNvSpPr/>
      </dsp:nvSpPr>
      <dsp:spPr>
        <a:xfrm>
          <a:off x="7806" y="793729"/>
          <a:ext cx="3674086" cy="1418197"/>
        </a:xfrm>
        <a:prstGeom prst="chevron">
          <a:avLst>
            <a:gd name="adj" fmla="val 4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EB253AA-109D-48CE-BFAD-AB2D8CB39021}">
      <dsp:nvSpPr>
        <dsp:cNvPr id="0" name=""/>
        <dsp:cNvSpPr/>
      </dsp:nvSpPr>
      <dsp:spPr>
        <a:xfrm>
          <a:off x="987562" y="1148278"/>
          <a:ext cx="3102561" cy="1418197"/>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baseline="0">
              <a:latin typeface="Comic Sans MS" panose="030F0702030302020204" pitchFamily="66" charset="0"/>
            </a:rPr>
            <a:t>Temporal Alignment &amp; Integrity Audit</a:t>
          </a:r>
          <a:endParaRPr lang="en-US" sz="2400" kern="1200">
            <a:latin typeface="Comic Sans MS" panose="030F0702030302020204" pitchFamily="66" charset="0"/>
          </a:endParaRPr>
        </a:p>
      </dsp:txBody>
      <dsp:txXfrm>
        <a:off x="1029100" y="1189816"/>
        <a:ext cx="3019485" cy="1335121"/>
      </dsp:txXfrm>
    </dsp:sp>
    <dsp:sp modelId="{6F6A162F-EAB5-432B-AFBB-338553114B4E}">
      <dsp:nvSpPr>
        <dsp:cNvPr id="0" name=""/>
        <dsp:cNvSpPr/>
      </dsp:nvSpPr>
      <dsp:spPr>
        <a:xfrm>
          <a:off x="4204429" y="793729"/>
          <a:ext cx="3674086" cy="1418197"/>
        </a:xfrm>
        <a:prstGeom prst="chevron">
          <a:avLst>
            <a:gd name="adj" fmla="val 40000"/>
          </a:avLst>
        </a:prstGeom>
        <a:solidFill>
          <a:schemeClr val="accent3">
            <a:hueOff val="3750088"/>
            <a:satOff val="-5627"/>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E030AEF-AFB5-4934-9887-2EA8B61D8A1C}">
      <dsp:nvSpPr>
        <dsp:cNvPr id="0" name=""/>
        <dsp:cNvSpPr/>
      </dsp:nvSpPr>
      <dsp:spPr>
        <a:xfrm>
          <a:off x="5184185" y="1148278"/>
          <a:ext cx="3102561" cy="1418197"/>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3750088"/>
              <a:satOff val="-5627"/>
              <a:lumOff val="-91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baseline="0">
              <a:latin typeface="Comic Sans MS" panose="030F0702030302020204" pitchFamily="66" charset="0"/>
            </a:rPr>
            <a:t>Intelligent Imputation (The "Sandy" Solution)</a:t>
          </a:r>
          <a:endParaRPr lang="en-US" sz="2400" kern="1200">
            <a:latin typeface="Comic Sans MS" panose="030F0702030302020204" pitchFamily="66" charset="0"/>
          </a:endParaRPr>
        </a:p>
      </dsp:txBody>
      <dsp:txXfrm>
        <a:off x="5225723" y="1189816"/>
        <a:ext cx="3019485" cy="1335121"/>
      </dsp:txXfrm>
    </dsp:sp>
    <dsp:sp modelId="{A2E61035-7F6D-43B0-9C02-4D70B7E2DD4C}">
      <dsp:nvSpPr>
        <dsp:cNvPr id="0" name=""/>
        <dsp:cNvSpPr/>
      </dsp:nvSpPr>
      <dsp:spPr>
        <a:xfrm>
          <a:off x="8401052" y="793729"/>
          <a:ext cx="3674086" cy="1418197"/>
        </a:xfrm>
        <a:prstGeom prst="chevron">
          <a:avLst>
            <a:gd name="adj" fmla="val 40000"/>
          </a:avLst>
        </a:prstGeom>
        <a:solidFill>
          <a:schemeClr val="accent3">
            <a:hueOff val="7500176"/>
            <a:satOff val="-11253"/>
            <a:lumOff val="-183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16D0AD8-4452-46C2-9A69-21FFDF9D19CC}">
      <dsp:nvSpPr>
        <dsp:cNvPr id="0" name=""/>
        <dsp:cNvSpPr/>
      </dsp:nvSpPr>
      <dsp:spPr>
        <a:xfrm>
          <a:off x="9380808" y="1148278"/>
          <a:ext cx="3102561" cy="1418197"/>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7500176"/>
              <a:satOff val="-11253"/>
              <a:lumOff val="-183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baseline="0">
              <a:latin typeface="Comic Sans MS" panose="030F0702030302020204" pitchFamily="66" charset="0"/>
            </a:rPr>
            <a:t>Outlier Correction &amp; Sensor Repair</a:t>
          </a:r>
          <a:endParaRPr lang="en-US" sz="2400" kern="1200">
            <a:latin typeface="Comic Sans MS" panose="030F0702030302020204" pitchFamily="66" charset="0"/>
          </a:endParaRPr>
        </a:p>
      </dsp:txBody>
      <dsp:txXfrm>
        <a:off x="9422346" y="1189816"/>
        <a:ext cx="3019485" cy="1335121"/>
      </dsp:txXfrm>
    </dsp:sp>
    <dsp:sp modelId="{54612E85-C25A-415C-9EA8-5D8A41930CF4}">
      <dsp:nvSpPr>
        <dsp:cNvPr id="0" name=""/>
        <dsp:cNvSpPr/>
      </dsp:nvSpPr>
      <dsp:spPr>
        <a:xfrm>
          <a:off x="12597675" y="793729"/>
          <a:ext cx="3674086" cy="1418197"/>
        </a:xfrm>
        <a:prstGeom prst="chevron">
          <a:avLst>
            <a:gd name="adj" fmla="val 40000"/>
          </a:avLst>
        </a:prstGeom>
        <a:solidFill>
          <a:schemeClr val="accent3">
            <a:hueOff val="11250264"/>
            <a:satOff val="-16880"/>
            <a:lumOff val="-274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90A07BC-F771-4DD3-9E0B-3E8CD96815C7}">
      <dsp:nvSpPr>
        <dsp:cNvPr id="0" name=""/>
        <dsp:cNvSpPr/>
      </dsp:nvSpPr>
      <dsp:spPr>
        <a:xfrm>
          <a:off x="13577432" y="1148278"/>
          <a:ext cx="3102561" cy="1418197"/>
        </a:xfrm>
        <a:prstGeom prst="roundRect">
          <a:avLst>
            <a:gd name="adj" fmla="val 10000"/>
          </a:avLst>
        </a:prstGeom>
        <a:solidFill>
          <a:schemeClr val="lt1">
            <a:alpha val="90000"/>
            <a:hueOff val="0"/>
            <a:satOff val="0"/>
            <a:lumOff val="0"/>
            <a:alphaOff val="0"/>
          </a:schemeClr>
        </a:solidFill>
        <a:ln w="25400" cap="flat" cmpd="sng" algn="ctr">
          <a:solidFill>
            <a:schemeClr val="accent3">
              <a:hueOff val="11250264"/>
              <a:satOff val="-16880"/>
              <a:lumOff val="-274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70688" tIns="170688" rIns="170688" bIns="170688" numCol="1" spcCol="1270" anchor="ctr" anchorCtr="0">
          <a:noAutofit/>
        </a:bodyPr>
        <a:lstStyle/>
        <a:p>
          <a:pPr marL="0" lvl="0" indent="0" algn="ctr" defTabSz="1066800">
            <a:lnSpc>
              <a:spcPct val="90000"/>
            </a:lnSpc>
            <a:spcBef>
              <a:spcPct val="0"/>
            </a:spcBef>
            <a:spcAft>
              <a:spcPct val="35000"/>
            </a:spcAft>
            <a:buNone/>
          </a:pPr>
          <a:r>
            <a:rPr lang="en-US" sz="2400" b="1" i="0" kern="1200" baseline="0">
              <a:latin typeface="Comic Sans MS" panose="030F0702030302020204" pitchFamily="66" charset="0"/>
            </a:rPr>
            <a:t>Stationarity Transformation</a:t>
          </a:r>
          <a:endParaRPr lang="en-US" sz="2400" kern="1200">
            <a:latin typeface="Comic Sans MS" panose="030F0702030302020204" pitchFamily="66" charset="0"/>
          </a:endParaRPr>
        </a:p>
      </dsp:txBody>
      <dsp:txXfrm>
        <a:off x="13618970" y="1189816"/>
        <a:ext cx="3019485" cy="1335121"/>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A45A0A-E852-404C-BBA0-C7EF6828BDC4}" type="datetimeFigureOut">
              <a:rPr lang="en-US" smtClean="0"/>
              <a:t>4/30/2026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35B16C-39A6-4426-9F2F-42B9F6CE0E3A}" type="slidenum">
              <a:rPr lang="en-US" smtClean="0"/>
              <a:t>‹#›</a:t>
            </a:fld>
            <a:endParaRPr lang="en-US"/>
          </a:p>
        </p:txBody>
      </p:sp>
    </p:spTree>
    <p:extLst>
      <p:ext uri="{BB962C8B-B14F-4D97-AF65-F5344CB8AC3E}">
        <p14:creationId xmlns:p14="http://schemas.microsoft.com/office/powerpoint/2010/main" val="3059339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Aligned dates and hours ensuring a seamless timeline. </a:t>
            </a:r>
          </a:p>
          <a:p>
            <a:r>
              <a:rPr lang="en-US"/>
              <a:t>Used Linear Interpolation to bridge gaps by environmental shocks. </a:t>
            </a:r>
            <a:r>
              <a:rPr lang="en-US" sz="1200" b="0" i="0" kern="1200">
                <a:solidFill>
                  <a:schemeClr val="tx1"/>
                </a:solidFill>
                <a:effectLst/>
                <a:latin typeface="+mn-lt"/>
                <a:ea typeface="+mn-ea"/>
                <a:cs typeface="+mn-cs"/>
              </a:rPr>
              <a:t>Linear interpolation is </a:t>
            </a:r>
            <a:r>
              <a:rPr lang="en-US"/>
              <a:t>a method used to estimate unknown values between two known data points by assuming a straight-line relationship</a:t>
            </a:r>
            <a:r>
              <a:rPr lang="en-US" sz="1200" b="0" i="0" kern="1200">
                <a:solidFill>
                  <a:schemeClr val="tx1"/>
                </a:solidFill>
                <a:effectLst/>
                <a:latin typeface="+mn-lt"/>
                <a:ea typeface="+mn-ea"/>
                <a:cs typeface="+mn-cs"/>
              </a:rPr>
              <a:t>.</a:t>
            </a:r>
            <a:endParaRPr lang="en-US"/>
          </a:p>
          <a:p>
            <a:r>
              <a:rPr lang="en-US"/>
              <a:t>Had issues with sensor errors such as humidity and temperature.</a:t>
            </a:r>
          </a:p>
          <a:p>
            <a:r>
              <a:rPr lang="en-US"/>
              <a:t>Stationary transformation to stabilize the data mean before giving it to the models.</a:t>
            </a:r>
          </a:p>
        </p:txBody>
      </p:sp>
      <p:sp>
        <p:nvSpPr>
          <p:cNvPr id="4" name="Slide Number Placeholder 3"/>
          <p:cNvSpPr>
            <a:spLocks noGrp="1"/>
          </p:cNvSpPr>
          <p:nvPr>
            <p:ph type="sldNum" sz="quarter" idx="5"/>
          </p:nvPr>
        </p:nvSpPr>
        <p:spPr/>
        <p:txBody>
          <a:bodyPr/>
          <a:lstStyle/>
          <a:p>
            <a:fld id="{B435B16C-39A6-4426-9F2F-42B9F6CE0E3A}" type="slidenum">
              <a:rPr lang="en-US" smtClean="0"/>
              <a:t>6</a:t>
            </a:fld>
            <a:endParaRPr lang="en-US"/>
          </a:p>
        </p:txBody>
      </p:sp>
    </p:spTree>
    <p:extLst>
      <p:ext uri="{BB962C8B-B14F-4D97-AF65-F5344CB8AC3E}">
        <p14:creationId xmlns:p14="http://schemas.microsoft.com/office/powerpoint/2010/main" val="37678898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435B16C-39A6-4426-9F2F-42B9F6CE0E3A}" type="slidenum">
              <a:rPr lang="en-US" smtClean="0"/>
              <a:t>7</a:t>
            </a:fld>
            <a:endParaRPr lang="en-US"/>
          </a:p>
        </p:txBody>
      </p:sp>
    </p:spTree>
    <p:extLst>
      <p:ext uri="{BB962C8B-B14F-4D97-AF65-F5344CB8AC3E}">
        <p14:creationId xmlns:p14="http://schemas.microsoft.com/office/powerpoint/2010/main" val="871756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a:t>The Baseline (0 Line):</a:t>
            </a:r>
            <a:r>
              <a:rPr lang="en-US"/>
              <a:t> The horizontal black line represents the </a:t>
            </a:r>
            <a:r>
              <a:rPr lang="en-US" b="1"/>
              <a:t>7-day rolling average</a:t>
            </a:r>
            <a:r>
              <a:rPr lang="en-US"/>
              <a:t> of ridership. It acts as the "expected" demand based on recent history.</a:t>
            </a:r>
            <a:endParaRPr lang="en-US" b="1"/>
          </a:p>
          <a:p>
            <a:r>
              <a:rPr lang="en-US" b="1"/>
              <a:t>Red Bars (Demand Surge/Waiting Risk):</a:t>
            </a:r>
            <a:r>
              <a:rPr lang="en-US"/>
              <a:t> These bars represent days when actual demand significantly exceeded the expected average. For operations, this is the </a:t>
            </a:r>
            <a:r>
              <a:rPr lang="en-US" b="1"/>
              <a:t>"Waiting Risk"</a:t>
            </a:r>
            <a:r>
              <a:rPr lang="en-US"/>
              <a:t> zone, where stations are most likely to be empty, leaving riders without bicycles.</a:t>
            </a:r>
          </a:p>
          <a:p>
            <a:r>
              <a:rPr lang="en-US" b="1"/>
              <a:t>Blue Bars (Demand Drop/Surplus Opportunity):</a:t>
            </a:r>
            <a:r>
              <a:rPr lang="en-US"/>
              <a:t> These bars show when ridership plummeted below the expected average. This indicates a </a:t>
            </a:r>
            <a:r>
              <a:rPr lang="en-US" b="1"/>
              <a:t>"Weather Surplus,"</a:t>
            </a:r>
            <a:r>
              <a:rPr lang="en-US"/>
              <a:t> where bikes sit idle because users are avoiding travel due to poor conditions.</a:t>
            </a:r>
          </a:p>
          <a:p>
            <a:r>
              <a:rPr lang="en-US" b="1"/>
              <a:t>Identifying System Shocks:</a:t>
            </a:r>
            <a:r>
              <a:rPr lang="en-US"/>
              <a:t> The plot clearly isolates major external events that broke normal ridership patterns. You can see massive blue drops for the </a:t>
            </a:r>
            <a:r>
              <a:rPr lang="en-US" b="1"/>
              <a:t>Winter Storm</a:t>
            </a:r>
            <a:r>
              <a:rPr lang="en-US"/>
              <a:t> in early 2011 and </a:t>
            </a:r>
            <a:r>
              <a:rPr lang="en-US" b="1"/>
              <a:t>Hurricane Sandy</a:t>
            </a:r>
            <a:r>
              <a:rPr lang="en-US"/>
              <a:t> in late 2012, which caused systemic shutdowns.</a:t>
            </a:r>
          </a:p>
          <a:p>
            <a:r>
              <a:rPr lang="en-US" b="1"/>
              <a:t>Strategic Operational Insight:</a:t>
            </a:r>
            <a:r>
              <a:rPr lang="en-US"/>
              <a:t> Because these surges and drops are frequent and sometimes extreme, the analysis concludes that the system cannot run on a "perfect fit" supply. It requires a </a:t>
            </a:r>
            <a:r>
              <a:rPr lang="en-US" b="1"/>
              <a:t>~15% supply buffer</a:t>
            </a:r>
            <a:r>
              <a:rPr lang="en-US"/>
              <a:t> to absorb these unpredictable spikes and minimize waiting times for users.</a:t>
            </a:r>
          </a:p>
        </p:txBody>
      </p:sp>
      <p:sp>
        <p:nvSpPr>
          <p:cNvPr id="4" name="Slide Number Placeholder 3"/>
          <p:cNvSpPr>
            <a:spLocks noGrp="1"/>
          </p:cNvSpPr>
          <p:nvPr>
            <p:ph type="sldNum" sz="quarter" idx="5"/>
          </p:nvPr>
        </p:nvSpPr>
        <p:spPr/>
        <p:txBody>
          <a:bodyPr/>
          <a:lstStyle/>
          <a:p>
            <a:fld id="{B435B16C-39A6-4426-9F2F-42B9F6CE0E3A}" type="slidenum">
              <a:rPr lang="en-US" smtClean="0"/>
              <a:t>9</a:t>
            </a:fld>
            <a:endParaRPr lang="en-US"/>
          </a:p>
        </p:txBody>
      </p:sp>
    </p:spTree>
    <p:extLst>
      <p:ext uri="{BB962C8B-B14F-4D97-AF65-F5344CB8AC3E}">
        <p14:creationId xmlns:p14="http://schemas.microsoft.com/office/powerpoint/2010/main" val="15685506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Decomposition analysis using both STL and classical multiplicative methods revealed three key structural characteristics of the bike sharing demand series. First, a consistent linear upward trend was identified across daily, weekly and monthly aggregations confirming steady system adoption growth from 2011 to 2012. Second, multi-seasonality was confirmed — STL captured high-frequency weekly cycles while the multiplicative model accounted for expanding annual seasonal amplitude. Third, the remainder component successfully isolated the massive negative residual corresponding to the Hurricane Sandy shutdown in October 2012, validating the effectiveness of the event-based outlier treatment applied during data cleaning."</a:t>
            </a:r>
          </a:p>
        </p:txBody>
      </p:sp>
      <p:sp>
        <p:nvSpPr>
          <p:cNvPr id="4" name="Slide Number Placeholder 3"/>
          <p:cNvSpPr>
            <a:spLocks noGrp="1"/>
          </p:cNvSpPr>
          <p:nvPr>
            <p:ph type="sldNum" sz="quarter" idx="5"/>
          </p:nvPr>
        </p:nvSpPr>
        <p:spPr/>
        <p:txBody>
          <a:bodyPr/>
          <a:lstStyle/>
          <a:p>
            <a:fld id="{B435B16C-39A6-4426-9F2F-42B9F6CE0E3A}" type="slidenum">
              <a:rPr lang="en-US" smtClean="0"/>
              <a:t>11</a:t>
            </a:fld>
            <a:endParaRPr lang="en-US"/>
          </a:p>
        </p:txBody>
      </p:sp>
    </p:spTree>
    <p:extLst>
      <p:ext uri="{BB962C8B-B14F-4D97-AF65-F5344CB8AC3E}">
        <p14:creationId xmlns:p14="http://schemas.microsoft.com/office/powerpoint/2010/main" val="389187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How do you determine p and q from ACF/PACF? ACF plot determines MA order (q) — the lag where ACF cuts off sharply. PACF plot determines AR order (p) — the lag where PACF cuts off sharply. If both tail off gradually → ARMA process.</a:t>
            </a:r>
            <a:br>
              <a:rPr lang="en-US">
                <a:cs typeface="+mn-lt"/>
              </a:rPr>
            </a:br>
            <a:r>
              <a:rPr lang="en-US"/>
              <a:t>What do the blue dotted lines represent? A: They represent 95% confidence bounds. Spikes beyond these lines are statistically significant autocorrelations that the model needs to account for.</a:t>
            </a:r>
            <a:br>
              <a:rPr lang="en-US">
                <a:cs typeface="+mn-lt"/>
              </a:rPr>
            </a:br>
            <a:r>
              <a:rPr lang="en-US"/>
              <a:t>Why are most lags within the blue bounds? A: Because differencing successfully removed the trend-induced autocorrelation. Remaining significant lags at early positions guide our p and q selection</a:t>
            </a:r>
          </a:p>
          <a:p>
            <a:r>
              <a:rPr lang="en-US"/>
              <a:t>ARIMA(2,1,3) means: → Look back 2 days (AR=2) → Differenced once (I=1) → Use last 3 errors (MA=3)</a:t>
            </a:r>
          </a:p>
        </p:txBody>
      </p:sp>
      <p:sp>
        <p:nvSpPr>
          <p:cNvPr id="4" name="Slide Number Placeholder 3"/>
          <p:cNvSpPr>
            <a:spLocks noGrp="1"/>
          </p:cNvSpPr>
          <p:nvPr>
            <p:ph type="sldNum" sz="quarter" idx="5"/>
          </p:nvPr>
        </p:nvSpPr>
        <p:spPr/>
        <p:txBody>
          <a:bodyPr/>
          <a:lstStyle/>
          <a:p>
            <a:fld id="{B435B16C-39A6-4426-9F2F-42B9F6CE0E3A}" type="slidenum">
              <a:rPr lang="en-US" smtClean="0"/>
              <a:t>12</a:t>
            </a:fld>
            <a:endParaRPr lang="en-US"/>
          </a:p>
        </p:txBody>
      </p:sp>
    </p:spTree>
    <p:extLst>
      <p:ext uri="{BB962C8B-B14F-4D97-AF65-F5344CB8AC3E}">
        <p14:creationId xmlns:p14="http://schemas.microsoft.com/office/powerpoint/2010/main" val="41721896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"92/8 was chosen to maximize training data given our 2-year dataset constraint. </a:t>
            </a:r>
          </a:p>
          <a:p>
            <a:r>
              <a:rPr lang="en-US"/>
              <a:t>We done the temporal splitting here because as to increase training set – if </a:t>
            </a:r>
            <a:r>
              <a:rPr lang="en-US" err="1"/>
              <a:t>followe</a:t>
            </a:r>
            <a:r>
              <a:rPr lang="en-US"/>
              <a:t>d 80/20 split it has undertrained on the summer seasons </a:t>
            </a:r>
            <a:r>
              <a:rPr lang="en-US" err="1"/>
              <a:t>bcoz</a:t>
            </a:r>
            <a:r>
              <a:rPr lang="en-US"/>
              <a:t> test set is rather becomes 5 months </a:t>
            </a:r>
            <a:r>
              <a:rPr lang="en-US" err="1"/>
              <a:t>perio</a:t>
            </a:r>
            <a:r>
              <a:rPr lang="en-US"/>
              <a:t>d</a:t>
            </a:r>
          </a:p>
          <a:p>
            <a:r>
              <a:rPr lang="en-US"/>
              <a:t>We acknowledge overfitting risk especially in </a:t>
            </a:r>
            <a:r>
              <a:rPr lang="en-US" err="1"/>
              <a:t>XGBoost</a:t>
            </a:r>
            <a:r>
              <a:rPr lang="en-US"/>
              <a:t> and mitigated it through cross validation and regularization</a:t>
            </a:r>
          </a:p>
          <a:p>
            <a:r>
              <a:rPr lang="en-US"/>
              <a:t>A larger dataset would allow more conventional 80/20 splitting." </a:t>
            </a:r>
          </a:p>
          <a:p>
            <a:r>
              <a:rPr lang="en-US"/>
              <a:t>Two TS objects were created because Holt-Winters only accepts single frequency input and fails with multi-seasonal objects, while all main comparison models required MSTS capturing both weekly and annual cycles simultaneously for fair evaluation."</a:t>
            </a:r>
          </a:p>
        </p:txBody>
      </p:sp>
      <p:sp>
        <p:nvSpPr>
          <p:cNvPr id="4" name="Slide Number Placeholder 3"/>
          <p:cNvSpPr>
            <a:spLocks noGrp="1"/>
          </p:cNvSpPr>
          <p:nvPr>
            <p:ph type="sldNum" sz="quarter" idx="5"/>
          </p:nvPr>
        </p:nvSpPr>
        <p:spPr/>
        <p:txBody>
          <a:bodyPr/>
          <a:lstStyle/>
          <a:p>
            <a:fld id="{B435B16C-39A6-4426-9F2F-42B9F6CE0E3A}" type="slidenum">
              <a:rPr lang="en-US" smtClean="0"/>
              <a:t>13</a:t>
            </a:fld>
            <a:endParaRPr lang="en-US"/>
          </a:p>
        </p:txBody>
      </p:sp>
    </p:spTree>
    <p:extLst>
      <p:ext uri="{BB962C8B-B14F-4D97-AF65-F5344CB8AC3E}">
        <p14:creationId xmlns:p14="http://schemas.microsoft.com/office/powerpoint/2010/main" val="35580721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1FF7A-A66C-BD77-5E8A-150816B851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90598-6AE4-B6D4-2AED-AD402A873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F75FA6-4540-8671-591A-7F3B0CD04685}"/>
              </a:ext>
            </a:extLst>
          </p:cNvPr>
          <p:cNvSpPr>
            <a:spLocks noGrp="1"/>
          </p:cNvSpPr>
          <p:nvPr>
            <p:ph type="body" idx="1"/>
          </p:nvPr>
        </p:nvSpPr>
        <p:spPr/>
        <p:txBody>
          <a:bodyPr/>
          <a:lstStyle/>
          <a:p>
            <a:r>
              <a:rPr lang="en-US"/>
              <a:t>Seasonal naïve - no any calculations or math hidden behind it simply </a:t>
            </a:r>
            <a:r>
              <a:rPr lang="en-US" err="1"/>
              <a:t>lear</a:t>
            </a:r>
            <a:r>
              <a:rPr lang="en-US"/>
              <a:t>ns from the past seasonal cycle – just a minimum </a:t>
            </a:r>
            <a:r>
              <a:rPr lang="en-US" err="1"/>
              <a:t>perfomance</a:t>
            </a:r>
            <a:r>
              <a:rPr lang="en-US"/>
              <a:t> baseline model – means every model has to beat this</a:t>
            </a:r>
          </a:p>
          <a:p>
            <a:r>
              <a:rPr lang="en-US" err="1"/>
              <a:t>HOlt</a:t>
            </a:r>
            <a:r>
              <a:rPr lang="en-US"/>
              <a:t> winter- LEVEL (Alpha) → Current average demand, TREND (Beta) → Is demand growing or shrinking?, SEASON (Gamma) → Repeating weekly pattern, Final forecast = Level + Trend + Seasonal pattern</a:t>
            </a:r>
          </a:p>
          <a:p>
            <a:r>
              <a:rPr lang="en-US"/>
              <a:t>TBATS - Handles MULTIPLE </a:t>
            </a:r>
            <a:r>
              <a:rPr lang="en-US" err="1"/>
              <a:t>seasonalities</a:t>
            </a:r>
            <a:r>
              <a:rPr lang="en-US"/>
              <a:t> → Weekly (7) + Annual (365) together →  → Models error structure with ARMA</a:t>
            </a:r>
          </a:p>
          <a:p>
            <a:r>
              <a:rPr lang="en-US"/>
              <a:t>MAPE = 77% → Still poor MAE = 1415 → Actually lowest MAE! Why high MAPE despite low MAE? → Low demand days (weekends/holidays) had large percentage errors → MAPE penalizes errors on low demand days more heavily → Model still missed winter decline → Only 671 training days insufficient to learn full annual cycle</a:t>
            </a:r>
          </a:p>
        </p:txBody>
      </p:sp>
      <p:sp>
        <p:nvSpPr>
          <p:cNvPr id="4" name="Slide Number Placeholder 3">
            <a:extLst>
              <a:ext uri="{FF2B5EF4-FFF2-40B4-BE49-F238E27FC236}">
                <a16:creationId xmlns:a16="http://schemas.microsoft.com/office/drawing/2014/main" id="{9FE3923E-E18D-92C0-CD61-A6268055097A}"/>
              </a:ext>
            </a:extLst>
          </p:cNvPr>
          <p:cNvSpPr>
            <a:spLocks noGrp="1"/>
          </p:cNvSpPr>
          <p:nvPr>
            <p:ph type="sldNum" sz="quarter" idx="5"/>
          </p:nvPr>
        </p:nvSpPr>
        <p:spPr/>
        <p:txBody>
          <a:bodyPr/>
          <a:lstStyle/>
          <a:p>
            <a:fld id="{B435B16C-39A6-4426-9F2F-42B9F6CE0E3A}" type="slidenum">
              <a:rPr lang="en-US" smtClean="0"/>
              <a:t>14</a:t>
            </a:fld>
            <a:endParaRPr lang="en-US"/>
          </a:p>
        </p:txBody>
      </p:sp>
    </p:spTree>
    <p:extLst>
      <p:ext uri="{BB962C8B-B14F-4D97-AF65-F5344CB8AC3E}">
        <p14:creationId xmlns:p14="http://schemas.microsoft.com/office/powerpoint/2010/main" val="756790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"Prophet was developed by Facebook specifically for business time series. It decomposes demand into three components — trend, seasonality and holidays — and fits them separately before combining. We enabled annual and weekly seasonality simultaneously, added US public holidays directly from its built-in calendar, and included temperature, humidity, windspeed and weather situation as external regressors. </a:t>
            </a:r>
            <a:br>
              <a:rPr lang="en-US">
                <a:cs typeface="+mn-lt"/>
              </a:rPr>
            </a:br>
            <a:r>
              <a:rPr lang="en-US"/>
              <a:t>"</a:t>
            </a:r>
            <a:r>
              <a:rPr lang="en-US" err="1"/>
              <a:t>XGBoost</a:t>
            </a:r>
            <a:r>
              <a:rPr lang="en-US"/>
              <a:t> is a gradient boosting machine learning model that learns complex non-linear relationships between features. We engineered lag features capturing 1-day, 7-day and 30-day memory of demand ---- telling the model what happened yesterday, last week and last month. </a:t>
            </a:r>
          </a:p>
          <a:p>
            <a:r>
              <a:rPr lang="en-US"/>
              <a:t>A 7-day rolling average was also included as a feature. To prevent overfitting on our limited 671-day training set we used 5-fold cross validation with early stopping to find the optimal number of trees</a:t>
            </a:r>
          </a:p>
          <a:p>
            <a:r>
              <a:rPr lang="en-US"/>
              <a:t>"</a:t>
            </a:r>
            <a:r>
              <a:rPr lang="en-US" err="1"/>
              <a:t>XGBoost</a:t>
            </a:r>
            <a:r>
              <a:rPr lang="en-US"/>
              <a:t> outperformed Prophet primarily because the 7-day rolling average and lag-1 features captured 77% of predictive power combined </a:t>
            </a:r>
          </a:p>
          <a:p>
            <a:r>
              <a:rPr lang="en-US"/>
              <a:t>5-fold is standard industry practice balancing bias-variance tradeoff.</a:t>
            </a:r>
          </a:p>
          <a:p>
            <a:endParaRPr lang="en-US"/>
          </a:p>
        </p:txBody>
      </p:sp>
      <p:sp>
        <p:nvSpPr>
          <p:cNvPr id="4" name="Slide Number Placeholder 3"/>
          <p:cNvSpPr>
            <a:spLocks noGrp="1"/>
          </p:cNvSpPr>
          <p:nvPr>
            <p:ph type="sldNum" sz="quarter" idx="5"/>
          </p:nvPr>
        </p:nvSpPr>
        <p:spPr/>
        <p:txBody>
          <a:bodyPr/>
          <a:lstStyle/>
          <a:p>
            <a:fld id="{B435B16C-39A6-4426-9F2F-42B9F6CE0E3A}" type="slidenum">
              <a:rPr lang="en-US" smtClean="0"/>
              <a:t>15</a:t>
            </a:fld>
            <a:endParaRPr lang="en-US"/>
          </a:p>
        </p:txBody>
      </p:sp>
    </p:spTree>
    <p:extLst>
      <p:ext uri="{BB962C8B-B14F-4D97-AF65-F5344CB8AC3E}">
        <p14:creationId xmlns:p14="http://schemas.microsoft.com/office/powerpoint/2010/main" val="34474136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67413-B370-7980-37D6-6222E9C451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E77E3-FEA5-2120-8EC5-493BC40B8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0C9989-6F0C-1249-C72B-864529065D59}"/>
              </a:ext>
            </a:extLst>
          </p:cNvPr>
          <p:cNvSpPr>
            <a:spLocks noGrp="1"/>
          </p:cNvSpPr>
          <p:nvPr>
            <p:ph type="body" idx="1"/>
          </p:nvPr>
        </p:nvSpPr>
        <p:spPr/>
        <p:txBody>
          <a:bodyPr/>
          <a:lstStyle/>
          <a:p>
            <a:r>
              <a:rPr lang="en-US"/>
              <a:t>"</a:t>
            </a:r>
            <a:r>
              <a:rPr lang="en-US" err="1"/>
              <a:t>XGBoost</a:t>
            </a:r>
            <a:r>
              <a:rPr lang="en-US"/>
              <a:t> and Prophet are the clear winners — both track actual demand patterns including weekly cycles and winter decline. The gap between these advanced models and the statistical baselines is dramatic — from 23.8% to 37.2% minimum for baselines."</a:t>
            </a:r>
          </a:p>
          <a:p>
            <a:r>
              <a:rPr lang="en-US"/>
              <a:t>ARIMA and TBATS both fail on the same fundamental issue — inability to capture annual seasonality with limited training data. This directly validates our model selection rationale from the beginning of Phase 2."</a:t>
            </a:r>
          </a:p>
          <a:p>
            <a:r>
              <a:rPr lang="en-US"/>
              <a:t>advanced models incorporating multi-seasonality, non-linearity and exogenous variables significantly outperform classical statistical approaches for bike sharing demand forecasting, with </a:t>
            </a:r>
            <a:r>
              <a:rPr lang="en-US" err="1"/>
              <a:t>XGBoost</a:t>
            </a:r>
            <a:r>
              <a:rPr lang="en-US"/>
              <a:t> emerging as the optimal model for daily supply optimization."</a:t>
            </a:r>
          </a:p>
        </p:txBody>
      </p:sp>
      <p:sp>
        <p:nvSpPr>
          <p:cNvPr id="4" name="Slide Number Placeholder 3">
            <a:extLst>
              <a:ext uri="{FF2B5EF4-FFF2-40B4-BE49-F238E27FC236}">
                <a16:creationId xmlns:a16="http://schemas.microsoft.com/office/drawing/2014/main" id="{0C389B60-D121-AB71-D3E3-EF1970299DD1}"/>
              </a:ext>
            </a:extLst>
          </p:cNvPr>
          <p:cNvSpPr>
            <a:spLocks noGrp="1"/>
          </p:cNvSpPr>
          <p:nvPr>
            <p:ph type="sldNum" sz="quarter" idx="5"/>
          </p:nvPr>
        </p:nvSpPr>
        <p:spPr/>
        <p:txBody>
          <a:bodyPr/>
          <a:lstStyle/>
          <a:p>
            <a:fld id="{B435B16C-39A6-4426-9F2F-42B9F6CE0E3A}" type="slidenum">
              <a:rPr lang="en-US" smtClean="0"/>
              <a:t>16</a:t>
            </a:fld>
            <a:endParaRPr lang="en-US"/>
          </a:p>
        </p:txBody>
      </p:sp>
    </p:spTree>
    <p:extLst>
      <p:ext uri="{BB962C8B-B14F-4D97-AF65-F5344CB8AC3E}">
        <p14:creationId xmlns:p14="http://schemas.microsoft.com/office/powerpoint/2010/main" val="14146442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B11D0-A4FA-BD82-AC6D-A17625682B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F69235-B58A-8463-8BE3-EBB77B2124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4E6FC9-B804-F80D-FE35-B273C45B801F}"/>
              </a:ext>
            </a:extLst>
          </p:cNvPr>
          <p:cNvSpPr>
            <a:spLocks noGrp="1"/>
          </p:cNvSpPr>
          <p:nvPr>
            <p:ph type="body" idx="1"/>
          </p:nvPr>
        </p:nvSpPr>
        <p:spPr/>
        <p:txBody>
          <a:bodyPr/>
          <a:lstStyle/>
          <a:p>
            <a:r>
              <a:rPr lang="en-US"/>
              <a:t>7-day rolling average of rentals → "What was the average demand over the last week?"</a:t>
            </a:r>
          </a:p>
          <a:p>
            <a:r>
              <a:rPr lang="en-US"/>
              <a:t>lag1 → 15% importance 🥈 → Yesterday's actual rental count → "How many bikes were rented yesterday?"</a:t>
            </a:r>
          </a:p>
          <a:p>
            <a:r>
              <a:rPr lang="en-US"/>
              <a:t>emp → 8% importance 🥉 → Temperature → "Is it warm enough to cycle?"</a:t>
            </a:r>
          </a:p>
          <a:p>
            <a:r>
              <a:rPr lang="en-US"/>
              <a:t>Humidity → High humidity = uncomfortable cycling </a:t>
            </a:r>
          </a:p>
        </p:txBody>
      </p:sp>
      <p:sp>
        <p:nvSpPr>
          <p:cNvPr id="4" name="Slide Number Placeholder 3">
            <a:extLst>
              <a:ext uri="{FF2B5EF4-FFF2-40B4-BE49-F238E27FC236}">
                <a16:creationId xmlns:a16="http://schemas.microsoft.com/office/drawing/2014/main" id="{312AF123-804C-240E-28FD-1322CE9D2EE4}"/>
              </a:ext>
            </a:extLst>
          </p:cNvPr>
          <p:cNvSpPr>
            <a:spLocks noGrp="1"/>
          </p:cNvSpPr>
          <p:nvPr>
            <p:ph type="sldNum" sz="quarter" idx="5"/>
          </p:nvPr>
        </p:nvSpPr>
        <p:spPr/>
        <p:txBody>
          <a:bodyPr/>
          <a:lstStyle/>
          <a:p>
            <a:fld id="{B435B16C-39A6-4426-9F2F-42B9F6CE0E3A}" type="slidenum">
              <a:rPr lang="en-US" smtClean="0"/>
              <a:t>17</a:t>
            </a:fld>
            <a:endParaRPr lang="en-US"/>
          </a:p>
        </p:txBody>
      </p:sp>
    </p:spTree>
    <p:extLst>
      <p:ext uri="{BB962C8B-B14F-4D97-AF65-F5344CB8AC3E}">
        <p14:creationId xmlns:p14="http://schemas.microsoft.com/office/powerpoint/2010/main" val="3895527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4F932-86FF-1F02-C36A-B88E0EDEBF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94DFC-78F3-5A5F-AFA4-C16AD1ACC2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E0F26C-6810-4EB5-442F-002A337CB9EC}"/>
              </a:ext>
            </a:extLst>
          </p:cNvPr>
          <p:cNvSpPr>
            <a:spLocks noGrp="1"/>
          </p:cNvSpPr>
          <p:nvPr>
            <p:ph type="body" idx="1"/>
          </p:nvPr>
        </p:nvSpPr>
        <p:spPr/>
        <p:txBody>
          <a:bodyPr/>
          <a:lstStyle/>
          <a:p>
            <a:r>
              <a:rPr lang="en-US"/>
              <a:t>The blue line shows Prophet's 30-day demand forecast for January 2013. The shaded region represents the uncertainty interval — wider shading means higher forecast uncertainty. The dashed red line is our recommended supply level set at 15% above the forecast throughout the month.</a:t>
            </a:r>
          </a:p>
          <a:p>
            <a:r>
              <a:rPr lang="en-US"/>
              <a:t>How did you arrive at 15% buffer specifically? Is it scientifically justified? A: The 15% figure was derived from our model's MAPE of 25.63% for Prophet. Since our forecast can be off by approximately 25% in worst case, a 15% buffer provides partial coverage of forecast uncertainty. In practice this would be refined using actual operational data on maintenance rates and redistribution delays.</a:t>
            </a:r>
          </a:p>
          <a:p>
            <a:r>
              <a:rPr lang="en-US"/>
              <a:t>"By maintaining supply at forecast plus 15% we target 99% bike availability — meaning customers find available bikes 99% of the time they visit a station</a:t>
            </a:r>
          </a:p>
          <a:p>
            <a:r>
              <a:rPr lang="en-US"/>
              <a:t>Dynamic scaling - "Supply is not uniform across all days. The dashed line adjusts daily — lower on weekends and higher on weekdays — reflecting the demand pattern</a:t>
            </a:r>
          </a:p>
          <a:p>
            <a:r>
              <a:rPr lang="en-US" b="1"/>
              <a:t>3-4 AM Window:</a:t>
            </a:r>
            <a:endParaRPr lang="en-US"/>
          </a:p>
          <a:p>
            <a:r>
              <a:rPr lang="en-US" i="1"/>
              <a:t>"Our intraday EDA identified 3-4 AM as the optimal redistribution window with near-zero demand across all days. Maintenance teams can safely rebalance stations during this window</a:t>
            </a:r>
            <a:endParaRPr lang="en-US"/>
          </a:p>
          <a:p>
            <a:endParaRPr lang="en-US"/>
          </a:p>
        </p:txBody>
      </p:sp>
      <p:sp>
        <p:nvSpPr>
          <p:cNvPr id="4" name="Slide Number Placeholder 3">
            <a:extLst>
              <a:ext uri="{FF2B5EF4-FFF2-40B4-BE49-F238E27FC236}">
                <a16:creationId xmlns:a16="http://schemas.microsoft.com/office/drawing/2014/main" id="{3F2E0A75-A94E-56DA-6BC4-834CD2EB1512}"/>
              </a:ext>
            </a:extLst>
          </p:cNvPr>
          <p:cNvSpPr>
            <a:spLocks noGrp="1"/>
          </p:cNvSpPr>
          <p:nvPr>
            <p:ph type="sldNum" sz="quarter" idx="5"/>
          </p:nvPr>
        </p:nvSpPr>
        <p:spPr/>
        <p:txBody>
          <a:bodyPr/>
          <a:lstStyle/>
          <a:p>
            <a:fld id="{B435B16C-39A6-4426-9F2F-42B9F6CE0E3A}" type="slidenum">
              <a:rPr lang="en-US" smtClean="0"/>
              <a:t>18</a:t>
            </a:fld>
            <a:endParaRPr lang="en-US"/>
          </a:p>
        </p:txBody>
      </p:sp>
    </p:spTree>
    <p:extLst>
      <p:ext uri="{BB962C8B-B14F-4D97-AF65-F5344CB8AC3E}">
        <p14:creationId xmlns:p14="http://schemas.microsoft.com/office/powerpoint/2010/main" val="36290331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hyperlink" Target="https://archive.ics.uci.edu/dataset/275/bike+sharing+datase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5.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2.svg"/><Relationship Id="rId7" Type="http://schemas.openxmlformats.org/officeDocument/2006/relationships/diagramLayout" Target="../diagrams/layout1.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diagramData" Target="../diagrams/data1.xml"/><Relationship Id="rId5" Type="http://schemas.openxmlformats.org/officeDocument/2006/relationships/image" Target="../media/image5.svg"/><Relationship Id="rId10" Type="http://schemas.microsoft.com/office/2007/relationships/diagramDrawing" Target="../diagrams/drawing1.xml"/><Relationship Id="rId4" Type="http://schemas.openxmlformats.org/officeDocument/2006/relationships/image" Target="../media/image13.svg"/><Relationship Id="rId9" Type="http://schemas.openxmlformats.org/officeDocument/2006/relationships/diagramColors" Target="../diagrams/colors1.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5.sv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3.svg"/><Relationship Id="rId5" Type="http://schemas.openxmlformats.org/officeDocument/2006/relationships/image" Target="../media/image26.png"/><Relationship Id="rId4" Type="http://schemas.openxmlformats.org/officeDocument/2006/relationships/image" Target="../media/image25.svg"/></Relationships>
</file>

<file path=ppt/slides/_rels/slide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27.png"/><Relationship Id="rId4" Type="http://schemas.openxmlformats.org/officeDocument/2006/relationships/image" Target="../media/image25.svg"/></Relationships>
</file>

<file path=ppt/slides/_rels/slide1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hyperlink" Target="https://abcnews.com/US/hurricane-sandy-mass-transit-systems-closing-ahead-storm/story?id=17582687" TargetMode="External"/><Relationship Id="rId2" Type="http://schemas.openxmlformats.org/officeDocument/2006/relationships/image" Target="../media/image30.svg"/><Relationship Id="rId1" Type="http://schemas.openxmlformats.org/officeDocument/2006/relationships/slideLayout" Target="../slideLayouts/slideLayout7.xml"/><Relationship Id="rId6" Type="http://schemas.openxmlformats.org/officeDocument/2006/relationships/hyperlink" Target="https://arxiv.org/abs/1603.02754" TargetMode="External"/><Relationship Id="rId5" Type="http://schemas.openxmlformats.org/officeDocument/2006/relationships/hyperlink" Target="blob:https://36f07ebjcwv16j7zrbkhaul22aner2bpmmrev0jblejqh41f6g-h903225159.scf.usercontent.goog/e93db3cb-ff34-4072-8ffd-d8bc8fe6ac4e" TargetMode="External"/><Relationship Id="rId4" Type="http://schemas.openxmlformats.org/officeDocument/2006/relationships/hyperlink" Target="https://www.researchgate.net/publication/259009057_Event_labeling_combining_ensemble_detectors_and_background_knowledge"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1.svg"/><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1421109" y="3642640"/>
            <a:ext cx="5838191" cy="5455051"/>
          </a:xfrm>
          <a:custGeom>
            <a:avLst/>
            <a:gdLst/>
            <a:ahLst/>
            <a:cxnLst/>
            <a:rect l="l" t="t" r="r" b="b"/>
            <a:pathLst>
              <a:path w="5838191" h="5455051">
                <a:moveTo>
                  <a:pt x="5838191" y="0"/>
                </a:moveTo>
                <a:lnTo>
                  <a:pt x="0" y="0"/>
                </a:lnTo>
                <a:lnTo>
                  <a:pt x="0" y="5455051"/>
                </a:lnTo>
                <a:lnTo>
                  <a:pt x="5838191" y="5455051"/>
                </a:lnTo>
                <a:lnTo>
                  <a:pt x="583819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TextBox 3"/>
          <p:cNvSpPr txBox="1"/>
          <p:nvPr/>
        </p:nvSpPr>
        <p:spPr>
          <a:xfrm>
            <a:off x="685800" y="2962709"/>
            <a:ext cx="9359005" cy="3488134"/>
          </a:xfrm>
          <a:prstGeom prst="rect">
            <a:avLst/>
          </a:prstGeom>
        </p:spPr>
        <p:txBody>
          <a:bodyPr lIns="0" tIns="0" rIns="0" bIns="0" rtlCol="0" anchor="t">
            <a:spAutoFit/>
          </a:bodyPr>
          <a:lstStyle/>
          <a:p>
            <a:pPr>
              <a:lnSpc>
                <a:spcPts val="6800"/>
              </a:lnSpc>
            </a:pPr>
            <a:r>
              <a:rPr lang="en-US" sz="7200" dirty="0">
                <a:latin typeface="Gabriola"/>
              </a:rPr>
              <a:t>A Comparative Time Series Analysis for Predictive Supply Optimization: From ARIMA to </a:t>
            </a:r>
            <a:r>
              <a:rPr lang="en-US" sz="7200" dirty="0" err="1">
                <a:latin typeface="Gabriola"/>
              </a:rPr>
              <a:t>XGBoost</a:t>
            </a:r>
            <a:endParaRPr lang="en-US" sz="6800" spc="-374" dirty="0">
              <a:solidFill>
                <a:srgbClr val="1E2A38"/>
              </a:solidFill>
              <a:latin typeface="Gabriola"/>
              <a:ea typeface="Heading Now 71-78"/>
              <a:cs typeface="Heading Now 71-78"/>
              <a:sym typeface="Heading Now 71-78"/>
            </a:endParaRPr>
          </a:p>
        </p:txBody>
      </p:sp>
      <p:sp>
        <p:nvSpPr>
          <p:cNvPr id="4" name="Freeform 4"/>
          <p:cNvSpPr/>
          <p:nvPr/>
        </p:nvSpPr>
        <p:spPr>
          <a:xfrm rot="1174804" flipH="1">
            <a:off x="14993055" y="-261976"/>
            <a:ext cx="4532491" cy="2581352"/>
          </a:xfrm>
          <a:custGeom>
            <a:avLst/>
            <a:gdLst/>
            <a:ahLst/>
            <a:cxnLst/>
            <a:rect l="l" t="t" r="r" b="b"/>
            <a:pathLst>
              <a:path w="4532491" h="2581352">
                <a:moveTo>
                  <a:pt x="4532490" y="0"/>
                </a:moveTo>
                <a:lnTo>
                  <a:pt x="0" y="0"/>
                </a:lnTo>
                <a:lnTo>
                  <a:pt x="0" y="2581352"/>
                </a:lnTo>
                <a:lnTo>
                  <a:pt x="4532490" y="2581352"/>
                </a:lnTo>
                <a:lnTo>
                  <a:pt x="453249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TextBox 5"/>
          <p:cNvSpPr txBox="1"/>
          <p:nvPr/>
        </p:nvSpPr>
        <p:spPr>
          <a:xfrm>
            <a:off x="154960" y="7862438"/>
            <a:ext cx="2479830" cy="448841"/>
          </a:xfrm>
          <a:prstGeom prst="rect">
            <a:avLst/>
          </a:prstGeom>
        </p:spPr>
        <p:txBody>
          <a:bodyPr wrap="square" lIns="0" tIns="0" rIns="0" bIns="0" rtlCol="0" anchor="t">
            <a:spAutoFit/>
          </a:bodyPr>
          <a:lstStyle/>
          <a:p>
            <a:pPr algn="l">
              <a:lnSpc>
                <a:spcPts val="3499"/>
              </a:lnSpc>
            </a:pPr>
            <a:r>
              <a:rPr lang="en-US" sz="4000">
                <a:solidFill>
                  <a:srgbClr val="1E2A38"/>
                </a:solidFill>
                <a:latin typeface="Gabriola" panose="04040605051002020D02" pitchFamily="82" charset="0"/>
                <a:ea typeface="TT Firs Neue"/>
                <a:cs typeface="TT Firs Neue"/>
                <a:sym typeface="TT Firs Neue"/>
              </a:rPr>
              <a:t>Presented By:</a:t>
            </a:r>
          </a:p>
        </p:txBody>
      </p:sp>
      <p:sp>
        <p:nvSpPr>
          <p:cNvPr id="6" name="TextBox 6"/>
          <p:cNvSpPr txBox="1"/>
          <p:nvPr/>
        </p:nvSpPr>
        <p:spPr>
          <a:xfrm>
            <a:off x="2634790" y="7954010"/>
            <a:ext cx="7652210" cy="1102033"/>
          </a:xfrm>
          <a:prstGeom prst="rect">
            <a:avLst/>
          </a:prstGeom>
        </p:spPr>
        <p:txBody>
          <a:bodyPr wrap="square" lIns="0" tIns="0" rIns="0" bIns="0" rtlCol="0" anchor="t">
            <a:spAutoFit/>
          </a:bodyPr>
          <a:lstStyle/>
          <a:p>
            <a:pPr algn="l">
              <a:lnSpc>
                <a:spcPts val="2800"/>
              </a:lnSpc>
            </a:pPr>
            <a:r>
              <a:rPr lang="en-US" sz="4000">
                <a:solidFill>
                  <a:srgbClr val="1E2A38"/>
                </a:solidFill>
                <a:latin typeface="Gabriola" panose="04040605051002020D02" pitchFamily="82" charset="0"/>
                <a:ea typeface="TT Firs Neue"/>
                <a:cs typeface="TT Firs Neue"/>
                <a:sym typeface="TT Firs Neue"/>
              </a:rPr>
              <a:t>Venkata Satya</a:t>
            </a:r>
            <a:r>
              <a:rPr lang="en-US" sz="4000">
                <a:solidFill>
                  <a:srgbClr val="1E2A38"/>
                </a:solidFill>
                <a:latin typeface="Gabriola" panose="04040605051002020D02" pitchFamily="82" charset="0"/>
                <a:ea typeface="TT Firs Neue Bold"/>
                <a:cs typeface="TT Firs Neue Bold"/>
                <a:sym typeface="TT Firs Neue Bold"/>
              </a:rPr>
              <a:t> Sreeya </a:t>
            </a:r>
            <a:r>
              <a:rPr lang="en-US" sz="4000">
                <a:solidFill>
                  <a:srgbClr val="1E2A38"/>
                </a:solidFill>
                <a:latin typeface="Gabriola" panose="04040605051002020D02" pitchFamily="82" charset="0"/>
                <a:ea typeface="TT Firs Neue"/>
                <a:cs typeface="TT Firs Neue"/>
                <a:sym typeface="TT Firs Neue"/>
              </a:rPr>
              <a:t>Chandrapati</a:t>
            </a:r>
            <a:endParaRPr lang="en-US" sz="4000">
              <a:solidFill>
                <a:srgbClr val="1E2A38"/>
              </a:solidFill>
              <a:latin typeface="Gabriola" panose="04040605051002020D02" pitchFamily="82" charset="0"/>
              <a:ea typeface="TT Firs Neue"/>
              <a:cs typeface="TT Firs Neue"/>
            </a:endParaRPr>
          </a:p>
          <a:p>
            <a:pPr algn="l">
              <a:lnSpc>
                <a:spcPts val="2800"/>
              </a:lnSpc>
            </a:pPr>
            <a:endParaRPr lang="en-US" sz="4000">
              <a:solidFill>
                <a:srgbClr val="1E2A38"/>
              </a:solidFill>
              <a:latin typeface="Gabriola" panose="04040605051002020D02" pitchFamily="82" charset="0"/>
              <a:ea typeface="TT Firs Neue"/>
              <a:cs typeface="TT Firs Neue"/>
              <a:sym typeface="TT Firs Neue"/>
            </a:endParaRPr>
          </a:p>
          <a:p>
            <a:pPr algn="l">
              <a:lnSpc>
                <a:spcPts val="2800"/>
              </a:lnSpc>
            </a:pPr>
            <a:r>
              <a:rPr lang="en-US" sz="4000">
                <a:solidFill>
                  <a:srgbClr val="1E2A38"/>
                </a:solidFill>
                <a:latin typeface="Gabriola"/>
                <a:ea typeface="TT Firs Neue Bold"/>
                <a:cs typeface="TT Firs Neue Bold"/>
                <a:sym typeface="TT Firs Neue Bold"/>
              </a:rPr>
              <a:t>Geethika </a:t>
            </a:r>
            <a:r>
              <a:rPr lang="en-US" sz="4000">
                <a:solidFill>
                  <a:srgbClr val="1E2A38"/>
                </a:solidFill>
                <a:latin typeface="Gabriola"/>
                <a:ea typeface="TT Firs Neue"/>
                <a:cs typeface="TT Firs Neue"/>
                <a:sym typeface="TT Firs Neue"/>
              </a:rPr>
              <a:t>Kattamanchi Satheesh Kumar</a:t>
            </a:r>
            <a:endParaRPr lang="en-US" sz="4000">
              <a:solidFill>
                <a:srgbClr val="1E2A38"/>
              </a:solidFill>
              <a:latin typeface="Gabriola"/>
              <a:ea typeface="TT Firs Neue"/>
              <a:cs typeface="TT Firs Neue"/>
            </a:endParaRPr>
          </a:p>
        </p:txBody>
      </p:sp>
      <p:sp>
        <p:nvSpPr>
          <p:cNvPr id="7" name="Freeform 7"/>
          <p:cNvSpPr/>
          <p:nvPr/>
        </p:nvSpPr>
        <p:spPr>
          <a:xfrm rot="1365931">
            <a:off x="9938014" y="3345730"/>
            <a:ext cx="1545166" cy="1814013"/>
          </a:xfrm>
          <a:custGeom>
            <a:avLst/>
            <a:gdLst/>
            <a:ahLst/>
            <a:cxnLst/>
            <a:rect l="l" t="t" r="r" b="b"/>
            <a:pathLst>
              <a:path w="1545166" h="1814013">
                <a:moveTo>
                  <a:pt x="0" y="0"/>
                </a:moveTo>
                <a:lnTo>
                  <a:pt x="1545166" y="0"/>
                </a:lnTo>
                <a:lnTo>
                  <a:pt x="1545166" y="1814013"/>
                </a:lnTo>
                <a:lnTo>
                  <a:pt x="0" y="181401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8" name="Group 8"/>
          <p:cNvGrpSpPr/>
          <p:nvPr/>
        </p:nvGrpSpPr>
        <p:grpSpPr>
          <a:xfrm>
            <a:off x="263370" y="401640"/>
            <a:ext cx="1530661" cy="1883890"/>
            <a:chOff x="0" y="0"/>
            <a:chExt cx="660400" cy="812800"/>
          </a:xfrm>
        </p:grpSpPr>
        <p:sp>
          <p:nvSpPr>
            <p:cNvPr id="9" name="Freeform 9"/>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0" name="TextBox 10"/>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1" name="Group 11"/>
          <p:cNvGrpSpPr/>
          <p:nvPr/>
        </p:nvGrpSpPr>
        <p:grpSpPr>
          <a:xfrm rot="-10800000">
            <a:off x="-501961" y="-389493"/>
            <a:ext cx="1530661" cy="1883890"/>
            <a:chOff x="0" y="0"/>
            <a:chExt cx="660400" cy="812800"/>
          </a:xfrm>
        </p:grpSpPr>
        <p:sp>
          <p:nvSpPr>
            <p:cNvPr id="12" name="Freeform 12"/>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F7A63"/>
            </a:solidFill>
          </p:spPr>
          <p:txBody>
            <a:bodyPr/>
            <a:lstStyle/>
            <a:p>
              <a:endParaRPr lang="en-US"/>
            </a:p>
          </p:txBody>
        </p:sp>
        <p:sp>
          <p:nvSpPr>
            <p:cNvPr id="13" name="TextBox 13"/>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sp>
        <p:nvSpPr>
          <p:cNvPr id="14" name="TextBox 13">
            <a:extLst>
              <a:ext uri="{FF2B5EF4-FFF2-40B4-BE49-F238E27FC236}">
                <a16:creationId xmlns:a16="http://schemas.microsoft.com/office/drawing/2014/main" id="{EAC04296-5780-8827-BB66-6EB0B298ABDF}"/>
              </a:ext>
            </a:extLst>
          </p:cNvPr>
          <p:cNvSpPr txBox="1"/>
          <p:nvPr/>
        </p:nvSpPr>
        <p:spPr>
          <a:xfrm>
            <a:off x="11773969" y="401640"/>
            <a:ext cx="3304673" cy="707886"/>
          </a:xfrm>
          <a:prstGeom prst="rect">
            <a:avLst/>
          </a:prstGeom>
          <a:noFill/>
        </p:spPr>
        <p:txBody>
          <a:bodyPr wrap="square" rtlCol="0">
            <a:spAutoFit/>
          </a:bodyPr>
          <a:lstStyle/>
          <a:p>
            <a:r>
              <a:rPr lang="en-US" sz="4000" b="1">
                <a:latin typeface="Gabriola" panose="04040605051002020D02" pitchFamily="82" charset="0"/>
              </a:rPr>
              <a:t>Group Number: 6</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grpSp>
        <p:nvGrpSpPr>
          <p:cNvPr id="2" name="Group 2"/>
          <p:cNvGrpSpPr/>
          <p:nvPr/>
        </p:nvGrpSpPr>
        <p:grpSpPr>
          <a:xfrm rot="-10800000">
            <a:off x="9464278" y="-324399"/>
            <a:ext cx="6026944" cy="2642144"/>
            <a:chOff x="-1574434" y="55067"/>
            <a:chExt cx="2234834" cy="812800"/>
          </a:xfrm>
        </p:grpSpPr>
        <p:sp>
          <p:nvSpPr>
            <p:cNvPr id="3" name="Freeform 3"/>
            <p:cNvSpPr/>
            <p:nvPr/>
          </p:nvSpPr>
          <p:spPr>
            <a:xfrm>
              <a:off x="-1574434" y="55067"/>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4" name="TextBox 4"/>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sp>
        <p:nvSpPr>
          <p:cNvPr id="7" name="Freeform 7"/>
          <p:cNvSpPr/>
          <p:nvPr/>
        </p:nvSpPr>
        <p:spPr>
          <a:xfrm>
            <a:off x="16224019" y="4877951"/>
            <a:ext cx="1849512" cy="820217"/>
          </a:xfrm>
          <a:custGeom>
            <a:avLst/>
            <a:gdLst/>
            <a:ahLst/>
            <a:cxnLst/>
            <a:rect l="l" t="t" r="r" b="b"/>
            <a:pathLst>
              <a:path w="3286703" h="1607496">
                <a:moveTo>
                  <a:pt x="0" y="0"/>
                </a:moveTo>
                <a:lnTo>
                  <a:pt x="3286703" y="0"/>
                </a:lnTo>
                <a:lnTo>
                  <a:pt x="3286703" y="1607497"/>
                </a:lnTo>
                <a:lnTo>
                  <a:pt x="0" y="1607497"/>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8" name="Group 8"/>
          <p:cNvGrpSpPr/>
          <p:nvPr/>
        </p:nvGrpSpPr>
        <p:grpSpPr>
          <a:xfrm>
            <a:off x="-1319720" y="-952500"/>
            <a:ext cx="3086100" cy="308610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39C3D"/>
            </a:solidFill>
          </p:spPr>
          <p:txBody>
            <a:bodyPr/>
            <a:lstStyle/>
            <a:p>
              <a:endParaRPr lang="en-US"/>
            </a:p>
          </p:txBody>
        </p:sp>
        <p:sp>
          <p:nvSpPr>
            <p:cNvPr id="10" name="TextBox 10"/>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12" name="Group 12"/>
          <p:cNvGrpSpPr/>
          <p:nvPr/>
        </p:nvGrpSpPr>
        <p:grpSpPr>
          <a:xfrm>
            <a:off x="16089617" y="8136125"/>
            <a:ext cx="2507456" cy="3086100"/>
            <a:chOff x="0" y="0"/>
            <a:chExt cx="660400" cy="812800"/>
          </a:xfrm>
        </p:grpSpPr>
        <p:sp>
          <p:nvSpPr>
            <p:cNvPr id="13" name="Freeform 13"/>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4" name="TextBox 14"/>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sp>
        <p:nvSpPr>
          <p:cNvPr id="15" name="Freeform 15"/>
          <p:cNvSpPr/>
          <p:nvPr/>
        </p:nvSpPr>
        <p:spPr>
          <a:xfrm>
            <a:off x="-2609563" y="1962364"/>
            <a:ext cx="4246041" cy="4114800"/>
          </a:xfrm>
          <a:custGeom>
            <a:avLst/>
            <a:gdLst/>
            <a:ahLst/>
            <a:cxnLst/>
            <a:rect l="l" t="t" r="r" b="b"/>
            <a:pathLst>
              <a:path w="4246041" h="4114800">
                <a:moveTo>
                  <a:pt x="0" y="0"/>
                </a:moveTo>
                <a:lnTo>
                  <a:pt x="4246041" y="0"/>
                </a:lnTo>
                <a:lnTo>
                  <a:pt x="424604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TextBox 16"/>
          <p:cNvSpPr txBox="1"/>
          <p:nvPr/>
        </p:nvSpPr>
        <p:spPr>
          <a:xfrm>
            <a:off x="4755058" y="509969"/>
            <a:ext cx="8643882" cy="961802"/>
          </a:xfrm>
          <a:prstGeom prst="rect">
            <a:avLst/>
          </a:prstGeom>
        </p:spPr>
        <p:txBody>
          <a:bodyPr wrap="square" lIns="0" tIns="0" rIns="0" bIns="0" rtlCol="0" anchor="t">
            <a:spAutoFit/>
          </a:bodyPr>
          <a:lstStyle/>
          <a:p>
            <a:pPr algn="l">
              <a:lnSpc>
                <a:spcPts val="7500"/>
              </a:lnSpc>
            </a:pPr>
            <a:r>
              <a:rPr lang="en-US" sz="7000" b="1">
                <a:latin typeface="Gabriola" panose="04040605051002020D02" pitchFamily="82" charset="0"/>
                <a:ea typeface="Agrandir Bold"/>
                <a:cs typeface="Agrandir Bold"/>
                <a:sym typeface="Agrandir Bold"/>
              </a:rPr>
              <a:t>EXECUTIVE SUMMARY</a:t>
            </a:r>
          </a:p>
        </p:txBody>
      </p:sp>
      <p:sp>
        <p:nvSpPr>
          <p:cNvPr id="5" name="Rectangle 1">
            <a:extLst>
              <a:ext uri="{FF2B5EF4-FFF2-40B4-BE49-F238E27FC236}">
                <a16:creationId xmlns:a16="http://schemas.microsoft.com/office/drawing/2014/main" id="{B2F49866-7D4F-478A-125B-EEA9CA1B912D}"/>
              </a:ext>
            </a:extLst>
          </p:cNvPr>
          <p:cNvSpPr>
            <a:spLocks noChangeArrowheads="1"/>
          </p:cNvSpPr>
          <p:nvPr/>
        </p:nvSpPr>
        <p:spPr bwMode="auto">
          <a:xfrm>
            <a:off x="2291365" y="2631054"/>
            <a:ext cx="14726857" cy="6124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buFont typeface="Wingdings" panose="05000000000000000000" pitchFamily="2" charset="2"/>
              <a:buChar char="Ø"/>
            </a:pPr>
            <a:r>
              <a:rPr lang="en-US" sz="2800" b="1">
                <a:latin typeface="Comic Sans MS" panose="030F0702030302020204" pitchFamily="66" charset="0"/>
              </a:rPr>
              <a:t> Objective:</a:t>
            </a:r>
            <a:r>
              <a:rPr lang="en-US" sz="2800">
                <a:latin typeface="Comic Sans MS" panose="030F0702030302020204" pitchFamily="66" charset="0"/>
              </a:rPr>
              <a:t> Optimize bike allocation &amp; reduce wait times </a:t>
            </a:r>
          </a:p>
          <a:p>
            <a:pPr marL="285750" indent="-285750">
              <a:buFont typeface="Wingdings" panose="05000000000000000000" pitchFamily="2" charset="2"/>
              <a:buChar char="Ø"/>
            </a:pPr>
            <a:endParaRPr lang="en-US" sz="2800">
              <a:latin typeface="Comic Sans MS" panose="030F0702030302020204" pitchFamily="66" charset="0"/>
            </a:endParaRPr>
          </a:p>
          <a:p>
            <a:pPr marL="285750" indent="-285750">
              <a:buFont typeface="Wingdings" panose="05000000000000000000" pitchFamily="2" charset="2"/>
              <a:buChar char="Ø"/>
            </a:pPr>
            <a:r>
              <a:rPr lang="en-US" sz="2800" b="1">
                <a:latin typeface="Comic Sans MS" panose="030F0702030302020204" pitchFamily="66" charset="0"/>
              </a:rPr>
              <a:t> Data Source: </a:t>
            </a:r>
            <a:r>
              <a:rPr lang="en-US" sz="2800">
                <a:solidFill>
                  <a:schemeClr val="accent1">
                    <a:lumMod val="75000"/>
                  </a:schemeClr>
                </a:solidFill>
                <a:latin typeface="Comic Sans MS" panose="030F0702030302020204" pitchFamily="66" charset="0"/>
                <a:hlinkClick r:id="rId4">
                  <a:extLst>
                    <a:ext uri="{A12FA001-AC4F-418D-AE19-62706E023703}">
                      <ahyp:hlinkClr xmlns:ahyp="http://schemas.microsoft.com/office/drawing/2018/hyperlinkcolor" val="tx"/>
                    </a:ext>
                  </a:extLst>
                </a:hlinkClick>
              </a:rPr>
              <a:t>https://archive.ics.uci.edu/dataset/275/bike+sharing+dataset</a:t>
            </a:r>
            <a:endParaRPr lang="en-US" sz="2800">
              <a:solidFill>
                <a:schemeClr val="accent1">
                  <a:lumMod val="75000"/>
                </a:schemeClr>
              </a:solidFill>
              <a:latin typeface="Comic Sans MS" panose="030F0702030302020204" pitchFamily="66" charset="0"/>
            </a:endParaRPr>
          </a:p>
          <a:p>
            <a:pPr marL="285750" indent="-285750">
              <a:buFont typeface="Wingdings" panose="05000000000000000000" pitchFamily="2" charset="2"/>
              <a:buChar char="Ø"/>
            </a:pPr>
            <a:endParaRPr lang="en-US" sz="2800">
              <a:latin typeface="Comic Sans MS" panose="030F0702030302020204" pitchFamily="66" charset="0"/>
            </a:endParaRPr>
          </a:p>
          <a:p>
            <a:pPr marL="285750" indent="-285750">
              <a:buFont typeface="Wingdings" panose="05000000000000000000" pitchFamily="2" charset="2"/>
              <a:buChar char="Ø"/>
            </a:pPr>
            <a:r>
              <a:rPr lang="en-US" sz="2800" b="1">
                <a:latin typeface="Comic Sans MS" panose="030F0702030302020204" pitchFamily="66" charset="0"/>
              </a:rPr>
              <a:t> Data Handling:</a:t>
            </a:r>
            <a:r>
              <a:rPr lang="en-US" sz="2800">
                <a:latin typeface="Comic Sans MS" panose="030F0702030302020204" pitchFamily="66" charset="0"/>
              </a:rPr>
              <a:t> Fixed disruptions (Hurricane Sandy) using interpolation</a:t>
            </a:r>
          </a:p>
          <a:p>
            <a:pPr marL="285750" indent="-285750">
              <a:buFont typeface="Wingdings" panose="05000000000000000000" pitchFamily="2" charset="2"/>
              <a:buChar char="Ø"/>
            </a:pPr>
            <a:endParaRPr lang="en-US" sz="2800">
              <a:latin typeface="Comic Sans MS" panose="030F0702030302020204" pitchFamily="66" charset="0"/>
            </a:endParaRPr>
          </a:p>
          <a:p>
            <a:pPr marL="285750" indent="-285750">
              <a:buFont typeface="Wingdings" panose="05000000000000000000" pitchFamily="2" charset="2"/>
              <a:buChar char="Ø"/>
            </a:pPr>
            <a:r>
              <a:rPr lang="en-US" sz="2800" b="1">
                <a:latin typeface="Comic Sans MS" panose="030F0702030302020204" pitchFamily="66" charset="0"/>
              </a:rPr>
              <a:t> User Behavior:</a:t>
            </a:r>
            <a:r>
              <a:rPr lang="en-US" sz="2800">
                <a:latin typeface="Comic Sans MS" panose="030F0702030302020204" pitchFamily="66" charset="0"/>
              </a:rPr>
              <a:t> </a:t>
            </a:r>
          </a:p>
          <a:p>
            <a:pPr marL="742950" lvl="1" indent="-285750">
              <a:buFont typeface="Wingdings" panose="05000000000000000000" pitchFamily="2" charset="2"/>
              <a:buChar char="Ø"/>
            </a:pPr>
            <a:r>
              <a:rPr lang="en-US" sz="2800">
                <a:latin typeface="Comic Sans MS" panose="030F0702030302020204" pitchFamily="66" charset="0"/>
              </a:rPr>
              <a:t>Weekday peaks -&gt; registered users </a:t>
            </a:r>
          </a:p>
          <a:p>
            <a:pPr marL="742950" lvl="1" indent="-285750">
              <a:buFont typeface="Wingdings" panose="05000000000000000000" pitchFamily="2" charset="2"/>
              <a:buChar char="Ø"/>
            </a:pPr>
            <a:r>
              <a:rPr lang="en-US" sz="2800">
                <a:latin typeface="Comic Sans MS" panose="030F0702030302020204" pitchFamily="66" charset="0"/>
              </a:rPr>
              <a:t>Weekend spikes -&gt; casual users </a:t>
            </a:r>
          </a:p>
          <a:p>
            <a:endParaRPr lang="en-US" sz="2800">
              <a:latin typeface="Comic Sans MS" panose="030F0702030302020204" pitchFamily="66" charset="0"/>
            </a:endParaRPr>
          </a:p>
          <a:p>
            <a:pPr marL="285750" indent="-285750">
              <a:buFont typeface="Wingdings" panose="05000000000000000000" pitchFamily="2" charset="2"/>
              <a:buChar char="Ø"/>
            </a:pPr>
            <a:r>
              <a:rPr lang="en-US" sz="2800" b="1">
                <a:latin typeface="Comic Sans MS" panose="030F0702030302020204" pitchFamily="66" charset="0"/>
              </a:rPr>
              <a:t> Outcome:</a:t>
            </a:r>
            <a:r>
              <a:rPr lang="en-US" sz="2800">
                <a:latin typeface="Comic Sans MS" panose="030F0702030302020204" pitchFamily="66" charset="0"/>
              </a:rPr>
              <a:t> </a:t>
            </a:r>
          </a:p>
          <a:p>
            <a:pPr marL="742950" lvl="1" indent="-285750">
              <a:buFont typeface="Wingdings" panose="05000000000000000000" pitchFamily="2" charset="2"/>
              <a:buChar char="Ø"/>
            </a:pPr>
            <a:r>
              <a:rPr lang="en-US" sz="2800">
                <a:latin typeface="Comic Sans MS" panose="030F0702030302020204" pitchFamily="66" charset="0"/>
              </a:rPr>
              <a:t>30-day forecast (Jan 2013) </a:t>
            </a:r>
          </a:p>
          <a:p>
            <a:pPr marL="742950" lvl="1" indent="-285750">
              <a:buFont typeface="Wingdings" panose="05000000000000000000" pitchFamily="2" charset="2"/>
              <a:buChar char="Ø"/>
            </a:pPr>
            <a:r>
              <a:rPr lang="en-US" sz="2800">
                <a:latin typeface="Comic Sans MS" panose="030F0702030302020204" pitchFamily="66" charset="0"/>
              </a:rPr>
              <a:t>15% safety buffer </a:t>
            </a:r>
          </a:p>
          <a:p>
            <a:pPr marL="742950" lvl="1" indent="-285750">
              <a:buFont typeface="Wingdings" panose="05000000000000000000" pitchFamily="2" charset="2"/>
              <a:buChar char="Ø"/>
            </a:pPr>
            <a:r>
              <a:rPr lang="en-US" sz="2800">
                <a:latin typeface="Comic Sans MS" panose="030F0702030302020204" pitchFamily="66" charset="0"/>
              </a:rPr>
              <a:t>Ops window: </a:t>
            </a:r>
            <a:r>
              <a:rPr lang="en-US" sz="2800" b="1">
                <a:latin typeface="Comic Sans MS" panose="030F0702030302020204" pitchFamily="66" charset="0"/>
              </a:rPr>
              <a:t>3–4 AM</a:t>
            </a:r>
            <a:r>
              <a:rPr lang="en-US" sz="2800">
                <a:latin typeface="Comic Sans MS" panose="030F0702030302020204" pitchFamily="66" charset="0"/>
              </a:rPr>
              <a:t> </a:t>
            </a:r>
          </a:p>
        </p:txBody>
      </p:sp>
      <p:pic>
        <p:nvPicPr>
          <p:cNvPr id="11" name="Picture 10">
            <a:extLst>
              <a:ext uri="{FF2B5EF4-FFF2-40B4-BE49-F238E27FC236}">
                <a16:creationId xmlns:a16="http://schemas.microsoft.com/office/drawing/2014/main" id="{86DC7238-BC98-6D7A-4F21-F0CEE015CA0E}"/>
              </a:ext>
            </a:extLst>
          </p:cNvPr>
          <p:cNvPicPr>
            <a:picLocks noChangeAspect="1"/>
          </p:cNvPicPr>
          <p:nvPr/>
        </p:nvPicPr>
        <p:blipFill>
          <a:blip r:embed="rId5"/>
          <a:srcRect l="9415" t="2727" b="4161"/>
          <a:stretch/>
        </p:blipFill>
        <p:spPr>
          <a:xfrm>
            <a:off x="15780544" y="193097"/>
            <a:ext cx="2507456" cy="2342237"/>
          </a:xfrm>
          <a:prstGeom prst="rect">
            <a:avLst/>
          </a:prstGeom>
        </p:spPr>
      </p:pic>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4" name="Freeform 4"/>
          <p:cNvSpPr/>
          <p:nvPr/>
        </p:nvSpPr>
        <p:spPr>
          <a:xfrm rot="2700000" flipH="1">
            <a:off x="14624091" y="1018625"/>
            <a:ext cx="5294039" cy="3015070"/>
          </a:xfrm>
          <a:custGeom>
            <a:avLst/>
            <a:gdLst/>
            <a:ahLst/>
            <a:cxnLst/>
            <a:rect l="l" t="t" r="r" b="b"/>
            <a:pathLst>
              <a:path w="5294039" h="3015070">
                <a:moveTo>
                  <a:pt x="5294039" y="0"/>
                </a:moveTo>
                <a:lnTo>
                  <a:pt x="0" y="0"/>
                </a:lnTo>
                <a:lnTo>
                  <a:pt x="0" y="3015070"/>
                </a:lnTo>
                <a:lnTo>
                  <a:pt x="5294039" y="3015070"/>
                </a:lnTo>
                <a:lnTo>
                  <a:pt x="529403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Freeform 10"/>
          <p:cNvSpPr/>
          <p:nvPr/>
        </p:nvSpPr>
        <p:spPr>
          <a:xfrm>
            <a:off x="17271111" y="4670731"/>
            <a:ext cx="945537" cy="945537"/>
          </a:xfrm>
          <a:custGeom>
            <a:avLst/>
            <a:gdLst/>
            <a:ahLst/>
            <a:cxnLst/>
            <a:rect l="l" t="t" r="r" b="b"/>
            <a:pathLst>
              <a:path w="945537" h="945537">
                <a:moveTo>
                  <a:pt x="0" y="0"/>
                </a:moveTo>
                <a:lnTo>
                  <a:pt x="945536" y="0"/>
                </a:lnTo>
                <a:lnTo>
                  <a:pt x="945536" y="945536"/>
                </a:lnTo>
                <a:lnTo>
                  <a:pt x="0" y="94553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TextBox 11"/>
          <p:cNvSpPr txBox="1"/>
          <p:nvPr/>
        </p:nvSpPr>
        <p:spPr>
          <a:xfrm>
            <a:off x="2591877" y="211943"/>
            <a:ext cx="14296724" cy="872034"/>
          </a:xfrm>
          <a:prstGeom prst="rect">
            <a:avLst/>
          </a:prstGeom>
        </p:spPr>
        <p:txBody>
          <a:bodyPr wrap="square" lIns="0" tIns="0" rIns="0" bIns="0" rtlCol="0" anchor="t">
            <a:spAutoFit/>
          </a:bodyPr>
          <a:lstStyle/>
          <a:p>
            <a:pPr>
              <a:lnSpc>
                <a:spcPts val="6800"/>
              </a:lnSpc>
            </a:pPr>
            <a:r>
              <a:rPr lang="en-US" sz="7200" b="1">
                <a:latin typeface="Gabriola" panose="04040605051002020D02" pitchFamily="82" charset="0"/>
              </a:rPr>
              <a:t>The Mobility Gap: Why Predict Bike Demand?</a:t>
            </a:r>
            <a:endParaRPr lang="en-US" sz="6800" b="1" spc="-374">
              <a:solidFill>
                <a:srgbClr val="1E2A38"/>
              </a:solidFill>
              <a:latin typeface="Gabriola" panose="04040605051002020D02" pitchFamily="82" charset="0"/>
              <a:ea typeface="Heading Now 71-78"/>
              <a:cs typeface="Heading Now 71-78"/>
              <a:sym typeface="Heading Now 71-78"/>
            </a:endParaRPr>
          </a:p>
        </p:txBody>
      </p:sp>
      <p:sp>
        <p:nvSpPr>
          <p:cNvPr id="12" name="TextBox 12"/>
          <p:cNvSpPr txBox="1"/>
          <p:nvPr/>
        </p:nvSpPr>
        <p:spPr>
          <a:xfrm>
            <a:off x="2972347" y="2068261"/>
            <a:ext cx="12344400" cy="1723549"/>
          </a:xfrm>
          <a:prstGeom prst="rect">
            <a:avLst/>
          </a:prstGeom>
        </p:spPr>
        <p:txBody>
          <a:bodyPr wrap="square" lIns="0" tIns="0" rIns="0" bIns="0" rtlCol="0" anchor="t">
            <a:spAutoFit/>
          </a:bodyPr>
          <a:lstStyle/>
          <a:p>
            <a:pPr algn="just"/>
            <a:r>
              <a:rPr lang="en-US" sz="2800">
                <a:latin typeface="Comic Sans MS" panose="030F0702030302020204" pitchFamily="66" charset="0"/>
              </a:rPr>
              <a:t>Predicting bike-sharing demand is more than just a mathematical exercise; it is the backbone of reliable urban transportation. This project utilizes </a:t>
            </a:r>
            <a:r>
              <a:rPr lang="en-US" sz="2800" b="1">
                <a:latin typeface="Comic Sans MS" panose="030F0702030302020204" pitchFamily="66" charset="0"/>
              </a:rPr>
              <a:t>17,544 hours of data</a:t>
            </a:r>
            <a:r>
              <a:rPr lang="en-US" sz="2800">
                <a:latin typeface="Comic Sans MS" panose="030F0702030302020204" pitchFamily="66" charset="0"/>
              </a:rPr>
              <a:t> and machine learning to support </a:t>
            </a:r>
            <a:r>
              <a:rPr lang="en-US" sz="2800" b="1">
                <a:latin typeface="Comic Sans MS" panose="030F0702030302020204" pitchFamily="66" charset="0"/>
              </a:rPr>
              <a:t>proactive rebalancing and system resilience.</a:t>
            </a:r>
            <a:endParaRPr lang="en-US" sz="2800">
              <a:solidFill>
                <a:srgbClr val="FFFFFF"/>
              </a:solidFill>
              <a:latin typeface="Comic Sans MS" panose="030F0702030302020204" pitchFamily="66" charset="0"/>
              <a:ea typeface="TT Firs Neue"/>
              <a:cs typeface="TT Firs Neue"/>
              <a:sym typeface="TT Firs Neue"/>
            </a:endParaRPr>
          </a:p>
        </p:txBody>
      </p:sp>
      <p:grpSp>
        <p:nvGrpSpPr>
          <p:cNvPr id="15" name="Group 15"/>
          <p:cNvGrpSpPr/>
          <p:nvPr/>
        </p:nvGrpSpPr>
        <p:grpSpPr>
          <a:xfrm rot="-10800000">
            <a:off x="16682712" y="0"/>
            <a:ext cx="1605288" cy="1975739"/>
            <a:chOff x="0" y="0"/>
            <a:chExt cx="660400" cy="812800"/>
          </a:xfrm>
        </p:grpSpPr>
        <p:sp>
          <p:nvSpPr>
            <p:cNvPr id="16" name="Freeform 16"/>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7" name="TextBox 17"/>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8" name="Group 18"/>
          <p:cNvGrpSpPr/>
          <p:nvPr/>
        </p:nvGrpSpPr>
        <p:grpSpPr>
          <a:xfrm>
            <a:off x="17743879" y="6884175"/>
            <a:ext cx="1605288" cy="1975739"/>
            <a:chOff x="0" y="0"/>
            <a:chExt cx="660400" cy="812800"/>
          </a:xfrm>
        </p:grpSpPr>
        <p:sp>
          <p:nvSpPr>
            <p:cNvPr id="19" name="Freeform 19"/>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F7A63"/>
            </a:solidFill>
          </p:spPr>
          <p:txBody>
            <a:bodyPr/>
            <a:lstStyle/>
            <a:p>
              <a:endParaRPr lang="en-US"/>
            </a:p>
          </p:txBody>
        </p:sp>
        <p:sp>
          <p:nvSpPr>
            <p:cNvPr id="20" name="TextBox 20"/>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21" name="Group 21"/>
          <p:cNvGrpSpPr/>
          <p:nvPr/>
        </p:nvGrpSpPr>
        <p:grpSpPr>
          <a:xfrm>
            <a:off x="-802644" y="2536293"/>
            <a:ext cx="1605288" cy="1975739"/>
            <a:chOff x="0" y="0"/>
            <a:chExt cx="660400" cy="812800"/>
          </a:xfrm>
        </p:grpSpPr>
        <p:sp>
          <p:nvSpPr>
            <p:cNvPr id="22" name="Freeform 22"/>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23" name="TextBox 23"/>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sp>
        <p:nvSpPr>
          <p:cNvPr id="25" name="Freeform 8">
            <a:extLst>
              <a:ext uri="{FF2B5EF4-FFF2-40B4-BE49-F238E27FC236}">
                <a16:creationId xmlns:a16="http://schemas.microsoft.com/office/drawing/2014/main" id="{10BB2AF5-E374-DB04-F63D-BE66D3A48706}"/>
              </a:ext>
            </a:extLst>
          </p:cNvPr>
          <p:cNvSpPr/>
          <p:nvPr/>
        </p:nvSpPr>
        <p:spPr>
          <a:xfrm>
            <a:off x="2591877" y="5143499"/>
            <a:ext cx="13104246" cy="4400885"/>
          </a:xfrm>
          <a:custGeom>
            <a:avLst/>
            <a:gdLst/>
            <a:ahLst/>
            <a:cxnLst/>
            <a:rect l="l" t="t" r="r" b="b"/>
            <a:pathLst>
              <a:path w="1352283" h="662724">
                <a:moveTo>
                  <a:pt x="42632" y="0"/>
                </a:moveTo>
                <a:lnTo>
                  <a:pt x="1309651" y="0"/>
                </a:lnTo>
                <a:cubicBezTo>
                  <a:pt x="1320958" y="0"/>
                  <a:pt x="1331802" y="4492"/>
                  <a:pt x="1339797" y="12487"/>
                </a:cubicBezTo>
                <a:cubicBezTo>
                  <a:pt x="1347792" y="20482"/>
                  <a:pt x="1352283" y="31325"/>
                  <a:pt x="1352283" y="42632"/>
                </a:cubicBezTo>
                <a:lnTo>
                  <a:pt x="1352283" y="620092"/>
                </a:lnTo>
                <a:cubicBezTo>
                  <a:pt x="1352283" y="643637"/>
                  <a:pt x="1333196" y="662724"/>
                  <a:pt x="1309651" y="662724"/>
                </a:cubicBezTo>
                <a:lnTo>
                  <a:pt x="42632" y="662724"/>
                </a:lnTo>
                <a:cubicBezTo>
                  <a:pt x="19087" y="662724"/>
                  <a:pt x="0" y="643637"/>
                  <a:pt x="0" y="620092"/>
                </a:cubicBezTo>
                <a:lnTo>
                  <a:pt x="0" y="42632"/>
                </a:lnTo>
                <a:cubicBezTo>
                  <a:pt x="0" y="19087"/>
                  <a:pt x="19087" y="0"/>
                  <a:pt x="42632" y="0"/>
                </a:cubicBezTo>
                <a:close/>
              </a:path>
            </a:pathLst>
          </a:custGeom>
          <a:solidFill>
            <a:schemeClr val="accent6">
              <a:lumMod val="60000"/>
              <a:lumOff val="40000"/>
            </a:schemeClr>
          </a:solidFill>
          <a:ln cap="rnd">
            <a:noFill/>
            <a:prstDash val="solid"/>
            <a:round/>
          </a:ln>
        </p:spPr>
        <p:txBody>
          <a:bodyPr/>
          <a:lstStyle/>
          <a:p>
            <a:endParaRPr lang="en-US">
              <a:solidFill>
                <a:schemeClr val="accent1">
                  <a:lumMod val="75000"/>
                </a:schemeClr>
              </a:solidFill>
            </a:endParaRPr>
          </a:p>
        </p:txBody>
      </p:sp>
      <p:sp>
        <p:nvSpPr>
          <p:cNvPr id="33" name="TextBox 32">
            <a:extLst>
              <a:ext uri="{FF2B5EF4-FFF2-40B4-BE49-F238E27FC236}">
                <a16:creationId xmlns:a16="http://schemas.microsoft.com/office/drawing/2014/main" id="{BE4A9FE7-2350-99C7-EE76-F4662D7F9041}"/>
              </a:ext>
            </a:extLst>
          </p:cNvPr>
          <p:cNvSpPr txBox="1"/>
          <p:nvPr/>
        </p:nvSpPr>
        <p:spPr>
          <a:xfrm>
            <a:off x="3017300" y="7398572"/>
            <a:ext cx="4042460" cy="1569660"/>
          </a:xfrm>
          <a:prstGeom prst="rect">
            <a:avLst/>
          </a:prstGeom>
          <a:noFill/>
        </p:spPr>
        <p:txBody>
          <a:bodyPr wrap="square" rtlCol="0">
            <a:spAutoFit/>
          </a:bodyPr>
          <a:lstStyle/>
          <a:p>
            <a:r>
              <a:rPr lang="en-US" sz="2400" b="1">
                <a:latin typeface="Comic Sans MS" panose="030F0702030302020204" pitchFamily="66" charset="0"/>
              </a:rPr>
              <a:t>Reduces Waiting Times</a:t>
            </a:r>
          </a:p>
          <a:p>
            <a:pPr marL="342900" indent="-342900">
              <a:buFont typeface="Arial" panose="020B0604020202020204" pitchFamily="34" charset="0"/>
              <a:buChar char="•"/>
            </a:pPr>
            <a:r>
              <a:rPr lang="en-US" sz="2400">
                <a:latin typeface="Comic Sans MS" panose="030F0702030302020204" pitchFamily="66" charset="0"/>
              </a:rPr>
              <a:t>Predicting "Stock-outs“</a:t>
            </a:r>
          </a:p>
          <a:p>
            <a:pPr marL="342900" indent="-342900">
              <a:buFont typeface="Arial" panose="020B0604020202020204" pitchFamily="34" charset="0"/>
              <a:buChar char="•"/>
            </a:pPr>
            <a:r>
              <a:rPr lang="en-US" sz="2400">
                <a:latin typeface="Comic Sans MS" panose="030F0702030302020204" pitchFamily="66" charset="0"/>
              </a:rPr>
              <a:t>Ensure bikes at peak (8 AM, 5PM)</a:t>
            </a:r>
          </a:p>
        </p:txBody>
      </p:sp>
      <p:sp>
        <p:nvSpPr>
          <p:cNvPr id="34" name="TextBox 33">
            <a:extLst>
              <a:ext uri="{FF2B5EF4-FFF2-40B4-BE49-F238E27FC236}">
                <a16:creationId xmlns:a16="http://schemas.microsoft.com/office/drawing/2014/main" id="{432CDECA-0C94-E7B5-337C-64E93388DD62}"/>
              </a:ext>
            </a:extLst>
          </p:cNvPr>
          <p:cNvSpPr txBox="1"/>
          <p:nvPr/>
        </p:nvSpPr>
        <p:spPr>
          <a:xfrm>
            <a:off x="11633885" y="7347311"/>
            <a:ext cx="3963117" cy="1938992"/>
          </a:xfrm>
          <a:prstGeom prst="rect">
            <a:avLst/>
          </a:prstGeom>
          <a:noFill/>
        </p:spPr>
        <p:txBody>
          <a:bodyPr wrap="square" rtlCol="0">
            <a:spAutoFit/>
          </a:bodyPr>
          <a:lstStyle/>
          <a:p>
            <a:r>
              <a:rPr lang="en-US" sz="2400" b="1">
                <a:latin typeface="Comic Sans MS" panose="030F0702030302020204" pitchFamily="66" charset="0"/>
              </a:rPr>
              <a:t>Builds System Resilience</a:t>
            </a:r>
          </a:p>
          <a:p>
            <a:pPr marL="342900" indent="-342900">
              <a:buFont typeface="Arial" panose="020B0604020202020204" pitchFamily="34" charset="0"/>
              <a:buChar char="•"/>
            </a:pPr>
            <a:r>
              <a:rPr lang="en-US" altLang="en-US" sz="2400">
                <a:latin typeface="Comic Sans MS" panose="030F0702030302020204" pitchFamily="66" charset="0"/>
              </a:rPr>
              <a:t>Capture weather impact (e.g., rain drop) </a:t>
            </a:r>
          </a:p>
          <a:p>
            <a:pPr marL="342900" lvl="0" indent="-342900" eaLnBrk="0" fontAlgn="base" hangingPunct="0">
              <a:spcBef>
                <a:spcPct val="0"/>
              </a:spcBef>
              <a:spcAft>
                <a:spcPct val="0"/>
              </a:spcAft>
              <a:buFont typeface="Arial" panose="020B0604020202020204" pitchFamily="34" charset="0"/>
              <a:buChar char="•"/>
            </a:pPr>
            <a:r>
              <a:rPr lang="en-US" altLang="en-US" sz="2400">
                <a:latin typeface="Comic Sans MS" panose="030F0702030302020204" pitchFamily="66" charset="0"/>
              </a:rPr>
              <a:t>Enable proactive response </a:t>
            </a:r>
          </a:p>
        </p:txBody>
      </p:sp>
      <p:sp>
        <p:nvSpPr>
          <p:cNvPr id="35" name="TextBox 34">
            <a:extLst>
              <a:ext uri="{FF2B5EF4-FFF2-40B4-BE49-F238E27FC236}">
                <a16:creationId xmlns:a16="http://schemas.microsoft.com/office/drawing/2014/main" id="{567D1B91-D2A7-BED5-ADEF-16706FF18C09}"/>
              </a:ext>
            </a:extLst>
          </p:cNvPr>
          <p:cNvSpPr txBox="1"/>
          <p:nvPr/>
        </p:nvSpPr>
        <p:spPr>
          <a:xfrm>
            <a:off x="7485183" y="7431935"/>
            <a:ext cx="4042460" cy="1569660"/>
          </a:xfrm>
          <a:prstGeom prst="rect">
            <a:avLst/>
          </a:prstGeom>
          <a:noFill/>
        </p:spPr>
        <p:txBody>
          <a:bodyPr wrap="square" rtlCol="0">
            <a:spAutoFit/>
          </a:bodyPr>
          <a:lstStyle/>
          <a:p>
            <a:r>
              <a:rPr lang="en-US" sz="2400" b="1">
                <a:latin typeface="Comic Sans MS" panose="030F0702030302020204" pitchFamily="66" charset="0"/>
              </a:rPr>
              <a:t>Improves Operational Flow</a:t>
            </a:r>
          </a:p>
          <a:p>
            <a:pPr marL="342900" indent="-342900">
              <a:buFont typeface="Arial" panose="020B0604020202020204" pitchFamily="34" charset="0"/>
              <a:buChar char="•"/>
            </a:pPr>
            <a:r>
              <a:rPr lang="en-US" sz="2400">
                <a:latin typeface="Comic Sans MS" panose="030F0702030302020204" pitchFamily="66" charset="0"/>
              </a:rPr>
              <a:t>Identify Surplus zones</a:t>
            </a:r>
          </a:p>
          <a:p>
            <a:pPr marL="342900" indent="-342900">
              <a:buFont typeface="Arial" panose="020B0604020202020204" pitchFamily="34" charset="0"/>
              <a:buChar char="•"/>
            </a:pPr>
            <a:r>
              <a:rPr lang="en-US" sz="2400">
                <a:latin typeface="Comic Sans MS" panose="030F0702030302020204" pitchFamily="66" charset="0"/>
              </a:rPr>
              <a:t>Rebalancing efficiency</a:t>
            </a:r>
          </a:p>
        </p:txBody>
      </p:sp>
      <p:pic>
        <p:nvPicPr>
          <p:cNvPr id="38" name="Picture 37">
            <a:extLst>
              <a:ext uri="{FF2B5EF4-FFF2-40B4-BE49-F238E27FC236}">
                <a16:creationId xmlns:a16="http://schemas.microsoft.com/office/drawing/2014/main" id="{20E74625-369D-D813-2144-E7E47CBA6535}"/>
              </a:ext>
            </a:extLst>
          </p:cNvPr>
          <p:cNvPicPr>
            <a:picLocks noChangeAspect="1"/>
          </p:cNvPicPr>
          <p:nvPr/>
        </p:nvPicPr>
        <p:blipFill>
          <a:blip r:embed="rId4"/>
          <a:stretch/>
        </p:blipFill>
        <p:spPr>
          <a:xfrm>
            <a:off x="8457482" y="6022243"/>
            <a:ext cx="1944598" cy="1054875"/>
          </a:xfrm>
          <a:prstGeom prst="rect">
            <a:avLst/>
          </a:prstGeom>
        </p:spPr>
      </p:pic>
      <p:pic>
        <p:nvPicPr>
          <p:cNvPr id="40" name="Picture 39">
            <a:extLst>
              <a:ext uri="{FF2B5EF4-FFF2-40B4-BE49-F238E27FC236}">
                <a16:creationId xmlns:a16="http://schemas.microsoft.com/office/drawing/2014/main" id="{F49E8BA4-FA69-9ACD-9897-F3B0FB3BB734}"/>
              </a:ext>
            </a:extLst>
          </p:cNvPr>
          <p:cNvPicPr>
            <a:picLocks noChangeAspect="1"/>
          </p:cNvPicPr>
          <p:nvPr/>
        </p:nvPicPr>
        <p:blipFill>
          <a:blip r:embed="rId5"/>
          <a:srcRect l="1452" t="4788" r="-1"/>
          <a:stretch>
            <a:fillRect/>
          </a:stretch>
        </p:blipFill>
        <p:spPr>
          <a:xfrm flipH="1">
            <a:off x="4114800" y="5783758"/>
            <a:ext cx="1545321" cy="1531844"/>
          </a:xfrm>
          <a:prstGeom prst="rect">
            <a:avLst/>
          </a:prstGeom>
        </p:spPr>
      </p:pic>
      <p:pic>
        <p:nvPicPr>
          <p:cNvPr id="42" name="Picture 41">
            <a:extLst>
              <a:ext uri="{FF2B5EF4-FFF2-40B4-BE49-F238E27FC236}">
                <a16:creationId xmlns:a16="http://schemas.microsoft.com/office/drawing/2014/main" id="{A4B6C8C1-EF01-0352-2A86-07E6F6C45AD0}"/>
              </a:ext>
            </a:extLst>
          </p:cNvPr>
          <p:cNvPicPr>
            <a:picLocks noChangeAspect="1"/>
          </p:cNvPicPr>
          <p:nvPr/>
        </p:nvPicPr>
        <p:blipFill>
          <a:blip r:embed="rId6"/>
          <a:srcRect l="7352" t="8056" b="14217"/>
          <a:stretch>
            <a:fillRect/>
          </a:stretch>
        </p:blipFill>
        <p:spPr>
          <a:xfrm>
            <a:off x="12831023" y="5868017"/>
            <a:ext cx="1242617" cy="1054875"/>
          </a:xfrm>
          <a:prstGeom prst="rect">
            <a:avLst/>
          </a:prstGeom>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Freeform 2"/>
          <p:cNvSpPr/>
          <p:nvPr/>
        </p:nvSpPr>
        <p:spPr>
          <a:xfrm>
            <a:off x="15163800" y="7611396"/>
            <a:ext cx="4246041" cy="4114800"/>
          </a:xfrm>
          <a:custGeom>
            <a:avLst/>
            <a:gdLst/>
            <a:ahLst/>
            <a:cxnLst/>
            <a:rect l="l" t="t" r="r" b="b"/>
            <a:pathLst>
              <a:path w="4246041" h="4114800">
                <a:moveTo>
                  <a:pt x="0" y="0"/>
                </a:moveTo>
                <a:lnTo>
                  <a:pt x="4246041" y="0"/>
                </a:lnTo>
                <a:lnTo>
                  <a:pt x="4246041"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TextBox 7"/>
          <p:cNvSpPr txBox="1"/>
          <p:nvPr/>
        </p:nvSpPr>
        <p:spPr>
          <a:xfrm>
            <a:off x="2100956" y="5920170"/>
            <a:ext cx="523966" cy="576866"/>
          </a:xfrm>
          <a:prstGeom prst="rect">
            <a:avLst/>
          </a:prstGeom>
        </p:spPr>
        <p:txBody>
          <a:bodyPr lIns="32732" tIns="32732" rIns="32732" bIns="32732" rtlCol="0" anchor="ctr"/>
          <a:lstStyle/>
          <a:p>
            <a:pPr algn="ctr">
              <a:lnSpc>
                <a:spcPts val="2240"/>
              </a:lnSpc>
            </a:pPr>
            <a:endParaRPr/>
          </a:p>
        </p:txBody>
      </p:sp>
      <p:sp>
        <p:nvSpPr>
          <p:cNvPr id="8" name="Freeform 8"/>
          <p:cNvSpPr/>
          <p:nvPr/>
        </p:nvSpPr>
        <p:spPr>
          <a:xfrm>
            <a:off x="2207702" y="6079817"/>
            <a:ext cx="310473" cy="310473"/>
          </a:xfrm>
          <a:custGeom>
            <a:avLst/>
            <a:gdLst/>
            <a:ahLst/>
            <a:cxnLst/>
            <a:rect l="l" t="t" r="r" b="b"/>
            <a:pathLst>
              <a:path w="310473" h="310473">
                <a:moveTo>
                  <a:pt x="0" y="0"/>
                </a:moveTo>
                <a:lnTo>
                  <a:pt x="310473" y="0"/>
                </a:lnTo>
                <a:lnTo>
                  <a:pt x="310473" y="310473"/>
                </a:lnTo>
                <a:lnTo>
                  <a:pt x="0" y="31047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1691453" y="4377754"/>
            <a:ext cx="5582480" cy="441146"/>
          </a:xfrm>
          <a:prstGeom prst="rect">
            <a:avLst/>
          </a:prstGeom>
        </p:spPr>
        <p:txBody>
          <a:bodyPr lIns="0" tIns="0" rIns="0" bIns="0" rtlCol="0" anchor="t">
            <a:spAutoFit/>
          </a:bodyPr>
          <a:lstStyle/>
          <a:p>
            <a:pPr>
              <a:lnSpc>
                <a:spcPts val="2800"/>
              </a:lnSpc>
            </a:pPr>
            <a:r>
              <a:rPr lang="en-US" sz="6000">
                <a:latin typeface="Gabriola" panose="04040605051002020D02" pitchFamily="82" charset="0"/>
              </a:rPr>
              <a:t>Problem Statement</a:t>
            </a:r>
            <a:endParaRPr lang="en-US" sz="6000">
              <a:solidFill>
                <a:srgbClr val="1E2A38"/>
              </a:solidFill>
              <a:latin typeface="Gabriola" panose="04040605051002020D02" pitchFamily="82" charset="0"/>
              <a:ea typeface="Poppins"/>
              <a:cs typeface="Poppins"/>
              <a:sym typeface="Poppins"/>
            </a:endParaRPr>
          </a:p>
        </p:txBody>
      </p:sp>
      <p:sp>
        <p:nvSpPr>
          <p:cNvPr id="10" name="TextBox 10"/>
          <p:cNvSpPr txBox="1"/>
          <p:nvPr/>
        </p:nvSpPr>
        <p:spPr>
          <a:xfrm>
            <a:off x="1669330" y="1982537"/>
            <a:ext cx="15163800" cy="1308050"/>
          </a:xfrm>
          <a:prstGeom prst="rect">
            <a:avLst/>
          </a:prstGeom>
        </p:spPr>
        <p:txBody>
          <a:bodyPr wrap="square" lIns="0" tIns="0" rIns="0" bIns="0" rtlCol="0" anchor="t">
            <a:spAutoFit/>
          </a:bodyPr>
          <a:lstStyle/>
          <a:p>
            <a:pPr algn="just">
              <a:lnSpc>
                <a:spcPts val="3359"/>
              </a:lnSpc>
            </a:pPr>
            <a:r>
              <a:rPr lang="en-US" sz="2400">
                <a:latin typeface="Comic Sans MS" panose="030F0702030302020204" pitchFamily="66" charset="0"/>
              </a:rPr>
              <a:t>Current bike-sharing operations are often reactive, leading to significant service gaps during peak hours. This project identifies the structural and environmental drivers of these gaps to build a proactive rebalancing framework.</a:t>
            </a:r>
            <a:endParaRPr lang="en-US" sz="2400">
              <a:solidFill>
                <a:srgbClr val="1E2A38"/>
              </a:solidFill>
              <a:latin typeface="Comic Sans MS" panose="030F0702030302020204" pitchFamily="66" charset="0"/>
              <a:ea typeface="Poppins Bold"/>
              <a:cs typeface="Poppins Bold"/>
              <a:sym typeface="Poppins Bold"/>
            </a:endParaRPr>
          </a:p>
        </p:txBody>
      </p:sp>
      <p:sp>
        <p:nvSpPr>
          <p:cNvPr id="11" name="TextBox 11"/>
          <p:cNvSpPr txBox="1"/>
          <p:nvPr/>
        </p:nvSpPr>
        <p:spPr>
          <a:xfrm>
            <a:off x="1654582" y="322972"/>
            <a:ext cx="11363328" cy="901144"/>
          </a:xfrm>
          <a:prstGeom prst="rect">
            <a:avLst/>
          </a:prstGeom>
        </p:spPr>
        <p:txBody>
          <a:bodyPr wrap="square" lIns="0" tIns="0" rIns="0" bIns="0" rtlCol="0" anchor="t">
            <a:spAutoFit/>
          </a:bodyPr>
          <a:lstStyle/>
          <a:p>
            <a:pPr>
              <a:lnSpc>
                <a:spcPts val="6800"/>
              </a:lnSpc>
            </a:pPr>
            <a:r>
              <a:rPr lang="en-US" sz="7200">
                <a:latin typeface="Gabriola" panose="04040605051002020D02" pitchFamily="82" charset="0"/>
              </a:rPr>
              <a:t>The Balancing Act: Demand vs. Supply</a:t>
            </a:r>
            <a:endParaRPr lang="en-US" sz="6800" b="1">
              <a:solidFill>
                <a:srgbClr val="1E2A38"/>
              </a:solidFill>
              <a:latin typeface="Gabriola" panose="04040605051002020D02" pitchFamily="82" charset="0"/>
              <a:ea typeface="Agrandir Bold"/>
              <a:cs typeface="Agrandir Bold"/>
              <a:sym typeface="Agrandir Bold"/>
            </a:endParaRPr>
          </a:p>
        </p:txBody>
      </p:sp>
      <p:sp>
        <p:nvSpPr>
          <p:cNvPr id="13" name="Freeform 13"/>
          <p:cNvSpPr/>
          <p:nvPr/>
        </p:nvSpPr>
        <p:spPr>
          <a:xfrm>
            <a:off x="244105" y="255705"/>
            <a:ext cx="1279895" cy="797867"/>
          </a:xfrm>
          <a:custGeom>
            <a:avLst/>
            <a:gdLst/>
            <a:ahLst/>
            <a:cxnLst/>
            <a:rect l="l" t="t" r="r" b="b"/>
            <a:pathLst>
              <a:path w="2118833" h="1036302">
                <a:moveTo>
                  <a:pt x="0" y="0"/>
                </a:moveTo>
                <a:lnTo>
                  <a:pt x="2118833" y="0"/>
                </a:lnTo>
                <a:lnTo>
                  <a:pt x="2118833" y="1036301"/>
                </a:lnTo>
                <a:lnTo>
                  <a:pt x="0" y="103630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4" name="Group 14"/>
          <p:cNvGrpSpPr/>
          <p:nvPr/>
        </p:nvGrpSpPr>
        <p:grpSpPr>
          <a:xfrm>
            <a:off x="-22064" y="8143081"/>
            <a:ext cx="1812231" cy="2230438"/>
            <a:chOff x="0" y="0"/>
            <a:chExt cx="660400" cy="812800"/>
          </a:xfrm>
        </p:grpSpPr>
        <p:sp>
          <p:nvSpPr>
            <p:cNvPr id="15" name="Freeform 15"/>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6" name="TextBox 16"/>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aphicFrame>
        <p:nvGraphicFramePr>
          <p:cNvPr id="18" name="Table 17">
            <a:extLst>
              <a:ext uri="{FF2B5EF4-FFF2-40B4-BE49-F238E27FC236}">
                <a16:creationId xmlns:a16="http://schemas.microsoft.com/office/drawing/2014/main" id="{493624F8-F54B-BA31-6F0A-CFE87E59A7DC}"/>
              </a:ext>
            </a:extLst>
          </p:cNvPr>
          <p:cNvGraphicFramePr>
            <a:graphicFrameLocks noGrp="1"/>
          </p:cNvGraphicFramePr>
          <p:nvPr>
            <p:extLst>
              <p:ext uri="{D42A27DB-BD31-4B8C-83A1-F6EECF244321}">
                <p14:modId xmlns:p14="http://schemas.microsoft.com/office/powerpoint/2010/main" val="4090717210"/>
              </p:ext>
            </p:extLst>
          </p:nvPr>
        </p:nvGraphicFramePr>
        <p:xfrm>
          <a:off x="1969629" y="5143501"/>
          <a:ext cx="14086088" cy="2999581"/>
        </p:xfrm>
        <a:graphic>
          <a:graphicData uri="http://schemas.openxmlformats.org/drawingml/2006/table">
            <a:tbl>
              <a:tblPr>
                <a:tableStyleId>{3B4B98B0-60AC-42C2-AFA5-B58CD77FA1E5}</a:tableStyleId>
              </a:tblPr>
              <a:tblGrid>
                <a:gridCol w="7043044">
                  <a:extLst>
                    <a:ext uri="{9D8B030D-6E8A-4147-A177-3AD203B41FA5}">
                      <a16:colId xmlns:a16="http://schemas.microsoft.com/office/drawing/2014/main" val="1957068060"/>
                    </a:ext>
                  </a:extLst>
                </a:gridCol>
                <a:gridCol w="7043044">
                  <a:extLst>
                    <a:ext uri="{9D8B030D-6E8A-4147-A177-3AD203B41FA5}">
                      <a16:colId xmlns:a16="http://schemas.microsoft.com/office/drawing/2014/main" val="2008232283"/>
                    </a:ext>
                  </a:extLst>
                </a:gridCol>
              </a:tblGrid>
              <a:tr h="499930">
                <a:tc>
                  <a:txBody>
                    <a:bodyPr/>
                    <a:lstStyle/>
                    <a:p>
                      <a:pPr>
                        <a:buNone/>
                      </a:pPr>
                      <a:r>
                        <a:rPr lang="en-US" sz="2200" b="1">
                          <a:latin typeface="Comic Sans MS" panose="030F0702030302020204" pitchFamily="66" charset="0"/>
                        </a:rPr>
                        <a:t>The Availability Crisis</a:t>
                      </a:r>
                      <a:endParaRPr lang="en-US" sz="2200">
                        <a:latin typeface="Comic Sans MS" panose="030F0702030302020204" pitchFamily="66" charset="0"/>
                      </a:endParaRPr>
                    </a:p>
                  </a:txBody>
                  <a:tcPr anchor="ctr"/>
                </a:tc>
                <a:tc>
                  <a:txBody>
                    <a:bodyPr/>
                    <a:lstStyle/>
                    <a:p>
                      <a:pPr>
                        <a:buNone/>
                      </a:pPr>
                      <a:r>
                        <a:rPr lang="en-US" sz="2200" b="1">
                          <a:latin typeface="Comic Sans MS" panose="030F0702030302020204" pitchFamily="66" charset="0"/>
                        </a:rPr>
                        <a:t>Environmental Sensitivity</a:t>
                      </a:r>
                      <a:endParaRPr lang="en-US" sz="2200">
                        <a:latin typeface="Comic Sans MS" panose="030F0702030302020204" pitchFamily="66" charset="0"/>
                      </a:endParaRPr>
                    </a:p>
                  </a:txBody>
                  <a:tcPr anchor="ctr"/>
                </a:tc>
                <a:extLst>
                  <a:ext uri="{0D108BD9-81ED-4DB2-BD59-A6C34878D82A}">
                    <a16:rowId xmlns:a16="http://schemas.microsoft.com/office/drawing/2014/main" val="1265162656"/>
                  </a:ext>
                </a:extLst>
              </a:tr>
              <a:tr h="1624773">
                <a:tc>
                  <a:txBody>
                    <a:bodyPr/>
                    <a:lstStyle/>
                    <a:p>
                      <a:pPr>
                        <a:buNone/>
                      </a:pPr>
                      <a:r>
                        <a:rPr lang="en-US" sz="2200" b="1">
                          <a:latin typeface="Comic Sans MS" panose="030F0702030302020204" pitchFamily="66" charset="0"/>
                        </a:rPr>
                        <a:t>Problem:</a:t>
                      </a:r>
                      <a:r>
                        <a:rPr lang="en-US" sz="2200">
                          <a:latin typeface="Comic Sans MS" panose="030F0702030302020204" pitchFamily="66" charset="0"/>
                        </a:rPr>
                        <a:t> System "stock-outs" at 8 AM and 5 PM on weekdays discourage commuter reliance.</a:t>
                      </a:r>
                    </a:p>
                  </a:txBody>
                  <a:tcPr anchor="ctr"/>
                </a:tc>
                <a:tc>
                  <a:txBody>
                    <a:bodyPr/>
                    <a:lstStyle/>
                    <a:p>
                      <a:pPr>
                        <a:buNone/>
                      </a:pPr>
                      <a:r>
                        <a:rPr lang="en-US" sz="2200" b="1">
                          <a:latin typeface="Comic Sans MS" panose="030F0702030302020204" pitchFamily="66" charset="0"/>
                        </a:rPr>
                        <a:t>Problem:</a:t>
                      </a:r>
                      <a:r>
                        <a:rPr lang="en-US" sz="2200">
                          <a:latin typeface="Comic Sans MS" panose="030F0702030302020204" pitchFamily="66" charset="0"/>
                        </a:rPr>
                        <a:t> Sudden weather shifts (rain/snow) and extreme events like </a:t>
                      </a:r>
                      <a:r>
                        <a:rPr lang="en-US" sz="2200" b="1">
                          <a:latin typeface="Comic Sans MS" panose="030F0702030302020204" pitchFamily="66" charset="0"/>
                        </a:rPr>
                        <a:t>Hurricane Sandy</a:t>
                      </a:r>
                      <a:r>
                        <a:rPr lang="en-US" sz="2200">
                          <a:latin typeface="Comic Sans MS" panose="030F0702030302020204" pitchFamily="66" charset="0"/>
                        </a:rPr>
                        <a:t> create massive surpluses that strain storage capacity.</a:t>
                      </a:r>
                    </a:p>
                  </a:txBody>
                  <a:tcPr anchor="ctr"/>
                </a:tc>
                <a:extLst>
                  <a:ext uri="{0D108BD9-81ED-4DB2-BD59-A6C34878D82A}">
                    <a16:rowId xmlns:a16="http://schemas.microsoft.com/office/drawing/2014/main" val="629142825"/>
                  </a:ext>
                </a:extLst>
              </a:tr>
              <a:tr h="874878">
                <a:tc>
                  <a:txBody>
                    <a:bodyPr/>
                    <a:lstStyle/>
                    <a:p>
                      <a:pPr>
                        <a:buNone/>
                      </a:pPr>
                      <a:r>
                        <a:rPr lang="en-US" sz="2200" b="1">
                          <a:latin typeface="Comic Sans MS" panose="030F0702030302020204" pitchFamily="66" charset="0"/>
                        </a:rPr>
                        <a:t>Impact:</a:t>
                      </a:r>
                      <a:r>
                        <a:rPr lang="en-US" sz="2200">
                          <a:latin typeface="Comic Sans MS" panose="030F0702030302020204" pitchFamily="66" charset="0"/>
                        </a:rPr>
                        <a:t> High waiting times and decreased user retention.</a:t>
                      </a:r>
                    </a:p>
                  </a:txBody>
                  <a:tcPr anchor="ctr"/>
                </a:tc>
                <a:tc>
                  <a:txBody>
                    <a:bodyPr/>
                    <a:lstStyle/>
                    <a:p>
                      <a:pPr>
                        <a:buNone/>
                      </a:pPr>
                      <a:r>
                        <a:rPr lang="en-US" sz="2200" b="1">
                          <a:latin typeface="Comic Sans MS" panose="030F0702030302020204" pitchFamily="66" charset="0"/>
                        </a:rPr>
                        <a:t>Impact:</a:t>
                      </a:r>
                      <a:r>
                        <a:rPr lang="en-US" sz="2200">
                          <a:latin typeface="Comic Sans MS" panose="030F0702030302020204" pitchFamily="66" charset="0"/>
                        </a:rPr>
                        <a:t> Operational inefficiency and potential equipment damage.</a:t>
                      </a:r>
                    </a:p>
                  </a:txBody>
                  <a:tcPr anchor="ctr"/>
                </a:tc>
                <a:extLst>
                  <a:ext uri="{0D108BD9-81ED-4DB2-BD59-A6C34878D82A}">
                    <a16:rowId xmlns:a16="http://schemas.microsoft.com/office/drawing/2014/main" val="1579765593"/>
                  </a:ext>
                </a:extLst>
              </a:tr>
            </a:tbl>
          </a:graphicData>
        </a:graphic>
      </p:graphicFrame>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10" name="TextBox 10"/>
          <p:cNvSpPr txBox="1"/>
          <p:nvPr/>
        </p:nvSpPr>
        <p:spPr>
          <a:xfrm>
            <a:off x="2015917" y="206427"/>
            <a:ext cx="13697621" cy="1015663"/>
          </a:xfrm>
          <a:prstGeom prst="rect">
            <a:avLst/>
          </a:prstGeom>
        </p:spPr>
        <p:txBody>
          <a:bodyPr wrap="square" lIns="0" tIns="0" rIns="0" bIns="0" rtlCol="0" anchor="t">
            <a:spAutoFit/>
          </a:bodyPr>
          <a:lstStyle/>
          <a:p>
            <a:r>
              <a:rPr lang="en-US" sz="6600" b="1">
                <a:latin typeface="Gabriola" panose="04040605051002020D02" pitchFamily="82" charset="0"/>
              </a:rPr>
              <a:t>The Foundation: Dataset &amp; Structural Challenges</a:t>
            </a:r>
          </a:p>
        </p:txBody>
      </p:sp>
      <p:sp>
        <p:nvSpPr>
          <p:cNvPr id="12" name="TextBox 12"/>
          <p:cNvSpPr txBox="1"/>
          <p:nvPr/>
        </p:nvSpPr>
        <p:spPr>
          <a:xfrm>
            <a:off x="1890354" y="1874149"/>
            <a:ext cx="14188874" cy="1308050"/>
          </a:xfrm>
          <a:prstGeom prst="rect">
            <a:avLst/>
          </a:prstGeom>
        </p:spPr>
        <p:txBody>
          <a:bodyPr wrap="square" lIns="0" tIns="0" rIns="0" bIns="0" rtlCol="0" anchor="t">
            <a:spAutoFit/>
          </a:bodyPr>
          <a:lstStyle/>
          <a:p>
            <a:pPr marL="342900" indent="-342900" algn="just">
              <a:spcBef>
                <a:spcPts val="600"/>
              </a:spcBef>
              <a:buFont typeface="Wingdings" panose="05000000000000000000" pitchFamily="2" charset="2"/>
              <a:buChar char="Ø"/>
            </a:pPr>
            <a:r>
              <a:rPr lang="en-US" sz="2000">
                <a:latin typeface="Comic Sans MS" panose="030F0702030302020204" pitchFamily="66" charset="0"/>
              </a:rPr>
              <a:t>To build a reliable forecast, we audited </a:t>
            </a:r>
            <a:r>
              <a:rPr lang="en-US" sz="2000" b="1">
                <a:latin typeface="Comic Sans MS" panose="030F0702030302020204" pitchFamily="66" charset="0"/>
              </a:rPr>
              <a:t>17,544 hourly observations</a:t>
            </a:r>
            <a:r>
              <a:rPr lang="en-US" sz="2000">
                <a:latin typeface="Comic Sans MS" panose="030F0702030302020204" pitchFamily="66" charset="0"/>
              </a:rPr>
              <a:t> spanning two years (2011–2012) from the </a:t>
            </a:r>
            <a:r>
              <a:rPr lang="en-US" sz="2000" b="1">
                <a:latin typeface="Comic Sans MS" panose="030F0702030302020204" pitchFamily="66" charset="0"/>
              </a:rPr>
              <a:t>Capital Bikeshare system in Washington, D.C.</a:t>
            </a:r>
          </a:p>
          <a:p>
            <a:pPr marL="342900" indent="-342900" algn="just">
              <a:spcBef>
                <a:spcPts val="600"/>
              </a:spcBef>
              <a:buFont typeface="Wingdings" panose="05000000000000000000" pitchFamily="2" charset="2"/>
              <a:buChar char="Ø"/>
            </a:pPr>
            <a:r>
              <a:rPr lang="en-US" sz="2000">
                <a:latin typeface="Comic Sans MS" panose="030F0702030302020204" pitchFamily="66" charset="0"/>
              </a:rPr>
              <a:t>The data is rich with temporal and environmental features, but it arrived with significant structural “shocks” that required advanced data engineering.</a:t>
            </a:r>
          </a:p>
        </p:txBody>
      </p:sp>
      <p:sp>
        <p:nvSpPr>
          <p:cNvPr id="14" name="Freeform 14"/>
          <p:cNvSpPr/>
          <p:nvPr/>
        </p:nvSpPr>
        <p:spPr>
          <a:xfrm>
            <a:off x="269420" y="251843"/>
            <a:ext cx="1403763" cy="1138324"/>
          </a:xfrm>
          <a:custGeom>
            <a:avLst/>
            <a:gdLst/>
            <a:ahLst/>
            <a:cxnLst/>
            <a:rect l="l" t="t" r="r" b="b"/>
            <a:pathLst>
              <a:path w="1403763" h="1138324">
                <a:moveTo>
                  <a:pt x="0" y="0"/>
                </a:moveTo>
                <a:lnTo>
                  <a:pt x="1403763" y="0"/>
                </a:lnTo>
                <a:lnTo>
                  <a:pt x="1403763" y="1138324"/>
                </a:lnTo>
                <a:lnTo>
                  <a:pt x="0" y="113832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5" name="Group 15"/>
          <p:cNvGrpSpPr/>
          <p:nvPr/>
        </p:nvGrpSpPr>
        <p:grpSpPr>
          <a:xfrm>
            <a:off x="15312219" y="7891540"/>
            <a:ext cx="1573348" cy="1936429"/>
            <a:chOff x="0" y="0"/>
            <a:chExt cx="660400" cy="812800"/>
          </a:xfrm>
        </p:grpSpPr>
        <p:sp>
          <p:nvSpPr>
            <p:cNvPr id="16" name="Freeform 16"/>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7" name="TextBox 17"/>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8" name="Group 18"/>
          <p:cNvGrpSpPr/>
          <p:nvPr/>
        </p:nvGrpSpPr>
        <p:grpSpPr>
          <a:xfrm rot="-5400000">
            <a:off x="16533112" y="-181541"/>
            <a:ext cx="1573348" cy="1936429"/>
            <a:chOff x="0" y="0"/>
            <a:chExt cx="660400" cy="812800"/>
          </a:xfrm>
        </p:grpSpPr>
        <p:sp>
          <p:nvSpPr>
            <p:cNvPr id="19" name="Freeform 19"/>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F7A63"/>
            </a:solidFill>
          </p:spPr>
          <p:txBody>
            <a:bodyPr/>
            <a:lstStyle/>
            <a:p>
              <a:endParaRPr lang="en-US"/>
            </a:p>
          </p:txBody>
        </p:sp>
        <p:sp>
          <p:nvSpPr>
            <p:cNvPr id="20" name="TextBox 20"/>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21" name="Group 21"/>
          <p:cNvGrpSpPr/>
          <p:nvPr/>
        </p:nvGrpSpPr>
        <p:grpSpPr>
          <a:xfrm rot="-10800000">
            <a:off x="16098893" y="7119860"/>
            <a:ext cx="1573348" cy="1936429"/>
            <a:chOff x="0" y="0"/>
            <a:chExt cx="660400" cy="812800"/>
          </a:xfrm>
        </p:grpSpPr>
        <p:sp>
          <p:nvSpPr>
            <p:cNvPr id="22" name="Freeform 22"/>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23" name="TextBox 23"/>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aphicFrame>
        <p:nvGraphicFramePr>
          <p:cNvPr id="24" name="Table 23">
            <a:extLst>
              <a:ext uri="{FF2B5EF4-FFF2-40B4-BE49-F238E27FC236}">
                <a16:creationId xmlns:a16="http://schemas.microsoft.com/office/drawing/2014/main" id="{B2F1A372-1BED-5E8B-A442-1E4679DBFCE5}"/>
              </a:ext>
            </a:extLst>
          </p:cNvPr>
          <p:cNvGraphicFramePr>
            <a:graphicFrameLocks noGrp="1"/>
          </p:cNvGraphicFramePr>
          <p:nvPr>
            <p:extLst>
              <p:ext uri="{D42A27DB-BD31-4B8C-83A1-F6EECF244321}">
                <p14:modId xmlns:p14="http://schemas.microsoft.com/office/powerpoint/2010/main" val="2986703509"/>
              </p:ext>
            </p:extLst>
          </p:nvPr>
        </p:nvGraphicFramePr>
        <p:xfrm>
          <a:off x="1890354" y="3625308"/>
          <a:ext cx="14188874" cy="2781120"/>
        </p:xfrm>
        <a:graphic>
          <a:graphicData uri="http://schemas.openxmlformats.org/drawingml/2006/table">
            <a:tbl>
              <a:tblPr>
                <a:tableStyleId>{BC89EF96-8CEA-46FF-86C4-4CE0E7609802}</a:tableStyleId>
              </a:tblPr>
              <a:tblGrid>
                <a:gridCol w="7094437">
                  <a:extLst>
                    <a:ext uri="{9D8B030D-6E8A-4147-A177-3AD203B41FA5}">
                      <a16:colId xmlns:a16="http://schemas.microsoft.com/office/drawing/2014/main" val="3103581359"/>
                    </a:ext>
                  </a:extLst>
                </a:gridCol>
                <a:gridCol w="7094437">
                  <a:extLst>
                    <a:ext uri="{9D8B030D-6E8A-4147-A177-3AD203B41FA5}">
                      <a16:colId xmlns:a16="http://schemas.microsoft.com/office/drawing/2014/main" val="933874950"/>
                    </a:ext>
                  </a:extLst>
                </a:gridCol>
              </a:tblGrid>
              <a:tr h="467289">
                <a:tc>
                  <a:txBody>
                    <a:bodyPr/>
                    <a:lstStyle/>
                    <a:p>
                      <a:pPr algn="ctr" rtl="0">
                        <a:buNone/>
                      </a:pPr>
                      <a:r>
                        <a:rPr lang="en-US" sz="2400" b="1">
                          <a:solidFill>
                            <a:srgbClr val="1F1F1F"/>
                          </a:solidFill>
                          <a:effectLst/>
                          <a:latin typeface="Comic Sans MS" panose="030F0702030302020204" pitchFamily="66" charset="0"/>
                        </a:rPr>
                        <a:t>High-Frequency Data</a:t>
                      </a:r>
                      <a:endParaRPr lang="en-US" sz="2000">
                        <a:solidFill>
                          <a:srgbClr val="1F1F1F"/>
                        </a:solidFill>
                        <a:effectLst/>
                        <a:latin typeface="Comic Sans MS" panose="030F0702030302020204" pitchFamily="66" charset="0"/>
                      </a:endParaRPr>
                    </a:p>
                  </a:txBody>
                  <a:tcPr marT="121920" marB="121920" anchor="ctr"/>
                </a:tc>
                <a:tc>
                  <a:txBody>
                    <a:bodyPr/>
                    <a:lstStyle/>
                    <a:p>
                      <a:pPr algn="ctr" rtl="0">
                        <a:buNone/>
                      </a:pPr>
                      <a:r>
                        <a:rPr lang="en-US" sz="2400" b="1">
                          <a:solidFill>
                            <a:srgbClr val="1F1F1F"/>
                          </a:solidFill>
                          <a:effectLst/>
                          <a:latin typeface="Comic Sans MS" panose="030F0702030302020204" pitchFamily="66" charset="0"/>
                        </a:rPr>
                        <a:t>Exogenous Regressors</a:t>
                      </a:r>
                      <a:endParaRPr lang="en-US" sz="2000">
                        <a:solidFill>
                          <a:srgbClr val="1F1F1F"/>
                        </a:solidFill>
                        <a:effectLst/>
                        <a:latin typeface="Comic Sans MS" panose="030F0702030302020204" pitchFamily="66" charset="0"/>
                      </a:endParaRPr>
                    </a:p>
                  </a:txBody>
                  <a:tcPr marT="121920" marB="121920" anchor="ctr"/>
                </a:tc>
                <a:extLst>
                  <a:ext uri="{0D108BD9-81ED-4DB2-BD59-A6C34878D82A}">
                    <a16:rowId xmlns:a16="http://schemas.microsoft.com/office/drawing/2014/main" val="1016497332"/>
                  </a:ext>
                </a:extLst>
              </a:tr>
              <a:tr h="1209454">
                <a:tc>
                  <a:txBody>
                    <a:bodyPr/>
                    <a:lstStyle/>
                    <a:p>
                      <a:pPr rtl="0">
                        <a:buNone/>
                      </a:pPr>
                      <a:r>
                        <a:rPr lang="en-US" sz="2000" b="1">
                          <a:solidFill>
                            <a:srgbClr val="1F1F1F"/>
                          </a:solidFill>
                          <a:effectLst/>
                          <a:latin typeface="Comic Sans MS" panose="030F0702030302020204" pitchFamily="66" charset="0"/>
                        </a:rPr>
                        <a:t>Hourly &amp; Daily Records:</a:t>
                      </a:r>
                      <a:r>
                        <a:rPr lang="en-US" sz="2000">
                          <a:solidFill>
                            <a:srgbClr val="1F1F1F"/>
                          </a:solidFill>
                          <a:effectLst/>
                          <a:latin typeface="Comic Sans MS" panose="030F0702030302020204" pitchFamily="66" charset="0"/>
                        </a:rPr>
                        <a:t> Captures every rental from system launch to maturity.</a:t>
                      </a:r>
                    </a:p>
                  </a:txBody>
                  <a:tcPr marT="121920" marB="121920" anchor="ctr"/>
                </a:tc>
                <a:tc>
                  <a:txBody>
                    <a:bodyPr/>
                    <a:lstStyle/>
                    <a:p>
                      <a:pPr rtl="0">
                        <a:buNone/>
                      </a:pPr>
                      <a:r>
                        <a:rPr lang="en-US" sz="2000" b="1">
                          <a:solidFill>
                            <a:srgbClr val="1F1F1F"/>
                          </a:solidFill>
                          <a:effectLst/>
                          <a:latin typeface="Comic Sans MS" panose="030F0702030302020204" pitchFamily="66" charset="0"/>
                        </a:rPr>
                        <a:t>Environmental Variables:</a:t>
                      </a:r>
                      <a:r>
                        <a:rPr lang="en-US" sz="2000">
                          <a:solidFill>
                            <a:srgbClr val="1F1F1F"/>
                          </a:solidFill>
                          <a:effectLst/>
                          <a:latin typeface="Comic Sans MS" panose="030F0702030302020204" pitchFamily="66" charset="0"/>
                        </a:rPr>
                        <a:t> Tracks temperature, humidity, wind speed, and weather situations (Clear, Misty, Rain/Snow).</a:t>
                      </a:r>
                    </a:p>
                  </a:txBody>
                  <a:tcPr marT="121920" marB="121920" anchor="ctr"/>
                </a:tc>
                <a:extLst>
                  <a:ext uri="{0D108BD9-81ED-4DB2-BD59-A6C34878D82A}">
                    <a16:rowId xmlns:a16="http://schemas.microsoft.com/office/drawing/2014/main" val="3454999643"/>
                  </a:ext>
                </a:extLst>
              </a:tr>
              <a:tr h="962066">
                <a:tc>
                  <a:txBody>
                    <a:bodyPr/>
                    <a:lstStyle/>
                    <a:p>
                      <a:pPr rtl="0">
                        <a:buNone/>
                      </a:pPr>
                      <a:r>
                        <a:rPr lang="en-US" sz="2000" b="1">
                          <a:solidFill>
                            <a:srgbClr val="1F1F1F"/>
                          </a:solidFill>
                          <a:effectLst/>
                          <a:latin typeface="Comic Sans MS" panose="030F0702030302020204" pitchFamily="66" charset="0"/>
                        </a:rPr>
                        <a:t>Temporal Features:</a:t>
                      </a:r>
                      <a:r>
                        <a:rPr lang="en-US" sz="2000">
                          <a:solidFill>
                            <a:srgbClr val="1F1F1F"/>
                          </a:solidFill>
                          <a:effectLst/>
                          <a:latin typeface="Comic Sans MS" panose="030F0702030302020204" pitchFamily="66" charset="0"/>
                        </a:rPr>
                        <a:t> Holidays, working days, seasons, and day-of-week identifiers.</a:t>
                      </a:r>
                    </a:p>
                  </a:txBody>
                  <a:tcPr marT="121920" marB="121920" anchor="ctr"/>
                </a:tc>
                <a:tc>
                  <a:txBody>
                    <a:bodyPr/>
                    <a:lstStyle/>
                    <a:p>
                      <a:pPr rtl="0">
                        <a:buNone/>
                      </a:pPr>
                      <a:r>
                        <a:rPr lang="en-US" sz="2000" b="1">
                          <a:solidFill>
                            <a:srgbClr val="1F1F1F"/>
                          </a:solidFill>
                          <a:effectLst/>
                          <a:latin typeface="Comic Sans MS" panose="030F0702030302020204" pitchFamily="66" charset="0"/>
                        </a:rPr>
                        <a:t>Target Variable:</a:t>
                      </a:r>
                      <a:r>
                        <a:rPr lang="en-US" sz="2000">
                          <a:solidFill>
                            <a:srgbClr val="1F1F1F"/>
                          </a:solidFill>
                          <a:effectLst/>
                          <a:latin typeface="Comic Sans MS" panose="030F0702030302020204" pitchFamily="66" charset="0"/>
                        </a:rPr>
                        <a:t> Total rental count (</a:t>
                      </a:r>
                      <a:r>
                        <a:rPr lang="en-US" sz="2000" err="1">
                          <a:solidFill>
                            <a:srgbClr val="444746"/>
                          </a:solidFill>
                          <a:effectLst/>
                          <a:latin typeface="Comic Sans MS" panose="030F0702030302020204" pitchFamily="66" charset="0"/>
                        </a:rPr>
                        <a:t>cnt</a:t>
                      </a:r>
                      <a:r>
                        <a:rPr lang="en-US" sz="2000">
                          <a:solidFill>
                            <a:srgbClr val="1F1F1F"/>
                          </a:solidFill>
                          <a:effectLst/>
                          <a:latin typeface="Comic Sans MS" panose="030F0702030302020204" pitchFamily="66" charset="0"/>
                        </a:rPr>
                        <a:t>), decomposed into Casual and Registered segments.</a:t>
                      </a:r>
                    </a:p>
                  </a:txBody>
                  <a:tcPr marT="121920" marB="121920" anchor="ctr"/>
                </a:tc>
                <a:extLst>
                  <a:ext uri="{0D108BD9-81ED-4DB2-BD59-A6C34878D82A}">
                    <a16:rowId xmlns:a16="http://schemas.microsoft.com/office/drawing/2014/main" val="2510684355"/>
                  </a:ext>
                </a:extLst>
              </a:tr>
            </a:tbl>
          </a:graphicData>
        </a:graphic>
      </p:graphicFrame>
      <p:sp>
        <p:nvSpPr>
          <p:cNvPr id="2" name="Rectangle 1">
            <a:extLst>
              <a:ext uri="{FF2B5EF4-FFF2-40B4-BE49-F238E27FC236}">
                <a16:creationId xmlns:a16="http://schemas.microsoft.com/office/drawing/2014/main" id="{C06CFB2F-7CC0-02F6-170E-B9CE7EA87A19}"/>
              </a:ext>
            </a:extLst>
          </p:cNvPr>
          <p:cNvSpPr>
            <a:spLocks noChangeArrowheads="1"/>
          </p:cNvSpPr>
          <p:nvPr/>
        </p:nvSpPr>
        <p:spPr bwMode="auto">
          <a:xfrm>
            <a:off x="1890354" y="6849537"/>
            <a:ext cx="10835045" cy="2462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200" b="1">
                <a:latin typeface="Comic Sans MS" panose="030F0702030302020204" pitchFamily="66" charset="0"/>
              </a:rPr>
              <a:t>The Three Major Data Challenges:</a:t>
            </a:r>
          </a:p>
          <a:p>
            <a:endParaRPr kumimoji="0" lang="en-US" altLang="en-US" sz="2200" b="1" i="0" u="none" strike="noStrike" cap="none" normalizeH="0" baseline="0">
              <a:ln>
                <a:noFill/>
              </a:ln>
              <a:solidFill>
                <a:schemeClr val="tx1"/>
              </a:solidFill>
              <a:effectLst/>
              <a:latin typeface="Comic Sans MS" panose="030F0702030302020204" pitchFamily="66"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a:ln>
                  <a:noFill/>
                </a:ln>
                <a:solidFill>
                  <a:schemeClr val="tx1"/>
                </a:solidFill>
                <a:effectLst/>
                <a:latin typeface="Comic Sans MS" panose="030F0702030302020204" pitchFamily="66" charset="0"/>
              </a:rPr>
              <a:t>System Shocks (Hurricane Sandy): </a:t>
            </a:r>
            <a:r>
              <a:rPr kumimoji="0" lang="en-US" altLang="en-US" sz="2200" b="0" i="0" u="none" strike="noStrike" cap="none" normalizeH="0" baseline="0">
                <a:ln>
                  <a:noFill/>
                </a:ln>
                <a:solidFill>
                  <a:schemeClr val="tx1"/>
                </a:solidFill>
                <a:effectLst/>
                <a:latin typeface="Comic Sans MS" panose="030F0702030302020204" pitchFamily="66" charset="0"/>
              </a:rPr>
              <a:t>Filled gaps using interpolation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200" b="0" i="0" u="none" strike="noStrike" cap="none" normalizeH="0" baseline="0">
              <a:ln>
                <a:noFill/>
              </a:ln>
              <a:solidFill>
                <a:schemeClr val="tx1"/>
              </a:solidFill>
              <a:effectLst/>
              <a:latin typeface="Comic Sans MS" panose="030F0702030302020204" pitchFamily="66"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a:ln>
                  <a:noFill/>
                </a:ln>
                <a:solidFill>
                  <a:schemeClr val="tx1"/>
                </a:solidFill>
                <a:effectLst/>
                <a:latin typeface="Comic Sans MS" panose="030F0702030302020204" pitchFamily="66" charset="0"/>
              </a:rPr>
              <a:t>Sensor Anomalies</a:t>
            </a:r>
            <a:r>
              <a:rPr lang="en-US" altLang="en-US" sz="2200">
                <a:latin typeface="Comic Sans MS" panose="030F0702030302020204" pitchFamily="66" charset="0"/>
              </a:rPr>
              <a:t>: </a:t>
            </a:r>
            <a:r>
              <a:rPr kumimoji="0" lang="en-US" altLang="en-US" sz="2200" b="0" i="0" u="none" strike="noStrike" cap="none" normalizeH="0" baseline="0">
                <a:ln>
                  <a:noFill/>
                </a:ln>
                <a:solidFill>
                  <a:schemeClr val="tx1"/>
                </a:solidFill>
                <a:effectLst/>
                <a:latin typeface="Comic Sans MS" panose="030F0702030302020204" pitchFamily="66" charset="0"/>
              </a:rPr>
              <a:t>Corrected unrealistic values (e.g., humidity ~0%) </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200" b="0" i="0" u="none" strike="noStrike" cap="none" normalizeH="0" baseline="0">
              <a:ln>
                <a:noFill/>
              </a:ln>
              <a:solidFill>
                <a:schemeClr val="tx1"/>
              </a:solidFill>
              <a:effectLst/>
              <a:latin typeface="Comic Sans MS" panose="030F0702030302020204" pitchFamily="66"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200" b="1" i="0" u="none" strike="noStrike" cap="none" normalizeH="0" baseline="0">
                <a:ln>
                  <a:noFill/>
                </a:ln>
                <a:solidFill>
                  <a:schemeClr val="tx1"/>
                </a:solidFill>
                <a:effectLst/>
                <a:latin typeface="Comic Sans MS" panose="030F0702030302020204" pitchFamily="66" charset="0"/>
              </a:rPr>
              <a:t>Non-Stationarity</a:t>
            </a:r>
            <a:r>
              <a:rPr lang="en-US" altLang="en-US" sz="2200">
                <a:latin typeface="Comic Sans MS" panose="030F0702030302020204" pitchFamily="66" charset="0"/>
              </a:rPr>
              <a:t>: </a:t>
            </a:r>
            <a:r>
              <a:rPr kumimoji="0" lang="en-US" altLang="en-US" sz="2200" b="0" i="0" u="none" strike="noStrike" cap="none" normalizeH="0" baseline="0">
                <a:ln>
                  <a:noFill/>
                </a:ln>
                <a:solidFill>
                  <a:schemeClr val="tx1"/>
                </a:solidFill>
                <a:effectLst/>
                <a:latin typeface="Comic Sans MS" panose="030F0702030302020204" pitchFamily="66" charset="0"/>
              </a:rPr>
              <a:t>Applied differencing (1st &amp; 2nd order) </a:t>
            </a: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2" name="Freeform 2"/>
          <p:cNvSpPr/>
          <p:nvPr/>
        </p:nvSpPr>
        <p:spPr>
          <a:xfrm rot="1174804" flipH="1">
            <a:off x="-1831783" y="-27119"/>
            <a:ext cx="4532491" cy="2581352"/>
          </a:xfrm>
          <a:custGeom>
            <a:avLst/>
            <a:gdLst/>
            <a:ahLst/>
            <a:cxnLst/>
            <a:rect l="l" t="t" r="r" b="b"/>
            <a:pathLst>
              <a:path w="4532491" h="2581352">
                <a:moveTo>
                  <a:pt x="4532491" y="0"/>
                </a:moveTo>
                <a:lnTo>
                  <a:pt x="0" y="0"/>
                </a:lnTo>
                <a:lnTo>
                  <a:pt x="0" y="2581352"/>
                </a:lnTo>
                <a:lnTo>
                  <a:pt x="4532491" y="2581352"/>
                </a:lnTo>
                <a:lnTo>
                  <a:pt x="453249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TextBox 11"/>
          <p:cNvSpPr txBox="1"/>
          <p:nvPr/>
        </p:nvSpPr>
        <p:spPr>
          <a:xfrm>
            <a:off x="3017437" y="1143195"/>
            <a:ext cx="13183846" cy="1015663"/>
          </a:xfrm>
          <a:prstGeom prst="rect">
            <a:avLst/>
          </a:prstGeom>
        </p:spPr>
        <p:txBody>
          <a:bodyPr wrap="square" lIns="0" tIns="0" rIns="0" bIns="0" rtlCol="0" anchor="t">
            <a:spAutoFit/>
          </a:bodyPr>
          <a:lstStyle/>
          <a:p>
            <a:r>
              <a:rPr lang="en-US" sz="6600" b="1">
                <a:latin typeface="Gabriola" panose="04040605051002020D02" pitchFamily="82" charset="0"/>
              </a:rPr>
              <a:t>From Raw to Refined: The 4-Step Cleaning Pipeline</a:t>
            </a:r>
          </a:p>
        </p:txBody>
      </p:sp>
      <p:sp>
        <p:nvSpPr>
          <p:cNvPr id="12" name="Freeform 12"/>
          <p:cNvSpPr/>
          <p:nvPr/>
        </p:nvSpPr>
        <p:spPr>
          <a:xfrm>
            <a:off x="16764000" y="125233"/>
            <a:ext cx="1403763" cy="1138324"/>
          </a:xfrm>
          <a:custGeom>
            <a:avLst/>
            <a:gdLst/>
            <a:ahLst/>
            <a:cxnLst/>
            <a:rect l="l" t="t" r="r" b="b"/>
            <a:pathLst>
              <a:path w="1403763" h="1138324">
                <a:moveTo>
                  <a:pt x="0" y="0"/>
                </a:moveTo>
                <a:lnTo>
                  <a:pt x="1403763" y="0"/>
                </a:lnTo>
                <a:lnTo>
                  <a:pt x="1403763" y="1138324"/>
                </a:lnTo>
                <a:lnTo>
                  <a:pt x="0" y="113832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Freeform 13"/>
          <p:cNvSpPr/>
          <p:nvPr/>
        </p:nvSpPr>
        <p:spPr>
          <a:xfrm>
            <a:off x="15136279" y="7697960"/>
            <a:ext cx="4246041" cy="4114800"/>
          </a:xfrm>
          <a:custGeom>
            <a:avLst/>
            <a:gdLst/>
            <a:ahLst/>
            <a:cxnLst/>
            <a:rect l="l" t="t" r="r" b="b"/>
            <a:pathLst>
              <a:path w="4246041" h="4114800">
                <a:moveTo>
                  <a:pt x="0" y="0"/>
                </a:moveTo>
                <a:lnTo>
                  <a:pt x="4246042" y="0"/>
                </a:lnTo>
                <a:lnTo>
                  <a:pt x="424604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grpSp>
        <p:nvGrpSpPr>
          <p:cNvPr id="14" name="Group 14"/>
          <p:cNvGrpSpPr/>
          <p:nvPr/>
        </p:nvGrpSpPr>
        <p:grpSpPr>
          <a:xfrm rot="-10800000">
            <a:off x="-762000" y="6403676"/>
            <a:ext cx="9537300" cy="4004458"/>
            <a:chOff x="0" y="-868038"/>
            <a:chExt cx="4003204" cy="1680838"/>
          </a:xfrm>
        </p:grpSpPr>
        <p:sp>
          <p:nvSpPr>
            <p:cNvPr id="15" name="Freeform 15"/>
            <p:cNvSpPr/>
            <p:nvPr/>
          </p:nvSpPr>
          <p:spPr>
            <a:xfrm>
              <a:off x="3342804" y="-868038"/>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6" name="TextBox 16"/>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aphicFrame>
        <p:nvGraphicFramePr>
          <p:cNvPr id="22" name="Diagram 21">
            <a:extLst>
              <a:ext uri="{FF2B5EF4-FFF2-40B4-BE49-F238E27FC236}">
                <a16:creationId xmlns:a16="http://schemas.microsoft.com/office/drawing/2014/main" id="{939AE685-8C6A-3A75-002D-36309F250161}"/>
              </a:ext>
            </a:extLst>
          </p:cNvPr>
          <p:cNvGraphicFramePr/>
          <p:nvPr>
            <p:extLst>
              <p:ext uri="{D42A27DB-BD31-4B8C-83A1-F6EECF244321}">
                <p14:modId xmlns:p14="http://schemas.microsoft.com/office/powerpoint/2010/main" val="3030930699"/>
              </p:ext>
            </p:extLst>
          </p:nvPr>
        </p:nvGraphicFramePr>
        <p:xfrm>
          <a:off x="1015273" y="5143500"/>
          <a:ext cx="16687800" cy="3360206"/>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3" name="TextBox 2">
            <a:extLst>
              <a:ext uri="{FF2B5EF4-FFF2-40B4-BE49-F238E27FC236}">
                <a16:creationId xmlns:a16="http://schemas.microsoft.com/office/drawing/2014/main" id="{D5566501-331C-ECEC-618C-B3692378C519}"/>
              </a:ext>
            </a:extLst>
          </p:cNvPr>
          <p:cNvSpPr txBox="1"/>
          <p:nvPr/>
        </p:nvSpPr>
        <p:spPr>
          <a:xfrm>
            <a:off x="1016363" y="3349850"/>
            <a:ext cx="16255273" cy="954107"/>
          </a:xfrm>
          <a:prstGeom prst="rect">
            <a:avLst/>
          </a:prstGeom>
          <a:noFill/>
        </p:spPr>
        <p:txBody>
          <a:bodyPr wrap="square" rtlCol="0">
            <a:spAutoFit/>
          </a:bodyPr>
          <a:lstStyle/>
          <a:p>
            <a:pPr algn="just"/>
            <a:r>
              <a:rPr lang="en-US" sz="2800">
                <a:latin typeface="Comic Sans MS" panose="030F0702030302020204" pitchFamily="66" charset="0"/>
              </a:rPr>
              <a:t>Before modeling, the dataset underwent a rigorous multi-stage audit to ensure that environmental shocks and sensor errors did not compromise the integrity of our forecasts.</a:t>
            </a: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4902FAB3-1D86-734D-1D3B-72EB488BCFF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19FE230-EB44-D418-D837-B067D558EDF1}"/>
              </a:ext>
            </a:extLst>
          </p:cNvPr>
          <p:cNvSpPr/>
          <p:nvPr/>
        </p:nvSpPr>
        <p:spPr>
          <a:xfrm rot="1174804" flipH="1">
            <a:off x="14481161" y="8051744"/>
            <a:ext cx="5294039" cy="3015070"/>
          </a:xfrm>
          <a:custGeom>
            <a:avLst/>
            <a:gdLst/>
            <a:ahLst/>
            <a:cxnLst/>
            <a:rect l="l" t="t" r="r" b="b"/>
            <a:pathLst>
              <a:path w="5294039" h="3015070">
                <a:moveTo>
                  <a:pt x="5294039" y="0"/>
                </a:moveTo>
                <a:lnTo>
                  <a:pt x="0" y="0"/>
                </a:lnTo>
                <a:lnTo>
                  <a:pt x="0" y="3015070"/>
                </a:lnTo>
                <a:lnTo>
                  <a:pt x="5294039" y="3015070"/>
                </a:lnTo>
                <a:lnTo>
                  <a:pt x="529403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a:extLst>
              <a:ext uri="{FF2B5EF4-FFF2-40B4-BE49-F238E27FC236}">
                <a16:creationId xmlns:a16="http://schemas.microsoft.com/office/drawing/2014/main" id="{B31B9553-FB47-CB14-0464-09F970DBE844}"/>
              </a:ext>
            </a:extLst>
          </p:cNvPr>
          <p:cNvSpPr txBox="1"/>
          <p:nvPr/>
        </p:nvSpPr>
        <p:spPr>
          <a:xfrm>
            <a:off x="5142579" y="268833"/>
            <a:ext cx="8610600" cy="872034"/>
          </a:xfrm>
          <a:prstGeom prst="rect">
            <a:avLst/>
          </a:prstGeom>
        </p:spPr>
        <p:txBody>
          <a:bodyPr wrap="square" lIns="0" tIns="0" rIns="0" bIns="0" rtlCol="0" anchor="t">
            <a:spAutoFit/>
          </a:bodyPr>
          <a:lstStyle/>
          <a:p>
            <a:pPr algn="l">
              <a:lnSpc>
                <a:spcPts val="6800"/>
              </a:lnSpc>
            </a:pPr>
            <a:r>
              <a:rPr lang="en-US" sz="6800" b="1" spc="-374">
                <a:solidFill>
                  <a:srgbClr val="231F20"/>
                </a:solidFill>
                <a:latin typeface="Gabriola" panose="04040605051002020D02" pitchFamily="82" charset="0"/>
                <a:ea typeface="Heading Now 71-78"/>
                <a:cs typeface="Heading Now 71-78"/>
                <a:sym typeface="Heading Now 71-78"/>
              </a:rPr>
              <a:t>EDA: Heatmap: Hour x Day of  Week</a:t>
            </a:r>
          </a:p>
        </p:txBody>
      </p:sp>
      <p:sp>
        <p:nvSpPr>
          <p:cNvPr id="8" name="TextBox 8">
            <a:extLst>
              <a:ext uri="{FF2B5EF4-FFF2-40B4-BE49-F238E27FC236}">
                <a16:creationId xmlns:a16="http://schemas.microsoft.com/office/drawing/2014/main" id="{5F229070-7029-8156-5C2C-1DA74E7F5F36}"/>
              </a:ext>
            </a:extLst>
          </p:cNvPr>
          <p:cNvSpPr txBox="1"/>
          <p:nvPr/>
        </p:nvSpPr>
        <p:spPr>
          <a:xfrm>
            <a:off x="10896600" y="2345221"/>
            <a:ext cx="6473606" cy="5909310"/>
          </a:xfrm>
          <a:prstGeom prst="rect">
            <a:avLst/>
          </a:prstGeom>
        </p:spPr>
        <p:txBody>
          <a:bodyPr wrap="square" lIns="0" tIns="0" rIns="0" bIns="0" rtlCol="0" anchor="t">
            <a:spAutoFit/>
          </a:bodyPr>
          <a:lstStyle/>
          <a:p>
            <a:pPr algn="just"/>
            <a:r>
              <a:rPr lang="en-US" sz="2400"/>
              <a:t>🚦 </a:t>
            </a:r>
            <a:r>
              <a:rPr lang="en-US" sz="2400" b="1">
                <a:latin typeface="Comic Sans MS" panose="030F0702030302020204" pitchFamily="66" charset="0"/>
              </a:rPr>
              <a:t>Peak Commute Corridors:</a:t>
            </a:r>
          </a:p>
          <a:p>
            <a:pPr algn="just"/>
            <a:r>
              <a:rPr lang="en-US" sz="2400" b="1">
                <a:latin typeface="Comic Sans MS" panose="030F0702030302020204" pitchFamily="66" charset="0"/>
              </a:rPr>
              <a:t>8 AM and 5–6 PM</a:t>
            </a:r>
            <a:r>
              <a:rPr lang="en-US" sz="2400">
                <a:latin typeface="Comic Sans MS" panose="030F0702030302020204" pitchFamily="66" charset="0"/>
              </a:rPr>
              <a:t> on weekdays exceed </a:t>
            </a:r>
            <a:r>
              <a:rPr lang="en-US" sz="2400" b="1">
                <a:latin typeface="Comic Sans MS" panose="030F0702030302020204" pitchFamily="66" charset="0"/>
              </a:rPr>
              <a:t>500 rentals</a:t>
            </a:r>
            <a:r>
              <a:rPr lang="en-US" sz="2400">
                <a:latin typeface="Comic Sans MS" panose="030F0702030302020204" pitchFamily="66" charset="0"/>
              </a:rPr>
              <a:t>.</a:t>
            </a:r>
          </a:p>
          <a:p>
            <a:pPr algn="just"/>
            <a:endParaRPr lang="en-US" sz="2400">
              <a:latin typeface="Comic Sans MS" panose="030F0702030302020204" pitchFamily="66" charset="0"/>
            </a:endParaRPr>
          </a:p>
          <a:p>
            <a:pPr algn="just"/>
            <a:r>
              <a:rPr lang="en-US" sz="2400"/>
              <a:t>📊 </a:t>
            </a:r>
            <a:r>
              <a:rPr lang="en-US" sz="2400" b="1">
                <a:latin typeface="Comic Sans MS" panose="030F0702030302020204" pitchFamily="66" charset="0"/>
              </a:rPr>
              <a:t>Weekday Intensity:</a:t>
            </a:r>
            <a:r>
              <a:rPr lang="en-US" sz="2400">
                <a:latin typeface="Comic Sans MS" panose="030F0702030302020204" pitchFamily="66" charset="0"/>
              </a:rPr>
              <a:t> </a:t>
            </a:r>
          </a:p>
          <a:p>
            <a:pPr algn="just"/>
            <a:r>
              <a:rPr lang="en-US" sz="2400">
                <a:latin typeface="Comic Sans MS" panose="030F0702030302020204" pitchFamily="66" charset="0"/>
              </a:rPr>
              <a:t>Wednesday and Thursday evenings are peak demand moments.</a:t>
            </a:r>
          </a:p>
          <a:p>
            <a:pPr marL="342900" indent="-342900" algn="just">
              <a:buFont typeface="Wingdings" panose="05000000000000000000" pitchFamily="2" charset="2"/>
              <a:buChar char="Ø"/>
            </a:pPr>
            <a:endParaRPr lang="en-US" sz="2400">
              <a:latin typeface="Comic Sans MS" panose="030F0702030302020204" pitchFamily="66" charset="0"/>
            </a:endParaRPr>
          </a:p>
          <a:p>
            <a:pPr algn="just"/>
            <a:r>
              <a:rPr lang="en-US" sz="2400"/>
              <a:t>🚴 </a:t>
            </a:r>
            <a:r>
              <a:rPr lang="en-US" sz="2400" b="1">
                <a:latin typeface="Comic Sans MS" panose="030F0702030302020204" pitchFamily="66" charset="0"/>
              </a:rPr>
              <a:t>Leisure Distribution:</a:t>
            </a:r>
            <a:r>
              <a:rPr lang="en-US" sz="2400">
                <a:latin typeface="Comic Sans MS" panose="030F0702030302020204" pitchFamily="66" charset="0"/>
              </a:rPr>
              <a:t> </a:t>
            </a:r>
          </a:p>
          <a:p>
            <a:pPr algn="just"/>
            <a:endParaRPr lang="en-US" sz="2400">
              <a:latin typeface="Comic Sans MS" panose="030F0702030302020204" pitchFamily="66" charset="0"/>
            </a:endParaRPr>
          </a:p>
          <a:p>
            <a:pPr algn="just"/>
            <a:r>
              <a:rPr lang="en-US" sz="2400">
                <a:latin typeface="Comic Sans MS" panose="030F0702030302020204" pitchFamily="66" charset="0"/>
              </a:rPr>
              <a:t>Weekend demand is lower and evenly spread from 10 AM–4 PM.</a:t>
            </a:r>
          </a:p>
          <a:p>
            <a:pPr marL="342900" indent="-342900" algn="just">
              <a:buFont typeface="Wingdings" panose="05000000000000000000" pitchFamily="2" charset="2"/>
              <a:buChar char="Ø"/>
            </a:pPr>
            <a:endParaRPr lang="en-US" sz="2400">
              <a:latin typeface="Comic Sans MS" panose="030F0702030302020204" pitchFamily="66" charset="0"/>
            </a:endParaRPr>
          </a:p>
          <a:p>
            <a:pPr algn="just"/>
            <a:r>
              <a:rPr lang="en-US" sz="2400"/>
              <a:t>⏱️ </a:t>
            </a:r>
            <a:r>
              <a:rPr lang="en-US" sz="2400" b="1">
                <a:latin typeface="Comic Sans MS" panose="030F0702030302020204" pitchFamily="66" charset="0"/>
              </a:rPr>
              <a:t>Operational Window:</a:t>
            </a:r>
            <a:r>
              <a:rPr lang="en-US" sz="2400">
                <a:latin typeface="Comic Sans MS" panose="030F0702030302020204" pitchFamily="66" charset="0"/>
              </a:rPr>
              <a:t> Hours </a:t>
            </a:r>
            <a:r>
              <a:rPr lang="en-US" sz="2400" b="1">
                <a:latin typeface="Comic Sans MS" panose="030F0702030302020204" pitchFamily="66" charset="0"/>
              </a:rPr>
              <a:t>0–6 AM</a:t>
            </a:r>
            <a:r>
              <a:rPr lang="en-US" sz="2400">
                <a:latin typeface="Comic Sans MS" panose="030F0702030302020204" pitchFamily="66" charset="0"/>
              </a:rPr>
              <a:t> show near-zero demand ideal for station rebalancing.</a:t>
            </a:r>
          </a:p>
        </p:txBody>
      </p:sp>
      <p:grpSp>
        <p:nvGrpSpPr>
          <p:cNvPr id="11" name="Group 11">
            <a:extLst>
              <a:ext uri="{FF2B5EF4-FFF2-40B4-BE49-F238E27FC236}">
                <a16:creationId xmlns:a16="http://schemas.microsoft.com/office/drawing/2014/main" id="{FD2A9F57-856E-6980-3A69-F706E3DC5D36}"/>
              </a:ext>
            </a:extLst>
          </p:cNvPr>
          <p:cNvGrpSpPr/>
          <p:nvPr/>
        </p:nvGrpSpPr>
        <p:grpSpPr>
          <a:xfrm rot="-10800000">
            <a:off x="15554833" y="28598"/>
            <a:ext cx="3388721" cy="3007793"/>
            <a:chOff x="-761988" y="-449696"/>
            <a:chExt cx="1422388" cy="1262496"/>
          </a:xfrm>
        </p:grpSpPr>
        <p:sp>
          <p:nvSpPr>
            <p:cNvPr id="12" name="Freeform 12">
              <a:extLst>
                <a:ext uri="{FF2B5EF4-FFF2-40B4-BE49-F238E27FC236}">
                  <a16:creationId xmlns:a16="http://schemas.microsoft.com/office/drawing/2014/main" id="{CC0AEF4E-44B3-868B-9CF8-1A63D8583C62}"/>
                </a:ext>
              </a:extLst>
            </p:cNvPr>
            <p:cNvSpPr/>
            <p:nvPr/>
          </p:nvSpPr>
          <p:spPr>
            <a:xfrm>
              <a:off x="-761988" y="-449696"/>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F25A7A23-113D-9637-E193-8652D6627FDE}"/>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AE495E9D-B1F7-5E84-6C06-444F7E37F594}"/>
              </a:ext>
            </a:extLst>
          </p:cNvPr>
          <p:cNvGrpSpPr/>
          <p:nvPr/>
        </p:nvGrpSpPr>
        <p:grpSpPr>
          <a:xfrm>
            <a:off x="16752343" y="-160505"/>
            <a:ext cx="1573348" cy="1936429"/>
            <a:chOff x="0" y="0"/>
            <a:chExt cx="660400" cy="812800"/>
          </a:xfrm>
        </p:grpSpPr>
        <p:sp>
          <p:nvSpPr>
            <p:cNvPr id="15" name="Freeform 15">
              <a:extLst>
                <a:ext uri="{FF2B5EF4-FFF2-40B4-BE49-F238E27FC236}">
                  <a16:creationId xmlns:a16="http://schemas.microsoft.com/office/drawing/2014/main" id="{7603FC26-9225-270D-4C5D-0F669BA48781}"/>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169773AC-033E-E2CF-02AC-8B45D0909D24}"/>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4" name="Picture 3">
            <a:extLst>
              <a:ext uri="{FF2B5EF4-FFF2-40B4-BE49-F238E27FC236}">
                <a16:creationId xmlns:a16="http://schemas.microsoft.com/office/drawing/2014/main" id="{F8A61555-5C8A-5DC5-A09C-B095156FDE08}"/>
              </a:ext>
            </a:extLst>
          </p:cNvPr>
          <p:cNvPicPr>
            <a:picLocks noChangeAspect="1"/>
          </p:cNvPicPr>
          <p:nvPr/>
        </p:nvPicPr>
        <p:blipFill>
          <a:blip r:embed="rId4"/>
          <a:stretch>
            <a:fillRect/>
          </a:stretch>
        </p:blipFill>
        <p:spPr>
          <a:xfrm>
            <a:off x="-7374" y="1891244"/>
            <a:ext cx="10709928" cy="7065318"/>
          </a:xfrm>
          <a:prstGeom prst="rect">
            <a:avLst/>
          </a:prstGeom>
        </p:spPr>
      </p:pic>
      <p:pic>
        <p:nvPicPr>
          <p:cNvPr id="1026" name="Picture 2" descr="Exploratory analysis - Free business and finance icons">
            <a:extLst>
              <a:ext uri="{FF2B5EF4-FFF2-40B4-BE49-F238E27FC236}">
                <a16:creationId xmlns:a16="http://schemas.microsoft.com/office/drawing/2014/main" id="{2443FD12-AAB5-87FE-3FA7-0B5DAFB8CBF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737" y="0"/>
            <a:ext cx="1409700" cy="1409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1990807"/>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8862BF78-F2D5-D2C6-FE8F-4DFDCAE5A39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7C32661-4D08-1AC1-985F-7A8F36B6F585}"/>
              </a:ext>
            </a:extLst>
          </p:cNvPr>
          <p:cNvSpPr/>
          <p:nvPr/>
        </p:nvSpPr>
        <p:spPr>
          <a:xfrm rot="20425196">
            <a:off x="-2207095" y="8366773"/>
            <a:ext cx="5294039" cy="3015070"/>
          </a:xfrm>
          <a:custGeom>
            <a:avLst/>
            <a:gdLst/>
            <a:ahLst/>
            <a:cxnLst/>
            <a:rect l="l" t="t" r="r" b="b"/>
            <a:pathLst>
              <a:path w="5294039" h="3015070">
                <a:moveTo>
                  <a:pt x="5294039" y="0"/>
                </a:moveTo>
                <a:lnTo>
                  <a:pt x="0" y="0"/>
                </a:lnTo>
                <a:lnTo>
                  <a:pt x="0" y="3015070"/>
                </a:lnTo>
                <a:lnTo>
                  <a:pt x="5294039" y="3015070"/>
                </a:lnTo>
                <a:lnTo>
                  <a:pt x="529403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TextBox 7">
            <a:extLst>
              <a:ext uri="{FF2B5EF4-FFF2-40B4-BE49-F238E27FC236}">
                <a16:creationId xmlns:a16="http://schemas.microsoft.com/office/drawing/2014/main" id="{5486EC26-D68F-905E-8E44-CEB48029F6C3}"/>
              </a:ext>
            </a:extLst>
          </p:cNvPr>
          <p:cNvSpPr txBox="1"/>
          <p:nvPr/>
        </p:nvSpPr>
        <p:spPr>
          <a:xfrm>
            <a:off x="2590800" y="266700"/>
            <a:ext cx="11700283" cy="872034"/>
          </a:xfrm>
          <a:prstGeom prst="rect">
            <a:avLst/>
          </a:prstGeom>
        </p:spPr>
        <p:txBody>
          <a:bodyPr wrap="square" lIns="0" tIns="0" rIns="0" bIns="0" rtlCol="0" anchor="t">
            <a:spAutoFit/>
          </a:bodyPr>
          <a:lstStyle/>
          <a:p>
            <a:pPr algn="ctr">
              <a:lnSpc>
                <a:spcPts val="6800"/>
              </a:lnSpc>
            </a:pPr>
            <a:r>
              <a:rPr lang="en-US" sz="6800" b="1" spc="-374">
                <a:solidFill>
                  <a:srgbClr val="231F20"/>
                </a:solidFill>
                <a:latin typeface="Gabriola" panose="04040605051002020D02" pitchFamily="82" charset="0"/>
                <a:ea typeface="Heading Now 71-78"/>
                <a:cs typeface="Heading Now 71-78"/>
                <a:sym typeface="Heading Now 71-78"/>
              </a:rPr>
              <a:t>EDA: Casual vs Registered Users by Day</a:t>
            </a:r>
          </a:p>
        </p:txBody>
      </p:sp>
      <p:grpSp>
        <p:nvGrpSpPr>
          <p:cNvPr id="11" name="Group 11">
            <a:extLst>
              <a:ext uri="{FF2B5EF4-FFF2-40B4-BE49-F238E27FC236}">
                <a16:creationId xmlns:a16="http://schemas.microsoft.com/office/drawing/2014/main" id="{46F90526-9797-236A-CF57-A882A0C2999A}"/>
              </a:ext>
            </a:extLst>
          </p:cNvPr>
          <p:cNvGrpSpPr/>
          <p:nvPr/>
        </p:nvGrpSpPr>
        <p:grpSpPr>
          <a:xfrm rot="-10800000">
            <a:off x="16001999" y="8646837"/>
            <a:ext cx="2263877" cy="2135463"/>
            <a:chOff x="-761988" y="-449696"/>
            <a:chExt cx="1422388" cy="1262496"/>
          </a:xfrm>
        </p:grpSpPr>
        <p:sp>
          <p:nvSpPr>
            <p:cNvPr id="12" name="Freeform 12">
              <a:extLst>
                <a:ext uri="{FF2B5EF4-FFF2-40B4-BE49-F238E27FC236}">
                  <a16:creationId xmlns:a16="http://schemas.microsoft.com/office/drawing/2014/main" id="{645B1994-082E-5D0D-572C-E8779935338D}"/>
                </a:ext>
              </a:extLst>
            </p:cNvPr>
            <p:cNvSpPr/>
            <p:nvPr/>
          </p:nvSpPr>
          <p:spPr>
            <a:xfrm>
              <a:off x="-761988" y="-449696"/>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A8A1CB1E-BC62-8478-940D-293FD74E705A}"/>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A3B2C97D-6485-A53C-E1C3-4726BDD1EC46}"/>
              </a:ext>
            </a:extLst>
          </p:cNvPr>
          <p:cNvGrpSpPr/>
          <p:nvPr/>
        </p:nvGrpSpPr>
        <p:grpSpPr>
          <a:xfrm>
            <a:off x="16570026" y="7566869"/>
            <a:ext cx="1667367" cy="1858862"/>
            <a:chOff x="0" y="79375"/>
            <a:chExt cx="699864" cy="780242"/>
          </a:xfrm>
        </p:grpSpPr>
        <p:sp>
          <p:nvSpPr>
            <p:cNvPr id="15" name="Freeform 15">
              <a:extLst>
                <a:ext uri="{FF2B5EF4-FFF2-40B4-BE49-F238E27FC236}">
                  <a16:creationId xmlns:a16="http://schemas.microsoft.com/office/drawing/2014/main" id="{DDBD8D34-89AC-3BFC-9CB4-370B02C290F4}"/>
                </a:ext>
              </a:extLst>
            </p:cNvPr>
            <p:cNvSpPr/>
            <p:nvPr/>
          </p:nvSpPr>
          <p:spPr>
            <a:xfrm>
              <a:off x="264207" y="377363"/>
              <a:ext cx="435657" cy="482254"/>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FEA800F4-89D6-5ED2-5B4F-7C5AD94EBA40}"/>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3" name="Picture 2" descr="Exploratory analysis - Free business and finance icons">
            <a:extLst>
              <a:ext uri="{FF2B5EF4-FFF2-40B4-BE49-F238E27FC236}">
                <a16:creationId xmlns:a16="http://schemas.microsoft.com/office/drawing/2014/main" id="{ED24D42B-C89C-FE20-5E6B-4961771EB39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737" y="0"/>
            <a:ext cx="140970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DC56CF39-A144-FB25-5B68-E4F30753DAC8}"/>
              </a:ext>
            </a:extLst>
          </p:cNvPr>
          <p:cNvPicPr>
            <a:picLocks noChangeAspect="1"/>
          </p:cNvPicPr>
          <p:nvPr/>
        </p:nvPicPr>
        <p:blipFill>
          <a:blip r:embed="rId4"/>
          <a:srcRect l="1610" t="1876" r="1997" b="2712"/>
          <a:stretch>
            <a:fillRect/>
          </a:stretch>
        </p:blipFill>
        <p:spPr>
          <a:xfrm>
            <a:off x="6048283" y="1372674"/>
            <a:ext cx="12217594" cy="7752093"/>
          </a:xfrm>
          <a:prstGeom prst="rect">
            <a:avLst/>
          </a:prstGeom>
        </p:spPr>
      </p:pic>
      <p:sp>
        <p:nvSpPr>
          <p:cNvPr id="8" name="TextBox 7">
            <a:extLst>
              <a:ext uri="{FF2B5EF4-FFF2-40B4-BE49-F238E27FC236}">
                <a16:creationId xmlns:a16="http://schemas.microsoft.com/office/drawing/2014/main" id="{2B72F907-471B-A641-0D08-A1F209348430}"/>
              </a:ext>
            </a:extLst>
          </p:cNvPr>
          <p:cNvSpPr txBox="1"/>
          <p:nvPr/>
        </p:nvSpPr>
        <p:spPr>
          <a:xfrm>
            <a:off x="144627" y="2247900"/>
            <a:ext cx="5646573" cy="6001643"/>
          </a:xfrm>
          <a:prstGeom prst="rect">
            <a:avLst/>
          </a:prstGeom>
          <a:noFill/>
        </p:spPr>
        <p:txBody>
          <a:bodyPr wrap="square" rtlCol="0">
            <a:spAutoFit/>
          </a:bodyPr>
          <a:lstStyle/>
          <a:p>
            <a:r>
              <a:rPr lang="en-US" sz="2400">
                <a:latin typeface="Comic Sans MS" panose="030F0702030302020204" pitchFamily="66" charset="0"/>
              </a:rPr>
              <a:t>📊 </a:t>
            </a:r>
            <a:r>
              <a:rPr lang="en-US" sz="2400" b="1">
                <a:latin typeface="Comic Sans MS" panose="030F0702030302020204" pitchFamily="66" charset="0"/>
              </a:rPr>
              <a:t>User Behavior Split:</a:t>
            </a:r>
            <a:br>
              <a:rPr lang="en-US" sz="2400">
                <a:latin typeface="Comic Sans MS" panose="030F0702030302020204" pitchFamily="66" charset="0"/>
              </a:rPr>
            </a:br>
            <a:r>
              <a:rPr lang="en-US" sz="2400">
                <a:latin typeface="Comic Sans MS" panose="030F0702030302020204" pitchFamily="66" charset="0"/>
              </a:rPr>
              <a:t>Registered users dominate weekdays (commute-driven demand)</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Weekend Shift:</a:t>
            </a:r>
            <a:br>
              <a:rPr lang="en-US" sz="2400">
                <a:latin typeface="Comic Sans MS" panose="030F0702030302020204" pitchFamily="66" charset="0"/>
              </a:rPr>
            </a:br>
            <a:r>
              <a:rPr lang="en-US" sz="2400">
                <a:latin typeface="Comic Sans MS" panose="030F0702030302020204" pitchFamily="66" charset="0"/>
              </a:rPr>
              <a:t>Casual users spike on weekends (leisure usage)</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Midweek Stability:</a:t>
            </a:r>
            <a:br>
              <a:rPr lang="en-US" sz="2400">
                <a:latin typeface="Comic Sans MS" panose="030F0702030302020204" pitchFamily="66" charset="0"/>
              </a:rPr>
            </a:br>
            <a:r>
              <a:rPr lang="en-US" sz="2400">
                <a:latin typeface="Comic Sans MS" panose="030F0702030302020204" pitchFamily="66" charset="0"/>
              </a:rPr>
              <a:t>Tue–Thu shows consistent registered demand peak</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Demand Pattern:</a:t>
            </a:r>
            <a:br>
              <a:rPr lang="en-US" sz="2400">
                <a:latin typeface="Comic Sans MS" panose="030F0702030302020204" pitchFamily="66" charset="0"/>
              </a:rPr>
            </a:br>
            <a:r>
              <a:rPr lang="en-US" sz="2400">
                <a:latin typeface="Comic Sans MS" panose="030F0702030302020204" pitchFamily="66" charset="0"/>
              </a:rPr>
              <a:t>Clear bimodal structure -&gt; weekday commute vs weekend leisure</a:t>
            </a:r>
          </a:p>
          <a:p>
            <a:endParaRPr lang="en-US" sz="2400">
              <a:latin typeface="Comic Sans MS" panose="030F0702030302020204" pitchFamily="66" charset="0"/>
            </a:endParaRPr>
          </a:p>
        </p:txBody>
      </p:sp>
    </p:spTree>
    <p:extLst>
      <p:ext uri="{BB962C8B-B14F-4D97-AF65-F5344CB8AC3E}">
        <p14:creationId xmlns:p14="http://schemas.microsoft.com/office/powerpoint/2010/main" val="239711742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E6926854-18D6-4950-B441-C3E625EE71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CFA0C61D-740E-923B-06BD-60CB05456AB2}"/>
              </a:ext>
            </a:extLst>
          </p:cNvPr>
          <p:cNvSpPr/>
          <p:nvPr/>
        </p:nvSpPr>
        <p:spPr>
          <a:xfrm rot="1174804" flipH="1">
            <a:off x="14105324" y="7449027"/>
            <a:ext cx="5294039" cy="3015070"/>
          </a:xfrm>
          <a:custGeom>
            <a:avLst/>
            <a:gdLst/>
            <a:ahLst/>
            <a:cxnLst/>
            <a:rect l="l" t="t" r="r" b="b"/>
            <a:pathLst>
              <a:path w="5294039" h="3015070">
                <a:moveTo>
                  <a:pt x="5294039" y="0"/>
                </a:moveTo>
                <a:lnTo>
                  <a:pt x="0" y="0"/>
                </a:lnTo>
                <a:lnTo>
                  <a:pt x="0" y="3015070"/>
                </a:lnTo>
                <a:lnTo>
                  <a:pt x="5294039" y="3015070"/>
                </a:lnTo>
                <a:lnTo>
                  <a:pt x="529403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a:extLst>
              <a:ext uri="{FF2B5EF4-FFF2-40B4-BE49-F238E27FC236}">
                <a16:creationId xmlns:a16="http://schemas.microsoft.com/office/drawing/2014/main" id="{8C6C98C1-5BBE-1F36-18C3-35816185E488}"/>
              </a:ext>
            </a:extLst>
          </p:cNvPr>
          <p:cNvSpPr txBox="1"/>
          <p:nvPr/>
        </p:nvSpPr>
        <p:spPr>
          <a:xfrm>
            <a:off x="3985669" y="175234"/>
            <a:ext cx="11700283" cy="872034"/>
          </a:xfrm>
          <a:prstGeom prst="rect">
            <a:avLst/>
          </a:prstGeom>
        </p:spPr>
        <p:txBody>
          <a:bodyPr wrap="square" lIns="0" tIns="0" rIns="0" bIns="0" rtlCol="0" anchor="t">
            <a:spAutoFit/>
          </a:bodyPr>
          <a:lstStyle/>
          <a:p>
            <a:pPr>
              <a:lnSpc>
                <a:spcPts val="6800"/>
              </a:lnSpc>
            </a:pPr>
            <a:r>
              <a:rPr lang="en-US" sz="6800" b="1" spc="-374">
                <a:solidFill>
                  <a:srgbClr val="231F20"/>
                </a:solidFill>
                <a:latin typeface="Gabriola" panose="04040605051002020D02" pitchFamily="82" charset="0"/>
                <a:ea typeface="Heading Now 71-78"/>
                <a:cs typeface="Heading Now 71-78"/>
                <a:sym typeface="Heading Now 71-78"/>
              </a:rPr>
              <a:t>EDA: Demand Surge vs Surplus Over Time</a:t>
            </a:r>
          </a:p>
        </p:txBody>
      </p:sp>
      <p:grpSp>
        <p:nvGrpSpPr>
          <p:cNvPr id="11" name="Group 11">
            <a:extLst>
              <a:ext uri="{FF2B5EF4-FFF2-40B4-BE49-F238E27FC236}">
                <a16:creationId xmlns:a16="http://schemas.microsoft.com/office/drawing/2014/main" id="{62C0BE68-3D06-85DA-6F03-FB2589BAFE12}"/>
              </a:ext>
            </a:extLst>
          </p:cNvPr>
          <p:cNvGrpSpPr/>
          <p:nvPr/>
        </p:nvGrpSpPr>
        <p:grpSpPr>
          <a:xfrm rot="-10800000">
            <a:off x="15685952" y="7885199"/>
            <a:ext cx="3388721" cy="3007793"/>
            <a:chOff x="-761988" y="-449696"/>
            <a:chExt cx="1422388" cy="1262496"/>
          </a:xfrm>
        </p:grpSpPr>
        <p:sp>
          <p:nvSpPr>
            <p:cNvPr id="12" name="Freeform 12">
              <a:extLst>
                <a:ext uri="{FF2B5EF4-FFF2-40B4-BE49-F238E27FC236}">
                  <a16:creationId xmlns:a16="http://schemas.microsoft.com/office/drawing/2014/main" id="{EBF6B4C1-0A29-E1E5-15EA-ACE168A30581}"/>
                </a:ext>
              </a:extLst>
            </p:cNvPr>
            <p:cNvSpPr/>
            <p:nvPr/>
          </p:nvSpPr>
          <p:spPr>
            <a:xfrm>
              <a:off x="-761988" y="-449696"/>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853A7FA1-3649-8753-D52D-F250B74B7E56}"/>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87295668-10CE-9C32-BF94-F8252B938A96}"/>
              </a:ext>
            </a:extLst>
          </p:cNvPr>
          <p:cNvGrpSpPr/>
          <p:nvPr/>
        </p:nvGrpSpPr>
        <p:grpSpPr>
          <a:xfrm>
            <a:off x="16808236" y="7696096"/>
            <a:ext cx="1573348" cy="1936429"/>
            <a:chOff x="0" y="0"/>
            <a:chExt cx="660400" cy="812800"/>
          </a:xfrm>
        </p:grpSpPr>
        <p:sp>
          <p:nvSpPr>
            <p:cNvPr id="15" name="Freeform 15">
              <a:extLst>
                <a:ext uri="{FF2B5EF4-FFF2-40B4-BE49-F238E27FC236}">
                  <a16:creationId xmlns:a16="http://schemas.microsoft.com/office/drawing/2014/main" id="{EBAC0B96-1719-1891-FE61-497CF93108D7}"/>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47B81453-710D-16CE-E599-A70DA29871C1}"/>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3" name="Picture 2" descr="Exploratory analysis - Free business and finance icons">
            <a:extLst>
              <a:ext uri="{FF2B5EF4-FFF2-40B4-BE49-F238E27FC236}">
                <a16:creationId xmlns:a16="http://schemas.microsoft.com/office/drawing/2014/main" id="{EEF1D145-1705-4129-8F04-CBAAB91897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614" y="-23316"/>
            <a:ext cx="1409700" cy="140970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4BCEA5A-E2AC-1D72-1F4E-724A287BA65D}"/>
              </a:ext>
            </a:extLst>
          </p:cNvPr>
          <p:cNvPicPr>
            <a:picLocks noChangeAspect="1"/>
          </p:cNvPicPr>
          <p:nvPr/>
        </p:nvPicPr>
        <p:blipFill>
          <a:blip r:embed="rId5"/>
          <a:stretch>
            <a:fillRect/>
          </a:stretch>
        </p:blipFill>
        <p:spPr>
          <a:xfrm>
            <a:off x="47195" y="1714499"/>
            <a:ext cx="11700282" cy="7365335"/>
          </a:xfrm>
          <a:prstGeom prst="rect">
            <a:avLst/>
          </a:prstGeom>
        </p:spPr>
      </p:pic>
      <p:sp>
        <p:nvSpPr>
          <p:cNvPr id="17" name="Rectangle 2">
            <a:extLst>
              <a:ext uri="{FF2B5EF4-FFF2-40B4-BE49-F238E27FC236}">
                <a16:creationId xmlns:a16="http://schemas.microsoft.com/office/drawing/2014/main" id="{6A7A19F4-72A4-4634-DC09-C82A3DBDDEAB}"/>
              </a:ext>
            </a:extLst>
          </p:cNvPr>
          <p:cNvSpPr>
            <a:spLocks noChangeArrowheads="1"/>
          </p:cNvSpPr>
          <p:nvPr/>
        </p:nvSpPr>
        <p:spPr bwMode="auto">
          <a:xfrm>
            <a:off x="11811000" y="2541547"/>
            <a:ext cx="6477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a:latin typeface="Comic Sans MS" panose="030F0702030302020204" pitchFamily="66" charset="0"/>
              </a:rPr>
              <a:t>📈 </a:t>
            </a:r>
            <a:r>
              <a:rPr lang="en-US" sz="2400" b="1">
                <a:latin typeface="Comic Sans MS" panose="030F0702030302020204" pitchFamily="66" charset="0"/>
              </a:rPr>
              <a:t>Waiting Risk</a:t>
            </a:r>
            <a:endParaRPr lang="en-US" sz="2400">
              <a:latin typeface="Comic Sans MS" panose="030F0702030302020204" pitchFamily="66" charset="0"/>
            </a:endParaRPr>
          </a:p>
          <a:p>
            <a:r>
              <a:rPr lang="en-US" sz="2400">
                <a:latin typeface="Comic Sans MS" panose="030F0702030302020204" pitchFamily="66" charset="0"/>
              </a:rPr>
              <a:t>Frequent surges above rolling average </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Weather Surplus</a:t>
            </a:r>
            <a:endParaRPr lang="en-US" sz="2400">
              <a:latin typeface="Comic Sans MS" panose="030F0702030302020204" pitchFamily="66" charset="0"/>
            </a:endParaRPr>
          </a:p>
          <a:p>
            <a:r>
              <a:rPr lang="en-US" sz="2400">
                <a:latin typeface="Comic Sans MS" panose="030F0702030302020204" pitchFamily="66" charset="0"/>
              </a:rPr>
              <a:t>Sharp drops during extreme weather</a:t>
            </a:r>
          </a:p>
          <a:p>
            <a:r>
              <a:rPr lang="en-US" sz="2400">
                <a:latin typeface="Comic Sans MS" panose="030F0702030302020204" pitchFamily="66" charset="0"/>
              </a:rPr>
              <a:t> </a:t>
            </a:r>
          </a:p>
          <a:p>
            <a:r>
              <a:rPr lang="en-US" sz="2400">
                <a:latin typeface="Comic Sans MS" panose="030F0702030302020204" pitchFamily="66" charset="0"/>
              </a:rPr>
              <a:t>⚠️ </a:t>
            </a:r>
            <a:r>
              <a:rPr lang="en-US" sz="2400" b="1">
                <a:latin typeface="Comic Sans MS" panose="030F0702030302020204" pitchFamily="66" charset="0"/>
              </a:rPr>
              <a:t>System Shocks</a:t>
            </a:r>
            <a:endParaRPr lang="en-US" sz="2400">
              <a:latin typeface="Comic Sans MS" panose="030F0702030302020204" pitchFamily="66" charset="0"/>
            </a:endParaRPr>
          </a:p>
          <a:p>
            <a:r>
              <a:rPr lang="en-US" sz="2400">
                <a:latin typeface="Comic Sans MS" panose="030F0702030302020204" pitchFamily="66" charset="0"/>
              </a:rPr>
              <a:t>Major events (e.g., Hurricane Sandy) disrupt demand</a:t>
            </a:r>
          </a:p>
          <a:p>
            <a:r>
              <a:rPr lang="en-US" sz="2400">
                <a:latin typeface="Comic Sans MS" panose="030F0702030302020204" pitchFamily="66" charset="0"/>
              </a:rPr>
              <a:t> </a:t>
            </a:r>
          </a:p>
          <a:p>
            <a:r>
              <a:rPr lang="en-US" sz="2400">
                <a:latin typeface="Comic Sans MS" panose="030F0702030302020204" pitchFamily="66" charset="0"/>
              </a:rPr>
              <a:t>🧠 </a:t>
            </a:r>
            <a:r>
              <a:rPr lang="en-US" sz="2400" b="1">
                <a:latin typeface="Comic Sans MS" panose="030F0702030302020204" pitchFamily="66" charset="0"/>
              </a:rPr>
              <a:t>Operational Insight</a:t>
            </a:r>
            <a:endParaRPr lang="en-US" sz="2400">
              <a:latin typeface="Comic Sans MS" panose="030F0702030302020204" pitchFamily="66" charset="0"/>
            </a:endParaRPr>
          </a:p>
          <a:p>
            <a:r>
              <a:rPr lang="en-US" sz="2400">
                <a:latin typeface="Comic Sans MS" panose="030F0702030302020204" pitchFamily="66" charset="0"/>
              </a:rPr>
              <a:t>Requires ~15% supply buffer </a:t>
            </a:r>
          </a:p>
        </p:txBody>
      </p:sp>
    </p:spTree>
    <p:extLst>
      <p:ext uri="{BB962C8B-B14F-4D97-AF65-F5344CB8AC3E}">
        <p14:creationId xmlns:p14="http://schemas.microsoft.com/office/powerpoint/2010/main" val="2635779298"/>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F779AB0F-9186-D320-A6E6-3F2A17D6870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4E9462C6-B992-E1BF-7C41-463DA7619332}"/>
              </a:ext>
            </a:extLst>
          </p:cNvPr>
          <p:cNvSpPr/>
          <p:nvPr/>
        </p:nvSpPr>
        <p:spPr>
          <a:xfrm rot="1174804" flipH="1">
            <a:off x="14105324" y="7449027"/>
            <a:ext cx="5294039" cy="3015070"/>
          </a:xfrm>
          <a:custGeom>
            <a:avLst/>
            <a:gdLst/>
            <a:ahLst/>
            <a:cxnLst/>
            <a:rect l="l" t="t" r="r" b="b"/>
            <a:pathLst>
              <a:path w="5294039" h="3015070">
                <a:moveTo>
                  <a:pt x="5294039" y="0"/>
                </a:moveTo>
                <a:lnTo>
                  <a:pt x="0" y="0"/>
                </a:lnTo>
                <a:lnTo>
                  <a:pt x="0" y="3015070"/>
                </a:lnTo>
                <a:lnTo>
                  <a:pt x="5294039" y="3015070"/>
                </a:lnTo>
                <a:lnTo>
                  <a:pt x="5294039"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TextBox 7">
            <a:extLst>
              <a:ext uri="{FF2B5EF4-FFF2-40B4-BE49-F238E27FC236}">
                <a16:creationId xmlns:a16="http://schemas.microsoft.com/office/drawing/2014/main" id="{AC886C19-EFDB-F6FD-2F97-7F06CD896151}"/>
              </a:ext>
            </a:extLst>
          </p:cNvPr>
          <p:cNvSpPr txBox="1"/>
          <p:nvPr/>
        </p:nvSpPr>
        <p:spPr>
          <a:xfrm>
            <a:off x="2590800" y="266700"/>
            <a:ext cx="11700283" cy="872034"/>
          </a:xfrm>
          <a:prstGeom prst="rect">
            <a:avLst/>
          </a:prstGeom>
        </p:spPr>
        <p:txBody>
          <a:bodyPr wrap="square" lIns="0" tIns="0" rIns="0" bIns="0" rtlCol="0" anchor="t">
            <a:spAutoFit/>
          </a:bodyPr>
          <a:lstStyle/>
          <a:p>
            <a:pPr algn="ctr">
              <a:lnSpc>
                <a:spcPts val="6800"/>
              </a:lnSpc>
            </a:pPr>
            <a:r>
              <a:rPr lang="en-US" sz="6800" b="1" spc="-374">
                <a:solidFill>
                  <a:srgbClr val="231F20"/>
                </a:solidFill>
                <a:latin typeface="Gabriola" panose="04040605051002020D02" pitchFamily="82" charset="0"/>
                <a:ea typeface="Heading Now 71-78"/>
                <a:cs typeface="Heading Now 71-78"/>
                <a:sym typeface="Heading Now 71-78"/>
              </a:rPr>
              <a:t>EDA: Weather Impact (Temp + Weather Situation)</a:t>
            </a:r>
          </a:p>
        </p:txBody>
      </p:sp>
      <p:grpSp>
        <p:nvGrpSpPr>
          <p:cNvPr id="11" name="Group 11">
            <a:extLst>
              <a:ext uri="{FF2B5EF4-FFF2-40B4-BE49-F238E27FC236}">
                <a16:creationId xmlns:a16="http://schemas.microsoft.com/office/drawing/2014/main" id="{A3601203-5257-3277-3036-961CF4022D57}"/>
              </a:ext>
            </a:extLst>
          </p:cNvPr>
          <p:cNvGrpSpPr/>
          <p:nvPr/>
        </p:nvGrpSpPr>
        <p:grpSpPr>
          <a:xfrm rot="-10800000">
            <a:off x="15685952" y="7885199"/>
            <a:ext cx="3388721" cy="3007793"/>
            <a:chOff x="-761988" y="-449696"/>
            <a:chExt cx="1422388" cy="1262496"/>
          </a:xfrm>
        </p:grpSpPr>
        <p:sp>
          <p:nvSpPr>
            <p:cNvPr id="12" name="Freeform 12">
              <a:extLst>
                <a:ext uri="{FF2B5EF4-FFF2-40B4-BE49-F238E27FC236}">
                  <a16:creationId xmlns:a16="http://schemas.microsoft.com/office/drawing/2014/main" id="{10A259E5-9F4D-993A-306B-615B383CC5D6}"/>
                </a:ext>
              </a:extLst>
            </p:cNvPr>
            <p:cNvSpPr/>
            <p:nvPr/>
          </p:nvSpPr>
          <p:spPr>
            <a:xfrm>
              <a:off x="-761988" y="-449696"/>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FA27A61B-C571-BF21-B2D7-ACC9851D4031}"/>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B5352FF7-92AD-EE75-3BDB-05BDE8BF4E15}"/>
              </a:ext>
            </a:extLst>
          </p:cNvPr>
          <p:cNvGrpSpPr/>
          <p:nvPr/>
        </p:nvGrpSpPr>
        <p:grpSpPr>
          <a:xfrm>
            <a:off x="16808236" y="7696096"/>
            <a:ext cx="1573348" cy="1936429"/>
            <a:chOff x="0" y="0"/>
            <a:chExt cx="660400" cy="812800"/>
          </a:xfrm>
        </p:grpSpPr>
        <p:sp>
          <p:nvSpPr>
            <p:cNvPr id="15" name="Freeform 15">
              <a:extLst>
                <a:ext uri="{FF2B5EF4-FFF2-40B4-BE49-F238E27FC236}">
                  <a16:creationId xmlns:a16="http://schemas.microsoft.com/office/drawing/2014/main" id="{C1088855-7BA9-8E81-34E9-2279758F3646}"/>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C8E260F6-F3B5-CAE4-649A-B10AF4D009A0}"/>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3" name="Picture 2" descr="Exploratory analysis - Free business and finance icons">
            <a:extLst>
              <a:ext uri="{FF2B5EF4-FFF2-40B4-BE49-F238E27FC236}">
                <a16:creationId xmlns:a16="http://schemas.microsoft.com/office/drawing/2014/main" id="{BA76D599-85FD-0348-9F7D-D40DC7EB8C7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614" y="-23316"/>
            <a:ext cx="1409700" cy="1409700"/>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1">
            <a:extLst>
              <a:ext uri="{FF2B5EF4-FFF2-40B4-BE49-F238E27FC236}">
                <a16:creationId xmlns:a16="http://schemas.microsoft.com/office/drawing/2014/main" id="{477240C8-CDBD-807C-52F6-74B969457CAE}"/>
              </a:ext>
            </a:extLst>
          </p:cNvPr>
          <p:cNvSpPr>
            <a:spLocks noChangeArrowheads="1"/>
          </p:cNvSpPr>
          <p:nvPr/>
        </p:nvSpPr>
        <p:spPr bwMode="auto">
          <a:xfrm>
            <a:off x="117748" y="2933700"/>
            <a:ext cx="580846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a:latin typeface="Comic Sans MS" panose="030F0702030302020204" pitchFamily="66" charset="0"/>
              </a:rPr>
              <a:t>🌡️ </a:t>
            </a:r>
            <a:r>
              <a:rPr lang="en-US" sz="2400" b="1">
                <a:latin typeface="Comic Sans MS" panose="030F0702030302020204" pitchFamily="66" charset="0"/>
              </a:rPr>
              <a:t>Temperature Effect</a:t>
            </a:r>
            <a:endParaRPr lang="en-US" sz="2400">
              <a:latin typeface="Comic Sans MS" panose="030F0702030302020204" pitchFamily="66" charset="0"/>
            </a:endParaRPr>
          </a:p>
          <a:p>
            <a:r>
              <a:rPr lang="en-US" sz="2400">
                <a:latin typeface="Comic Sans MS" panose="030F0702030302020204" pitchFamily="66" charset="0"/>
              </a:rPr>
              <a:t>Peak demand around ~25°C </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Weather Impact</a:t>
            </a:r>
            <a:endParaRPr lang="en-US" sz="2400">
              <a:latin typeface="Comic Sans MS" panose="030F0702030302020204" pitchFamily="66" charset="0"/>
            </a:endParaRPr>
          </a:p>
          <a:p>
            <a:r>
              <a:rPr lang="en-US" sz="2400">
                <a:latin typeface="Comic Sans MS" panose="030F0702030302020204" pitchFamily="66" charset="0"/>
              </a:rPr>
              <a:t>Rain/snow -&gt; ~60% demand drop </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Mild Disruptions</a:t>
            </a:r>
            <a:endParaRPr lang="en-US" sz="2400">
              <a:latin typeface="Comic Sans MS" panose="030F0702030302020204" pitchFamily="66" charset="0"/>
            </a:endParaRPr>
          </a:p>
          <a:p>
            <a:r>
              <a:rPr lang="en-US" sz="2400">
                <a:latin typeface="Comic Sans MS" panose="030F0702030302020204" pitchFamily="66" charset="0"/>
              </a:rPr>
              <a:t>Mist/fog -&gt; ~15% reduction </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Model Insight</a:t>
            </a:r>
            <a:endParaRPr lang="en-US" sz="2400">
              <a:latin typeface="Comic Sans MS" panose="030F0702030302020204" pitchFamily="66" charset="0"/>
            </a:endParaRPr>
          </a:p>
          <a:p>
            <a:r>
              <a:rPr lang="en-US" sz="2400">
                <a:latin typeface="Comic Sans MS" panose="030F0702030302020204" pitchFamily="66" charset="0"/>
              </a:rPr>
              <a:t>Weather needed as exogenous feature </a:t>
            </a:r>
          </a:p>
        </p:txBody>
      </p:sp>
      <p:pic>
        <p:nvPicPr>
          <p:cNvPr id="10" name="Picture 9">
            <a:extLst>
              <a:ext uri="{FF2B5EF4-FFF2-40B4-BE49-F238E27FC236}">
                <a16:creationId xmlns:a16="http://schemas.microsoft.com/office/drawing/2014/main" id="{9FDFC534-9CA2-3850-9555-F91E01452837}"/>
              </a:ext>
            </a:extLst>
          </p:cNvPr>
          <p:cNvPicPr>
            <a:picLocks noChangeAspect="1"/>
          </p:cNvPicPr>
          <p:nvPr/>
        </p:nvPicPr>
        <p:blipFill>
          <a:blip r:embed="rId4"/>
          <a:stretch>
            <a:fillRect/>
          </a:stretch>
        </p:blipFill>
        <p:spPr>
          <a:xfrm>
            <a:off x="5734327" y="1638300"/>
            <a:ext cx="12553673" cy="7469363"/>
          </a:xfrm>
          <a:prstGeom prst="rect">
            <a:avLst/>
          </a:prstGeom>
        </p:spPr>
      </p:pic>
    </p:spTree>
    <p:extLst>
      <p:ext uri="{BB962C8B-B14F-4D97-AF65-F5344CB8AC3E}">
        <p14:creationId xmlns:p14="http://schemas.microsoft.com/office/powerpoint/2010/main" val="3640364343"/>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DCD73B52-B485-BD06-E5CE-2A7B6DB7BBC1}"/>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133CCA79-0878-D98A-A8AE-54BBE2520B1A}"/>
              </a:ext>
            </a:extLst>
          </p:cNvPr>
          <p:cNvSpPr txBox="1"/>
          <p:nvPr/>
        </p:nvSpPr>
        <p:spPr>
          <a:xfrm>
            <a:off x="8301826" y="0"/>
            <a:ext cx="9142816" cy="923330"/>
          </a:xfrm>
          <a:prstGeom prst="rect">
            <a:avLst/>
          </a:prstGeom>
        </p:spPr>
        <p:txBody>
          <a:bodyPr wrap="square" lIns="0" tIns="0" rIns="0" bIns="0" rtlCol="0" anchor="t">
            <a:spAutoFit/>
          </a:bodyPr>
          <a:lstStyle/>
          <a:p>
            <a:pPr lvl="0" eaLnBrk="0" fontAlgn="base" hangingPunct="0">
              <a:spcBef>
                <a:spcPct val="0"/>
              </a:spcBef>
              <a:spcAft>
                <a:spcPct val="0"/>
              </a:spcAft>
            </a:pPr>
            <a:r>
              <a:rPr lang="en-US" altLang="en-US" sz="6000" b="1">
                <a:latin typeface="Gabriola" panose="04040605051002020D02" pitchFamily="82" charset="0"/>
              </a:rPr>
              <a:t>STL &amp; Multiplicative Decomposition</a:t>
            </a:r>
          </a:p>
        </p:txBody>
      </p:sp>
      <p:grpSp>
        <p:nvGrpSpPr>
          <p:cNvPr id="11" name="Group 11">
            <a:extLst>
              <a:ext uri="{FF2B5EF4-FFF2-40B4-BE49-F238E27FC236}">
                <a16:creationId xmlns:a16="http://schemas.microsoft.com/office/drawing/2014/main" id="{EF8EBD0C-0801-2F58-5A8E-D3CCA4E833D0}"/>
              </a:ext>
            </a:extLst>
          </p:cNvPr>
          <p:cNvGrpSpPr/>
          <p:nvPr/>
        </p:nvGrpSpPr>
        <p:grpSpPr>
          <a:xfrm rot="-10800000">
            <a:off x="17328606" y="1140833"/>
            <a:ext cx="1573348" cy="1936429"/>
            <a:chOff x="0" y="0"/>
            <a:chExt cx="660400" cy="812800"/>
          </a:xfrm>
        </p:grpSpPr>
        <p:sp>
          <p:nvSpPr>
            <p:cNvPr id="12" name="Freeform 12">
              <a:extLst>
                <a:ext uri="{FF2B5EF4-FFF2-40B4-BE49-F238E27FC236}">
                  <a16:creationId xmlns:a16="http://schemas.microsoft.com/office/drawing/2014/main" id="{E026DEFD-1A87-DBAF-C49A-B647D728ABDA}"/>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6FBE2E33-5048-D2B2-17D9-DC9888966830}"/>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EA9CE282-83A3-9454-E575-C1AFE1016B3B}"/>
              </a:ext>
            </a:extLst>
          </p:cNvPr>
          <p:cNvGrpSpPr/>
          <p:nvPr/>
        </p:nvGrpSpPr>
        <p:grpSpPr>
          <a:xfrm>
            <a:off x="16380823" y="-6674"/>
            <a:ext cx="1895565" cy="2021169"/>
            <a:chOff x="0" y="-35569"/>
            <a:chExt cx="795648" cy="848369"/>
          </a:xfrm>
        </p:grpSpPr>
        <p:sp>
          <p:nvSpPr>
            <p:cNvPr id="15" name="Freeform 15">
              <a:extLst>
                <a:ext uri="{FF2B5EF4-FFF2-40B4-BE49-F238E27FC236}">
                  <a16:creationId xmlns:a16="http://schemas.microsoft.com/office/drawing/2014/main" id="{BA6183D3-BC6A-0C98-EB55-F624BEA30E75}"/>
                </a:ext>
              </a:extLst>
            </p:cNvPr>
            <p:cNvSpPr/>
            <p:nvPr/>
          </p:nvSpPr>
          <p:spPr>
            <a:xfrm>
              <a:off x="135248" y="-35569"/>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E3706294-6F7D-1C7B-104E-CD1910049A0A}"/>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4" name="Picture 3">
            <a:extLst>
              <a:ext uri="{FF2B5EF4-FFF2-40B4-BE49-F238E27FC236}">
                <a16:creationId xmlns:a16="http://schemas.microsoft.com/office/drawing/2014/main" id="{EAF4574F-0EBC-53BD-C07A-C1F50E7F6EF4}"/>
              </a:ext>
            </a:extLst>
          </p:cNvPr>
          <p:cNvPicPr>
            <a:picLocks noChangeAspect="1"/>
          </p:cNvPicPr>
          <p:nvPr/>
        </p:nvPicPr>
        <p:blipFill>
          <a:blip r:embed="rId3"/>
          <a:stretch>
            <a:fillRect/>
          </a:stretch>
        </p:blipFill>
        <p:spPr>
          <a:xfrm>
            <a:off x="9601200" y="5705604"/>
            <a:ext cx="7310634" cy="4561335"/>
          </a:xfrm>
          <a:prstGeom prst="rect">
            <a:avLst/>
          </a:prstGeom>
        </p:spPr>
      </p:pic>
      <p:pic>
        <p:nvPicPr>
          <p:cNvPr id="6" name="Picture 5">
            <a:extLst>
              <a:ext uri="{FF2B5EF4-FFF2-40B4-BE49-F238E27FC236}">
                <a16:creationId xmlns:a16="http://schemas.microsoft.com/office/drawing/2014/main" id="{CB9AFCEB-A8C4-821A-0115-2799C9B12BD5}"/>
              </a:ext>
            </a:extLst>
          </p:cNvPr>
          <p:cNvPicPr>
            <a:picLocks noChangeAspect="1"/>
          </p:cNvPicPr>
          <p:nvPr/>
        </p:nvPicPr>
        <p:blipFill>
          <a:blip r:embed="rId4"/>
          <a:stretch>
            <a:fillRect/>
          </a:stretch>
        </p:blipFill>
        <p:spPr>
          <a:xfrm>
            <a:off x="565480" y="5677296"/>
            <a:ext cx="7010208" cy="4278412"/>
          </a:xfrm>
          <a:prstGeom prst="rect">
            <a:avLst/>
          </a:prstGeom>
        </p:spPr>
      </p:pic>
      <p:pic>
        <p:nvPicPr>
          <p:cNvPr id="9" name="Picture 8">
            <a:extLst>
              <a:ext uri="{FF2B5EF4-FFF2-40B4-BE49-F238E27FC236}">
                <a16:creationId xmlns:a16="http://schemas.microsoft.com/office/drawing/2014/main" id="{25FE8B27-0DAE-3B26-427D-0EE3CFF755D8}"/>
              </a:ext>
            </a:extLst>
          </p:cNvPr>
          <p:cNvPicPr>
            <a:picLocks noChangeAspect="1"/>
          </p:cNvPicPr>
          <p:nvPr/>
        </p:nvPicPr>
        <p:blipFill>
          <a:blip r:embed="rId5"/>
          <a:stretch>
            <a:fillRect/>
          </a:stretch>
        </p:blipFill>
        <p:spPr>
          <a:xfrm>
            <a:off x="587573" y="647700"/>
            <a:ext cx="6988115" cy="4207897"/>
          </a:xfrm>
          <a:prstGeom prst="rect">
            <a:avLst/>
          </a:prstGeom>
        </p:spPr>
      </p:pic>
      <p:sp>
        <p:nvSpPr>
          <p:cNvPr id="17" name="Rectangle 16">
            <a:extLst>
              <a:ext uri="{FF2B5EF4-FFF2-40B4-BE49-F238E27FC236}">
                <a16:creationId xmlns:a16="http://schemas.microsoft.com/office/drawing/2014/main" id="{647FD498-BA0F-5587-A032-F6F5997C279A}"/>
              </a:ext>
            </a:extLst>
          </p:cNvPr>
          <p:cNvSpPr/>
          <p:nvPr/>
        </p:nvSpPr>
        <p:spPr>
          <a:xfrm>
            <a:off x="7710674" y="1320944"/>
            <a:ext cx="9652345" cy="392559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lvl="0" indent="-342900" algn="just" eaLnBrk="0" fontAlgn="base" hangingPunct="0">
              <a:spcBef>
                <a:spcPct val="0"/>
              </a:spcBef>
              <a:spcAft>
                <a:spcPct val="0"/>
              </a:spcAft>
              <a:buFont typeface="Wingdings" panose="05000000000000000000" pitchFamily="2" charset="2"/>
              <a:buChar char="Ø"/>
            </a:pPr>
            <a:r>
              <a:rPr lang="en-US" altLang="en-US" sz="2400" b="1">
                <a:solidFill>
                  <a:schemeClr val="tx1"/>
                </a:solidFill>
                <a:latin typeface="Comic Sans MS" panose="030F0702030302020204" pitchFamily="66" charset="0"/>
              </a:rPr>
              <a:t>Linear Trend:</a:t>
            </a:r>
            <a:r>
              <a:rPr lang="en-US" altLang="en-US" sz="2400">
                <a:solidFill>
                  <a:schemeClr val="tx1"/>
                </a:solidFill>
                <a:latin typeface="Comic Sans MS" panose="030F0702030302020204" pitchFamily="66" charset="0"/>
              </a:rPr>
              <a:t> </a:t>
            </a:r>
          </a:p>
          <a:p>
            <a:pPr lvl="1" algn="just" eaLnBrk="0" fontAlgn="base" hangingPunct="0">
              <a:spcBef>
                <a:spcPct val="0"/>
              </a:spcBef>
              <a:spcAft>
                <a:spcPct val="0"/>
              </a:spcAft>
            </a:pPr>
            <a:r>
              <a:rPr lang="en-US" altLang="en-US" sz="2400">
                <a:solidFill>
                  <a:schemeClr val="tx1"/>
                </a:solidFill>
                <a:latin typeface="Comic Sans MS" panose="030F0702030302020204" pitchFamily="66" charset="0"/>
              </a:rPr>
              <a:t>Both daily and weekly views reveal smooth, consistent growth in system adoption from 2011 to 2012.</a:t>
            </a:r>
          </a:p>
          <a:p>
            <a:pPr marL="342900" lvl="0" indent="-342900" algn="just" eaLnBrk="0" fontAlgn="base" hangingPunct="0">
              <a:spcBef>
                <a:spcPct val="0"/>
              </a:spcBef>
              <a:spcAft>
                <a:spcPct val="0"/>
              </a:spcAft>
              <a:buFont typeface="Wingdings" panose="05000000000000000000" pitchFamily="2" charset="2"/>
              <a:buChar char="Ø"/>
            </a:pPr>
            <a:r>
              <a:rPr lang="en-US" altLang="en-US" sz="2400" b="1">
                <a:solidFill>
                  <a:schemeClr val="tx1"/>
                </a:solidFill>
                <a:latin typeface="Comic Sans MS" panose="030F0702030302020204" pitchFamily="66" charset="0"/>
              </a:rPr>
              <a:t>Multi-Seasonality:</a:t>
            </a:r>
            <a:r>
              <a:rPr lang="en-US" altLang="en-US" sz="2400">
                <a:solidFill>
                  <a:schemeClr val="tx1"/>
                </a:solidFill>
                <a:latin typeface="Comic Sans MS" panose="030F0702030302020204" pitchFamily="66" charset="0"/>
              </a:rPr>
              <a:t> </a:t>
            </a:r>
          </a:p>
          <a:p>
            <a:pPr lvl="1" algn="just" eaLnBrk="0" fontAlgn="base" hangingPunct="0">
              <a:spcBef>
                <a:spcPct val="0"/>
              </a:spcBef>
              <a:spcAft>
                <a:spcPct val="0"/>
              </a:spcAft>
            </a:pPr>
            <a:r>
              <a:rPr lang="en-US" altLang="en-US" sz="2400">
                <a:solidFill>
                  <a:schemeClr val="tx1"/>
                </a:solidFill>
                <a:latin typeface="Comic Sans MS" panose="030F0702030302020204" pitchFamily="66" charset="0"/>
              </a:rPr>
              <a:t>STL captured high-frequency weekly cycles, while Multiplicative models accounted for expanding annual peaks.</a:t>
            </a:r>
          </a:p>
          <a:p>
            <a:pPr marL="342900" lvl="0" indent="-342900" algn="just" eaLnBrk="0" fontAlgn="base" hangingPunct="0">
              <a:spcBef>
                <a:spcPct val="0"/>
              </a:spcBef>
              <a:spcAft>
                <a:spcPct val="0"/>
              </a:spcAft>
              <a:buFont typeface="Wingdings" panose="05000000000000000000" pitchFamily="2" charset="2"/>
              <a:buChar char="Ø"/>
            </a:pPr>
            <a:r>
              <a:rPr lang="en-US" altLang="en-US" sz="2400" b="1">
                <a:solidFill>
                  <a:schemeClr val="tx1"/>
                </a:solidFill>
                <a:latin typeface="Comic Sans MS" panose="030F0702030302020204" pitchFamily="66" charset="0"/>
              </a:rPr>
              <a:t>Shock Isolation:</a:t>
            </a:r>
            <a:r>
              <a:rPr lang="en-US" altLang="en-US" sz="2400">
                <a:solidFill>
                  <a:schemeClr val="tx1"/>
                </a:solidFill>
                <a:latin typeface="Comic Sans MS" panose="030F0702030302020204" pitchFamily="66" charset="0"/>
              </a:rPr>
              <a:t> </a:t>
            </a:r>
          </a:p>
          <a:p>
            <a:pPr lvl="1" algn="just" eaLnBrk="0" fontAlgn="base" hangingPunct="0">
              <a:spcBef>
                <a:spcPct val="0"/>
              </a:spcBef>
              <a:spcAft>
                <a:spcPct val="0"/>
              </a:spcAft>
            </a:pPr>
            <a:r>
              <a:rPr lang="en-US" altLang="en-US" sz="2400">
                <a:solidFill>
                  <a:schemeClr val="tx1"/>
                </a:solidFill>
                <a:latin typeface="Comic Sans MS" panose="030F0702030302020204" pitchFamily="66" charset="0"/>
              </a:rPr>
              <a:t>The "Remainder" component successfully isolated the massive negative residuals from the </a:t>
            </a:r>
            <a:r>
              <a:rPr lang="en-US" altLang="en-US" sz="2400" b="1">
                <a:solidFill>
                  <a:schemeClr val="tx1"/>
                </a:solidFill>
                <a:latin typeface="Comic Sans MS" panose="030F0702030302020204" pitchFamily="66" charset="0"/>
              </a:rPr>
              <a:t>Hurricane Sandy</a:t>
            </a:r>
            <a:r>
              <a:rPr lang="en-US" altLang="en-US" sz="2400">
                <a:solidFill>
                  <a:schemeClr val="tx1"/>
                </a:solidFill>
                <a:latin typeface="Comic Sans MS" panose="030F0702030302020204" pitchFamily="66" charset="0"/>
              </a:rPr>
              <a:t> shutdown.</a:t>
            </a:r>
          </a:p>
        </p:txBody>
      </p:sp>
    </p:spTree>
    <p:extLst>
      <p:ext uri="{BB962C8B-B14F-4D97-AF65-F5344CB8AC3E}">
        <p14:creationId xmlns:p14="http://schemas.microsoft.com/office/powerpoint/2010/main" val="397286701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18" name="TextBox 7">
            <a:extLst>
              <a:ext uri="{FF2B5EF4-FFF2-40B4-BE49-F238E27FC236}">
                <a16:creationId xmlns:a16="http://schemas.microsoft.com/office/drawing/2014/main" id="{3E9B5173-42C7-54A0-13A6-EEC116CA1646}"/>
              </a:ext>
            </a:extLst>
          </p:cNvPr>
          <p:cNvSpPr txBox="1"/>
          <p:nvPr/>
        </p:nvSpPr>
        <p:spPr>
          <a:xfrm>
            <a:off x="4953000" y="13037"/>
            <a:ext cx="9677400" cy="1015663"/>
          </a:xfrm>
          <a:prstGeom prst="rect">
            <a:avLst/>
          </a:prstGeom>
        </p:spPr>
        <p:txBody>
          <a:bodyPr wrap="square" lIns="0" tIns="0" rIns="0" bIns="0" rtlCol="0" anchor="t">
            <a:spAutoFit/>
          </a:bodyPr>
          <a:lstStyle/>
          <a:p>
            <a:r>
              <a:rPr lang="en-US" sz="6600" b="1">
                <a:latin typeface="Gabriola" panose="04040605051002020D02" pitchFamily="82" charset="0"/>
              </a:rPr>
              <a:t>Feature Engineering &amp; Lag Analysis</a:t>
            </a:r>
          </a:p>
        </p:txBody>
      </p:sp>
      <p:pic>
        <p:nvPicPr>
          <p:cNvPr id="21" name="Picture 20">
            <a:extLst>
              <a:ext uri="{FF2B5EF4-FFF2-40B4-BE49-F238E27FC236}">
                <a16:creationId xmlns:a16="http://schemas.microsoft.com/office/drawing/2014/main" id="{3843A5CA-9CFA-B773-E459-DE236CA572E6}"/>
              </a:ext>
            </a:extLst>
          </p:cNvPr>
          <p:cNvPicPr>
            <a:picLocks noChangeAspect="1"/>
          </p:cNvPicPr>
          <p:nvPr/>
        </p:nvPicPr>
        <p:blipFill>
          <a:blip r:embed="rId3"/>
          <a:stretch>
            <a:fillRect/>
          </a:stretch>
        </p:blipFill>
        <p:spPr>
          <a:xfrm>
            <a:off x="272032" y="1270417"/>
            <a:ext cx="6051094" cy="8551212"/>
          </a:xfrm>
          <a:prstGeom prst="rect">
            <a:avLst/>
          </a:prstGeom>
        </p:spPr>
      </p:pic>
      <p:pic>
        <p:nvPicPr>
          <p:cNvPr id="23" name="Picture 22">
            <a:extLst>
              <a:ext uri="{FF2B5EF4-FFF2-40B4-BE49-F238E27FC236}">
                <a16:creationId xmlns:a16="http://schemas.microsoft.com/office/drawing/2014/main" id="{EB1FAB0D-6E85-C7E0-6723-11A0FB16514E}"/>
              </a:ext>
            </a:extLst>
          </p:cNvPr>
          <p:cNvPicPr>
            <a:picLocks noChangeAspect="1"/>
          </p:cNvPicPr>
          <p:nvPr/>
        </p:nvPicPr>
        <p:blipFill>
          <a:blip r:embed="rId4"/>
          <a:srcRect t="34557" r="20965"/>
          <a:stretch>
            <a:fillRect/>
          </a:stretch>
        </p:blipFill>
        <p:spPr>
          <a:xfrm>
            <a:off x="12235431" y="4930137"/>
            <a:ext cx="6052569" cy="5343826"/>
          </a:xfrm>
          <a:prstGeom prst="rect">
            <a:avLst/>
          </a:prstGeom>
        </p:spPr>
      </p:pic>
      <p:grpSp>
        <p:nvGrpSpPr>
          <p:cNvPr id="3" name="Group 14">
            <a:extLst>
              <a:ext uri="{FF2B5EF4-FFF2-40B4-BE49-F238E27FC236}">
                <a16:creationId xmlns:a16="http://schemas.microsoft.com/office/drawing/2014/main" id="{2C6A8E8C-2B9B-B82D-D915-52A5A54ECBC0}"/>
              </a:ext>
            </a:extLst>
          </p:cNvPr>
          <p:cNvGrpSpPr/>
          <p:nvPr/>
        </p:nvGrpSpPr>
        <p:grpSpPr>
          <a:xfrm>
            <a:off x="16300720" y="-628512"/>
            <a:ext cx="1987281" cy="2030982"/>
            <a:chOff x="0" y="-39688"/>
            <a:chExt cx="834145" cy="852488"/>
          </a:xfrm>
        </p:grpSpPr>
        <p:sp>
          <p:nvSpPr>
            <p:cNvPr id="4" name="Freeform 15">
              <a:extLst>
                <a:ext uri="{FF2B5EF4-FFF2-40B4-BE49-F238E27FC236}">
                  <a16:creationId xmlns:a16="http://schemas.microsoft.com/office/drawing/2014/main" id="{273C6667-9434-7214-583F-EA12C662AE09}"/>
                </a:ext>
              </a:extLst>
            </p:cNvPr>
            <p:cNvSpPr/>
            <p:nvPr/>
          </p:nvSpPr>
          <p:spPr>
            <a:xfrm>
              <a:off x="173745" y="-39688"/>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5" name="TextBox 16">
              <a:extLst>
                <a:ext uri="{FF2B5EF4-FFF2-40B4-BE49-F238E27FC236}">
                  <a16:creationId xmlns:a16="http://schemas.microsoft.com/office/drawing/2014/main" id="{2D9224A7-C731-395F-780F-3198997DD17B}"/>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6" name="Group 11">
            <a:extLst>
              <a:ext uri="{FF2B5EF4-FFF2-40B4-BE49-F238E27FC236}">
                <a16:creationId xmlns:a16="http://schemas.microsoft.com/office/drawing/2014/main" id="{6804C46D-0E4D-BF20-ACF2-85202F421757}"/>
              </a:ext>
            </a:extLst>
          </p:cNvPr>
          <p:cNvGrpSpPr/>
          <p:nvPr/>
        </p:nvGrpSpPr>
        <p:grpSpPr>
          <a:xfrm rot="-10800000">
            <a:off x="17501326" y="918336"/>
            <a:ext cx="1573348" cy="1936429"/>
            <a:chOff x="0" y="0"/>
            <a:chExt cx="660400" cy="812800"/>
          </a:xfrm>
        </p:grpSpPr>
        <p:sp>
          <p:nvSpPr>
            <p:cNvPr id="7" name="Freeform 12">
              <a:extLst>
                <a:ext uri="{FF2B5EF4-FFF2-40B4-BE49-F238E27FC236}">
                  <a16:creationId xmlns:a16="http://schemas.microsoft.com/office/drawing/2014/main" id="{6A04D1B9-5952-C8CD-6185-3D2924366A66}"/>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8" name="TextBox 13">
              <a:extLst>
                <a:ext uri="{FF2B5EF4-FFF2-40B4-BE49-F238E27FC236}">
                  <a16:creationId xmlns:a16="http://schemas.microsoft.com/office/drawing/2014/main" id="{B56AAF4F-AC09-6210-F75B-C3D8F21285C4}"/>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sp>
        <p:nvSpPr>
          <p:cNvPr id="19" name="Rectangle 1">
            <a:extLst>
              <a:ext uri="{FF2B5EF4-FFF2-40B4-BE49-F238E27FC236}">
                <a16:creationId xmlns:a16="http://schemas.microsoft.com/office/drawing/2014/main" id="{645B5DD9-4EF5-5A5D-7D4D-236198FBB8E0}"/>
              </a:ext>
            </a:extLst>
          </p:cNvPr>
          <p:cNvSpPr>
            <a:spLocks noChangeArrowheads="1"/>
          </p:cNvSpPr>
          <p:nvPr/>
        </p:nvSpPr>
        <p:spPr bwMode="auto">
          <a:xfrm>
            <a:off x="6477001" y="1442678"/>
            <a:ext cx="10896599" cy="3370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a:ln>
                  <a:noFill/>
                </a:ln>
                <a:solidFill>
                  <a:schemeClr val="tx1"/>
                </a:solidFill>
                <a:effectLst/>
                <a:latin typeface="Comic Sans MS" panose="030F0702030302020204" pitchFamily="66" charset="0"/>
              </a:rPr>
              <a:t>The Problem</a:t>
            </a:r>
            <a:endParaRPr lang="en-US" altLang="en-US" sz="2400" b="1">
              <a:latin typeface="Comic Sans MS" panose="030F0702030302020204" pitchFamily="66" charset="0"/>
            </a:endParaRPr>
          </a:p>
          <a:p>
            <a:pPr lvl="1" algn="just" eaLnBrk="0" fontAlgn="base" hangingPunct="0">
              <a:spcBef>
                <a:spcPct val="0"/>
              </a:spcBef>
              <a:spcAft>
                <a:spcPct val="0"/>
              </a:spcAft>
            </a:pPr>
            <a:r>
              <a:rPr kumimoji="0" lang="en-US" altLang="en-US" sz="2400" b="0" i="0" u="none" strike="noStrike" cap="none" normalizeH="0" baseline="0">
                <a:ln>
                  <a:noFill/>
                </a:ln>
                <a:solidFill>
                  <a:schemeClr val="tx1"/>
                </a:solidFill>
                <a:effectLst/>
                <a:latin typeface="Comic Sans MS" panose="030F0702030302020204" pitchFamily="66" charset="0"/>
              </a:rPr>
              <a:t>Initial ADF tests confirmed the raw data were non-stationary (p &gt; 0.05), meaning the mean shifted over time.</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a:ln>
                  <a:noFill/>
                </a:ln>
                <a:solidFill>
                  <a:schemeClr val="tx1"/>
                </a:solidFill>
                <a:effectLst/>
                <a:latin typeface="Comic Sans MS" panose="030F0702030302020204" pitchFamily="66" charset="0"/>
              </a:rPr>
              <a:t>The Fix</a:t>
            </a:r>
            <a:endParaRPr lang="en-US" altLang="en-US" sz="2400" b="1">
              <a:latin typeface="Comic Sans MS" panose="030F0702030302020204" pitchFamily="66" charset="0"/>
            </a:endParaRPr>
          </a:p>
          <a:p>
            <a:pPr lvl="1" algn="just" eaLnBrk="0" fontAlgn="base" hangingPunct="0">
              <a:spcBef>
                <a:spcPct val="0"/>
              </a:spcBef>
              <a:spcAft>
                <a:spcPct val="0"/>
              </a:spcAft>
            </a:pPr>
            <a:r>
              <a:rPr kumimoji="0" lang="en-US" altLang="en-US" sz="2400" b="0" i="0" u="none" strike="noStrike" cap="none" normalizeH="0" baseline="0">
                <a:ln>
                  <a:noFill/>
                </a:ln>
                <a:solidFill>
                  <a:schemeClr val="tx1"/>
                </a:solidFill>
                <a:effectLst/>
                <a:latin typeface="Comic Sans MS" panose="030F0702030302020204" pitchFamily="66" charset="0"/>
              </a:rPr>
              <a:t>We applied </a:t>
            </a:r>
            <a:r>
              <a:rPr kumimoji="0" lang="en-US" altLang="en-US" sz="2400" b="1" i="0" u="none" strike="noStrike" cap="none" normalizeH="0" baseline="0">
                <a:ln>
                  <a:noFill/>
                </a:ln>
                <a:solidFill>
                  <a:schemeClr val="tx1"/>
                </a:solidFill>
                <a:effectLst/>
                <a:latin typeface="Comic Sans MS" panose="030F0702030302020204" pitchFamily="66" charset="0"/>
              </a:rPr>
              <a:t>First-Order (d=1)</a:t>
            </a:r>
            <a:r>
              <a:rPr kumimoji="0" lang="en-US" altLang="en-US" sz="2400" b="0" i="0" u="none" strike="noStrike" cap="none" normalizeH="0" baseline="0">
                <a:ln>
                  <a:noFill/>
                </a:ln>
                <a:solidFill>
                  <a:schemeClr val="tx1"/>
                </a:solidFill>
                <a:effectLst/>
                <a:latin typeface="Comic Sans MS" panose="030F0702030302020204" pitchFamily="66" charset="0"/>
              </a:rPr>
              <a:t> and </a:t>
            </a:r>
            <a:r>
              <a:rPr kumimoji="0" lang="en-US" altLang="en-US" sz="2400" b="1" i="0" u="none" strike="noStrike" cap="none" normalizeH="0" baseline="0">
                <a:ln>
                  <a:noFill/>
                </a:ln>
                <a:solidFill>
                  <a:schemeClr val="tx1"/>
                </a:solidFill>
                <a:effectLst/>
                <a:latin typeface="Comic Sans MS" panose="030F0702030302020204" pitchFamily="66" charset="0"/>
              </a:rPr>
              <a:t>Second-Order (d=2)</a:t>
            </a:r>
            <a:r>
              <a:rPr kumimoji="0" lang="en-US" altLang="en-US" sz="2400" b="0" i="0" u="none" strike="noStrike" cap="none" normalizeH="0" baseline="0">
                <a:ln>
                  <a:noFill/>
                </a:ln>
                <a:solidFill>
                  <a:schemeClr val="tx1"/>
                </a:solidFill>
                <a:effectLst/>
                <a:latin typeface="Comic Sans MS" panose="030F0702030302020204" pitchFamily="66" charset="0"/>
              </a:rPr>
              <a:t> differencing to stabilize the series.</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a:ln>
                  <a:noFill/>
                </a:ln>
                <a:solidFill>
                  <a:schemeClr val="tx1"/>
                </a:solidFill>
                <a:effectLst/>
                <a:latin typeface="Comic Sans MS" panose="030F0702030302020204" pitchFamily="66" charset="0"/>
              </a:rPr>
              <a:t>Validation</a:t>
            </a:r>
            <a:endParaRPr lang="en-US" altLang="en-US" sz="2400" b="1">
              <a:latin typeface="Comic Sans MS" panose="030F0702030302020204" pitchFamily="66" charset="0"/>
            </a:endParaRPr>
          </a:p>
          <a:p>
            <a:pPr lvl="1" algn="just" eaLnBrk="0" fontAlgn="base" hangingPunct="0">
              <a:spcBef>
                <a:spcPct val="0"/>
              </a:spcBef>
              <a:spcAft>
                <a:spcPct val="0"/>
              </a:spcAft>
            </a:pPr>
            <a:r>
              <a:rPr kumimoji="0" lang="en-US" altLang="en-US" sz="2400" b="0" i="0" u="none" strike="noStrike" cap="none" normalizeH="0" baseline="0">
                <a:ln>
                  <a:noFill/>
                </a:ln>
                <a:solidFill>
                  <a:schemeClr val="tx1"/>
                </a:solidFill>
                <a:effectLst/>
                <a:latin typeface="Comic Sans MS" panose="030F0702030302020204" pitchFamily="66" charset="0"/>
              </a:rPr>
              <a:t>Transformation cleared the path for reliable ACF/PACF identification and ARIMA model selection.</a:t>
            </a:r>
          </a:p>
        </p:txBody>
      </p:sp>
      <p:pic>
        <p:nvPicPr>
          <p:cNvPr id="9" name="Picture 8">
            <a:extLst>
              <a:ext uri="{FF2B5EF4-FFF2-40B4-BE49-F238E27FC236}">
                <a16:creationId xmlns:a16="http://schemas.microsoft.com/office/drawing/2014/main" id="{CF1095D9-25E4-2938-657E-B648DA032B4D}"/>
              </a:ext>
            </a:extLst>
          </p:cNvPr>
          <p:cNvPicPr>
            <a:picLocks noChangeAspect="1"/>
          </p:cNvPicPr>
          <p:nvPr/>
        </p:nvPicPr>
        <p:blipFill>
          <a:blip r:embed="rId4"/>
          <a:srcRect t="1" r="20965" b="67592"/>
          <a:stretch>
            <a:fillRect/>
          </a:stretch>
        </p:blipFill>
        <p:spPr>
          <a:xfrm>
            <a:off x="6323124" y="6296070"/>
            <a:ext cx="6052571" cy="3370153"/>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6" name="TextBox 6"/>
          <p:cNvSpPr txBox="1"/>
          <p:nvPr/>
        </p:nvSpPr>
        <p:spPr>
          <a:xfrm>
            <a:off x="1676400" y="1784742"/>
            <a:ext cx="15163800" cy="7386638"/>
          </a:xfrm>
          <a:prstGeom prst="rect">
            <a:avLst/>
          </a:prstGeom>
        </p:spPr>
        <p:txBody>
          <a:bodyPr wrap="square" lIns="0" tIns="0" rIns="0" bIns="0" rtlCol="0" anchor="t">
            <a:spAutoFit/>
          </a:bodyPr>
          <a:lstStyle/>
          <a:p>
            <a:pPr algn="just"/>
            <a:r>
              <a:rPr lang="en-US" sz="2400">
                <a:latin typeface="Comic Sans MS" panose="030F0702030302020204" pitchFamily="66" charset="0"/>
              </a:rPr>
              <a:t>To ensure our forecasts are robust and reliable, we implemented a strict chronological split to simulate real-world forecasting.</a:t>
            </a:r>
          </a:p>
          <a:p>
            <a:pPr algn="just"/>
            <a:endParaRPr lang="en-US" sz="2400">
              <a:latin typeface="Comic Sans MS" panose="030F0702030302020204" pitchFamily="66" charset="0"/>
            </a:endParaRPr>
          </a:p>
          <a:p>
            <a:pPr marL="457200" indent="-457200" algn="just">
              <a:buFont typeface="+mj-lt"/>
              <a:buAutoNum type="arabicPeriod"/>
            </a:pPr>
            <a:r>
              <a:rPr lang="en-US" sz="2400" b="1">
                <a:latin typeface="Comic Sans MS" panose="030F0702030302020204" pitchFamily="66" charset="0"/>
              </a:rPr>
              <a:t>The Chronological Split</a:t>
            </a:r>
          </a:p>
          <a:p>
            <a:pPr marL="457200" indent="-457200" algn="just">
              <a:buFont typeface="+mj-lt"/>
              <a:buAutoNum type="arabicPeriod"/>
            </a:pPr>
            <a:endParaRPr lang="en-US" sz="2400" b="1">
              <a:latin typeface="Comic Sans MS" panose="030F0702030302020204" pitchFamily="66" charset="0"/>
            </a:endParaRPr>
          </a:p>
          <a:p>
            <a:pPr marL="800100" lvl="1" indent="-342900" algn="just">
              <a:buFont typeface="Wingdings" panose="05000000000000000000" pitchFamily="2" charset="2"/>
              <a:buChar char="ü"/>
            </a:pPr>
            <a:r>
              <a:rPr lang="en-US" sz="2400" b="1">
                <a:latin typeface="Comic Sans MS" panose="030F0702030302020204" pitchFamily="66" charset="0"/>
              </a:rPr>
              <a:t>Total Scope:</a:t>
            </a:r>
            <a:r>
              <a:rPr lang="en-US" sz="2400">
                <a:latin typeface="Comic Sans MS" panose="030F0702030302020204" pitchFamily="66" charset="0"/>
              </a:rPr>
              <a:t> 731 days of historical bike-sharing data.</a:t>
            </a:r>
          </a:p>
          <a:p>
            <a:pPr marL="800100" lvl="1" indent="-342900" algn="just">
              <a:buFont typeface="Wingdings" panose="05000000000000000000" pitchFamily="2" charset="2"/>
              <a:buChar char="ü"/>
            </a:pPr>
            <a:endParaRPr lang="en-US" sz="2400">
              <a:latin typeface="Comic Sans MS" panose="030F0702030302020204" pitchFamily="66" charset="0"/>
            </a:endParaRPr>
          </a:p>
          <a:p>
            <a:pPr marL="800100" lvl="1" indent="-342900" algn="just">
              <a:buFont typeface="Wingdings" panose="05000000000000000000" pitchFamily="2" charset="2"/>
              <a:buChar char="ü"/>
            </a:pPr>
            <a:r>
              <a:rPr lang="en-US" sz="2400" b="1">
                <a:latin typeface="Comic Sans MS" panose="030F0702030302020204" pitchFamily="66" charset="0"/>
              </a:rPr>
              <a:t>Training Set (92%):</a:t>
            </a:r>
            <a:r>
              <a:rPr lang="en-US" sz="2400">
                <a:latin typeface="Comic Sans MS" panose="030F0702030302020204" pitchFamily="66" charset="0"/>
              </a:rPr>
              <a:t> 671 days (Jan 2011 – Nov 1, 2012).</a:t>
            </a:r>
          </a:p>
          <a:p>
            <a:pPr marL="800100" lvl="1" indent="-342900" algn="just">
              <a:buFont typeface="Wingdings" panose="05000000000000000000" pitchFamily="2" charset="2"/>
              <a:buChar char="ü"/>
            </a:pPr>
            <a:endParaRPr lang="en-US" sz="2400">
              <a:latin typeface="Comic Sans MS" panose="030F0702030302020204" pitchFamily="66" charset="0"/>
            </a:endParaRPr>
          </a:p>
          <a:p>
            <a:pPr marL="800100" lvl="1" indent="-342900" algn="just">
              <a:buFont typeface="Wingdings" panose="05000000000000000000" pitchFamily="2" charset="2"/>
              <a:buChar char="ü"/>
            </a:pPr>
            <a:r>
              <a:rPr lang="en-US" sz="2400" b="1">
                <a:latin typeface="Comic Sans MS" panose="030F0702030302020204" pitchFamily="66" charset="0"/>
              </a:rPr>
              <a:t>Hold-Out Test Set (8%):</a:t>
            </a:r>
            <a:r>
              <a:rPr lang="en-US" sz="2400">
                <a:latin typeface="Comic Sans MS" panose="030F0702030302020204" pitchFamily="66" charset="0"/>
              </a:rPr>
              <a:t> </a:t>
            </a:r>
            <a:r>
              <a:rPr lang="en-US" sz="2400" b="1">
                <a:latin typeface="Comic Sans MS" panose="030F0702030302020204" pitchFamily="66" charset="0"/>
              </a:rPr>
              <a:t>60 days</a:t>
            </a:r>
            <a:r>
              <a:rPr lang="en-US" sz="2400">
                <a:latin typeface="Comic Sans MS" panose="030F0702030302020204" pitchFamily="66" charset="0"/>
              </a:rPr>
              <a:t> (Nov 2, 2012 – Dec 31, 2012).</a:t>
            </a:r>
          </a:p>
          <a:p>
            <a:pPr marL="800100" lvl="1" indent="-342900" algn="just">
              <a:buFont typeface="Wingdings" panose="05000000000000000000" pitchFamily="2" charset="2"/>
              <a:buChar char="ü"/>
            </a:pPr>
            <a:endParaRPr lang="en-US" sz="2400">
              <a:latin typeface="Comic Sans MS" panose="030F0702030302020204" pitchFamily="66" charset="0"/>
            </a:endParaRPr>
          </a:p>
          <a:p>
            <a:pPr marL="800100" lvl="1" indent="-342900" algn="just">
              <a:buFont typeface="Wingdings" panose="05000000000000000000" pitchFamily="2" charset="2"/>
              <a:buChar char="ü"/>
            </a:pPr>
            <a:r>
              <a:rPr lang="en-US" sz="2400" b="1">
                <a:latin typeface="Comic Sans MS" panose="030F0702030302020204" pitchFamily="66" charset="0"/>
              </a:rPr>
              <a:t>Integrity Check:</a:t>
            </a:r>
            <a:r>
              <a:rPr lang="en-US" sz="2400">
                <a:latin typeface="Comic Sans MS" panose="030F0702030302020204" pitchFamily="66" charset="0"/>
              </a:rPr>
              <a:t> Zero overlap was used to prevent “data leakage.”</a:t>
            </a:r>
          </a:p>
          <a:p>
            <a:pPr algn="just"/>
            <a:endParaRPr lang="en-US" sz="2400">
              <a:latin typeface="Comic Sans MS" panose="030F0702030302020204" pitchFamily="66" charset="0"/>
            </a:endParaRPr>
          </a:p>
          <a:p>
            <a:pPr algn="just"/>
            <a:r>
              <a:rPr lang="en-US" sz="2400" b="1">
                <a:latin typeface="Comic Sans MS" panose="030F0702030302020204" pitchFamily="66" charset="0"/>
              </a:rPr>
              <a:t>2. Time Series Object Creation</a:t>
            </a:r>
          </a:p>
          <a:p>
            <a:pPr marL="457200" indent="-457200" algn="just">
              <a:buFont typeface="+mj-lt"/>
              <a:buAutoNum type="arabicPeriod"/>
            </a:pPr>
            <a:endParaRPr lang="en-US" sz="2400" b="1">
              <a:latin typeface="Comic Sans MS" panose="030F0702030302020204" pitchFamily="66" charset="0"/>
            </a:endParaRPr>
          </a:p>
          <a:p>
            <a:pPr algn="just"/>
            <a:r>
              <a:rPr lang="en-US" sz="2400">
                <a:latin typeface="Comic Sans MS" panose="030F0702030302020204" pitchFamily="66" charset="0"/>
              </a:rPr>
              <a:t>We tailored our time series objects to match the specific strengths of each model:</a:t>
            </a:r>
          </a:p>
          <a:p>
            <a:pPr algn="just"/>
            <a:endParaRPr lang="en-US" sz="2400">
              <a:latin typeface="Comic Sans MS" panose="030F0702030302020204" pitchFamily="66" charset="0"/>
            </a:endParaRPr>
          </a:p>
          <a:p>
            <a:pPr marL="800100" lvl="1" indent="-342900" algn="just" eaLnBrk="0" fontAlgn="base" hangingPunct="0">
              <a:spcBef>
                <a:spcPct val="0"/>
              </a:spcBef>
              <a:spcAft>
                <a:spcPct val="0"/>
              </a:spcAft>
              <a:buFont typeface="Wingdings" panose="05000000000000000000" pitchFamily="2" charset="2"/>
              <a:buChar char="ü"/>
            </a:pPr>
            <a:r>
              <a:rPr lang="en-US" altLang="en-US" sz="2400" b="1">
                <a:latin typeface="Comic Sans MS" panose="030F0702030302020204" pitchFamily="66" charset="0"/>
              </a:rPr>
              <a:t>Holt-Winters:</a:t>
            </a:r>
            <a:r>
              <a:rPr lang="en-US" altLang="en-US" sz="2400">
                <a:latin typeface="Comic Sans MS" panose="030F0702030302020204" pitchFamily="66" charset="0"/>
              </a:rPr>
              <a:t> Weekly seasonality (7) </a:t>
            </a:r>
          </a:p>
          <a:p>
            <a:pPr lvl="1" algn="just" eaLnBrk="0" fontAlgn="base" hangingPunct="0">
              <a:spcBef>
                <a:spcPct val="0"/>
              </a:spcBef>
              <a:spcAft>
                <a:spcPct val="0"/>
              </a:spcAft>
            </a:pPr>
            <a:endParaRPr lang="en-US" altLang="en-US" sz="2400">
              <a:latin typeface="Comic Sans MS" panose="030F0702030302020204" pitchFamily="66" charset="0"/>
            </a:endParaRPr>
          </a:p>
          <a:p>
            <a:pPr marL="800100" lvl="1" indent="-342900" algn="just" eaLnBrk="0" fontAlgn="base" hangingPunct="0">
              <a:spcBef>
                <a:spcPct val="0"/>
              </a:spcBef>
              <a:spcAft>
                <a:spcPct val="0"/>
              </a:spcAft>
              <a:buFont typeface="Wingdings" panose="05000000000000000000" pitchFamily="2" charset="2"/>
              <a:buChar char="ü"/>
            </a:pPr>
            <a:r>
              <a:rPr lang="en-US" altLang="en-US" sz="2400" b="1">
                <a:latin typeface="Comic Sans MS" panose="030F0702030302020204" pitchFamily="66" charset="0"/>
              </a:rPr>
              <a:t>Main Models (MSTS): </a:t>
            </a:r>
            <a:r>
              <a:rPr lang="en-US" altLang="en-US" sz="2400">
                <a:latin typeface="Comic Sans MS" panose="030F0702030302020204" pitchFamily="66" charset="0"/>
              </a:rPr>
              <a:t>Weekly (7) + Annual (365) seasonality </a:t>
            </a:r>
          </a:p>
        </p:txBody>
      </p:sp>
      <p:sp>
        <p:nvSpPr>
          <p:cNvPr id="7" name="TextBox 7"/>
          <p:cNvSpPr txBox="1"/>
          <p:nvPr/>
        </p:nvSpPr>
        <p:spPr>
          <a:xfrm>
            <a:off x="3535660" y="368570"/>
            <a:ext cx="12196700" cy="923330"/>
          </a:xfrm>
          <a:prstGeom prst="rect">
            <a:avLst/>
          </a:prstGeom>
        </p:spPr>
        <p:txBody>
          <a:bodyPr wrap="square" lIns="0" tIns="0" rIns="0" bIns="0" rtlCol="0" anchor="t">
            <a:spAutoFit/>
          </a:bodyPr>
          <a:lstStyle/>
          <a:p>
            <a:r>
              <a:rPr lang="en-US" sz="6000" b="1">
                <a:latin typeface="Gabriola" panose="04040605051002020D02" pitchFamily="82" charset="0"/>
              </a:rPr>
              <a:t>Model Validation: The Train/Test Split Strategy</a:t>
            </a:r>
          </a:p>
        </p:txBody>
      </p:sp>
      <p:sp>
        <p:nvSpPr>
          <p:cNvPr id="10" name="Freeform 10"/>
          <p:cNvSpPr/>
          <p:nvPr/>
        </p:nvSpPr>
        <p:spPr>
          <a:xfrm>
            <a:off x="-2123021" y="-1741009"/>
            <a:ext cx="4246041" cy="4114800"/>
          </a:xfrm>
          <a:custGeom>
            <a:avLst/>
            <a:gdLst/>
            <a:ahLst/>
            <a:cxnLst/>
            <a:rect l="l" t="t" r="r" b="b"/>
            <a:pathLst>
              <a:path w="4246041" h="4114800">
                <a:moveTo>
                  <a:pt x="0" y="0"/>
                </a:moveTo>
                <a:lnTo>
                  <a:pt x="4246042" y="0"/>
                </a:lnTo>
                <a:lnTo>
                  <a:pt x="424604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p:cNvGrpSpPr/>
          <p:nvPr/>
        </p:nvGrpSpPr>
        <p:grpSpPr>
          <a:xfrm rot="-10800000">
            <a:off x="-201749" y="7460299"/>
            <a:ext cx="9864468" cy="3124829"/>
            <a:chOff x="0" y="-498821"/>
            <a:chExt cx="4140530" cy="1311621"/>
          </a:xfrm>
        </p:grpSpPr>
        <p:sp>
          <p:nvSpPr>
            <p:cNvPr id="12" name="Freeform 12"/>
            <p:cNvSpPr/>
            <p:nvPr/>
          </p:nvSpPr>
          <p:spPr>
            <a:xfrm>
              <a:off x="3480130" y="-498821"/>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rot="5400000">
            <a:off x="13392703" y="2965623"/>
            <a:ext cx="9820322" cy="2315727"/>
            <a:chOff x="0" y="-159207"/>
            <a:chExt cx="4122000" cy="972007"/>
          </a:xfrm>
        </p:grpSpPr>
        <p:sp>
          <p:nvSpPr>
            <p:cNvPr id="15" name="Freeform 15"/>
            <p:cNvSpPr/>
            <p:nvPr/>
          </p:nvSpPr>
          <p:spPr>
            <a:xfrm>
              <a:off x="3461600" y="-159207"/>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3" name="Picture 2">
            <a:extLst>
              <a:ext uri="{FF2B5EF4-FFF2-40B4-BE49-F238E27FC236}">
                <a16:creationId xmlns:a16="http://schemas.microsoft.com/office/drawing/2014/main" id="{6BF72207-868A-D92C-539B-7C993DD914FF}"/>
              </a:ext>
            </a:extLst>
          </p:cNvPr>
          <p:cNvPicPr>
            <a:picLocks noChangeAspect="1"/>
          </p:cNvPicPr>
          <p:nvPr/>
        </p:nvPicPr>
        <p:blipFill>
          <a:blip r:embed="rId4"/>
          <a:stretch/>
        </p:blipFill>
        <p:spPr>
          <a:xfrm>
            <a:off x="16063299" y="-124273"/>
            <a:ext cx="2429214" cy="2162476"/>
          </a:xfrm>
          <a:prstGeom prst="rect">
            <a:avLst/>
          </a:prstGeom>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E535F54E-BB1C-4593-B57E-8F9ABE0F7DA6}"/>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FE009EC9-03BE-1963-EBD5-0E2F49006F6E}"/>
              </a:ext>
            </a:extLst>
          </p:cNvPr>
          <p:cNvSpPr/>
          <p:nvPr/>
        </p:nvSpPr>
        <p:spPr>
          <a:xfrm>
            <a:off x="17305107" y="6506178"/>
            <a:ext cx="578602" cy="578602"/>
          </a:xfrm>
          <a:custGeom>
            <a:avLst/>
            <a:gdLst/>
            <a:ahLst/>
            <a:cxnLst/>
            <a:rect l="l" t="t" r="r" b="b"/>
            <a:pathLst>
              <a:path w="578602" h="578602">
                <a:moveTo>
                  <a:pt x="0" y="0"/>
                </a:moveTo>
                <a:lnTo>
                  <a:pt x="578602" y="0"/>
                </a:lnTo>
                <a:lnTo>
                  <a:pt x="578602" y="578602"/>
                </a:lnTo>
                <a:lnTo>
                  <a:pt x="0" y="578602"/>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TextBox 5">
            <a:extLst>
              <a:ext uri="{FF2B5EF4-FFF2-40B4-BE49-F238E27FC236}">
                <a16:creationId xmlns:a16="http://schemas.microsoft.com/office/drawing/2014/main" id="{3E48355C-9CC1-763A-269E-89EB32E12F1F}"/>
              </a:ext>
            </a:extLst>
          </p:cNvPr>
          <p:cNvSpPr txBox="1"/>
          <p:nvPr/>
        </p:nvSpPr>
        <p:spPr>
          <a:xfrm>
            <a:off x="2094155" y="227590"/>
            <a:ext cx="13649793" cy="923330"/>
          </a:xfrm>
          <a:prstGeom prst="rect">
            <a:avLst/>
          </a:prstGeom>
        </p:spPr>
        <p:txBody>
          <a:bodyPr wrap="square" lIns="0" tIns="0" rIns="0" bIns="0" rtlCol="0" anchor="t">
            <a:spAutoFit/>
          </a:bodyPr>
          <a:lstStyle/>
          <a:p>
            <a:pPr algn="ctr"/>
            <a:r>
              <a:rPr lang="en-US" sz="6000" b="1">
                <a:latin typeface="Gabriola" panose="04040605051002020D02" pitchFamily="82" charset="0"/>
              </a:rPr>
              <a:t>Phase 1 : The Statistical Battle</a:t>
            </a:r>
          </a:p>
        </p:txBody>
      </p:sp>
      <p:sp>
        <p:nvSpPr>
          <p:cNvPr id="7" name="TextBox 7">
            <a:extLst>
              <a:ext uri="{FF2B5EF4-FFF2-40B4-BE49-F238E27FC236}">
                <a16:creationId xmlns:a16="http://schemas.microsoft.com/office/drawing/2014/main" id="{CDEB6E3B-96F1-E284-BD5B-85D4C657E7B2}"/>
              </a:ext>
            </a:extLst>
          </p:cNvPr>
          <p:cNvSpPr txBox="1"/>
          <p:nvPr/>
        </p:nvSpPr>
        <p:spPr>
          <a:xfrm>
            <a:off x="791590" y="1532649"/>
            <a:ext cx="16374949" cy="404278"/>
          </a:xfrm>
          <a:prstGeom prst="rect">
            <a:avLst/>
          </a:prstGeom>
        </p:spPr>
        <p:txBody>
          <a:bodyPr wrap="square" lIns="0" tIns="0" rIns="0" bIns="0" rtlCol="0" anchor="t">
            <a:spAutoFit/>
          </a:bodyPr>
          <a:lstStyle/>
          <a:p>
            <a:pPr>
              <a:lnSpc>
                <a:spcPts val="3359"/>
              </a:lnSpc>
            </a:pPr>
            <a:r>
              <a:rPr lang="en-US" sz="2400" b="1">
                <a:latin typeface="Comic Sans MS" panose="030F0702030302020204" pitchFamily="66" charset="0"/>
              </a:rPr>
              <a:t>Goal:</a:t>
            </a:r>
            <a:r>
              <a:rPr lang="en-US" sz="2400">
                <a:latin typeface="Comic Sans MS" panose="030F0702030302020204" pitchFamily="66" charset="0"/>
              </a:rPr>
              <a:t> Evaluate the predictive accuracy of multiple mathematical frameworks to identify the optimal supply engine.</a:t>
            </a:r>
            <a:endParaRPr lang="en-US" sz="2400" b="1">
              <a:solidFill>
                <a:srgbClr val="231F20"/>
              </a:solidFill>
              <a:latin typeface="Comic Sans MS" panose="030F0702030302020204" pitchFamily="66" charset="0"/>
              <a:ea typeface="TT Firs Neue Bold"/>
              <a:cs typeface="TT Firs Neue Bold"/>
              <a:sym typeface="TT Firs Neue Bold"/>
            </a:endParaRPr>
          </a:p>
        </p:txBody>
      </p:sp>
      <p:sp>
        <p:nvSpPr>
          <p:cNvPr id="10" name="Freeform 10">
            <a:extLst>
              <a:ext uri="{FF2B5EF4-FFF2-40B4-BE49-F238E27FC236}">
                <a16:creationId xmlns:a16="http://schemas.microsoft.com/office/drawing/2014/main" id="{35DC4689-221B-2F98-8AA1-EA33CC97DE26}"/>
              </a:ext>
            </a:extLst>
          </p:cNvPr>
          <p:cNvSpPr/>
          <p:nvPr/>
        </p:nvSpPr>
        <p:spPr>
          <a:xfrm rot="-925859">
            <a:off x="16477690" y="140142"/>
            <a:ext cx="1250368" cy="1453916"/>
          </a:xfrm>
          <a:custGeom>
            <a:avLst/>
            <a:gdLst/>
            <a:ahLst/>
            <a:cxnLst/>
            <a:rect l="l" t="t" r="r" b="b"/>
            <a:pathLst>
              <a:path w="1250368" h="1453916">
                <a:moveTo>
                  <a:pt x="0" y="0"/>
                </a:moveTo>
                <a:lnTo>
                  <a:pt x="1250368" y="0"/>
                </a:lnTo>
                <a:lnTo>
                  <a:pt x="1250368" y="1453916"/>
                </a:lnTo>
                <a:lnTo>
                  <a:pt x="0" y="14539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1" name="Group 11">
            <a:extLst>
              <a:ext uri="{FF2B5EF4-FFF2-40B4-BE49-F238E27FC236}">
                <a16:creationId xmlns:a16="http://schemas.microsoft.com/office/drawing/2014/main" id="{92FBA0CD-E613-77DD-5D9A-A97F6FF383E6}"/>
              </a:ext>
            </a:extLst>
          </p:cNvPr>
          <p:cNvGrpSpPr/>
          <p:nvPr/>
        </p:nvGrpSpPr>
        <p:grpSpPr>
          <a:xfrm rot="-10800000">
            <a:off x="0" y="8469231"/>
            <a:ext cx="1573348" cy="1936429"/>
            <a:chOff x="0" y="0"/>
            <a:chExt cx="660400" cy="812800"/>
          </a:xfrm>
        </p:grpSpPr>
        <p:sp>
          <p:nvSpPr>
            <p:cNvPr id="12" name="Freeform 12">
              <a:extLst>
                <a:ext uri="{FF2B5EF4-FFF2-40B4-BE49-F238E27FC236}">
                  <a16:creationId xmlns:a16="http://schemas.microsoft.com/office/drawing/2014/main" id="{B185D5AF-7BA2-B0A3-4EF9-9A2A8DF9BAB0}"/>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C6F86544-89CD-37ED-F03F-481FCD720C4E}"/>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55BED2DB-3D1F-E838-7D0C-BE8D1E00D994}"/>
              </a:ext>
            </a:extLst>
          </p:cNvPr>
          <p:cNvGrpSpPr/>
          <p:nvPr/>
        </p:nvGrpSpPr>
        <p:grpSpPr>
          <a:xfrm>
            <a:off x="533400" y="7594078"/>
            <a:ext cx="1268314" cy="1561002"/>
            <a:chOff x="0" y="0"/>
            <a:chExt cx="660400" cy="812800"/>
          </a:xfrm>
        </p:grpSpPr>
        <p:sp>
          <p:nvSpPr>
            <p:cNvPr id="15" name="Freeform 15">
              <a:extLst>
                <a:ext uri="{FF2B5EF4-FFF2-40B4-BE49-F238E27FC236}">
                  <a16:creationId xmlns:a16="http://schemas.microsoft.com/office/drawing/2014/main" id="{5428001A-4085-BD9E-3174-AB0E4500D7BE}"/>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D22AEC36-1B55-AB3D-FE4D-60082E1787CD}"/>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aphicFrame>
        <p:nvGraphicFramePr>
          <p:cNvPr id="19" name="Table 18">
            <a:extLst>
              <a:ext uri="{FF2B5EF4-FFF2-40B4-BE49-F238E27FC236}">
                <a16:creationId xmlns:a16="http://schemas.microsoft.com/office/drawing/2014/main" id="{D8DAD86E-330E-3514-792C-D38DE419C2D3}"/>
              </a:ext>
            </a:extLst>
          </p:cNvPr>
          <p:cNvGraphicFramePr>
            <a:graphicFrameLocks noGrp="1"/>
          </p:cNvGraphicFramePr>
          <p:nvPr>
            <p:extLst>
              <p:ext uri="{D42A27DB-BD31-4B8C-83A1-F6EECF244321}">
                <p14:modId xmlns:p14="http://schemas.microsoft.com/office/powerpoint/2010/main" val="2532327441"/>
              </p:ext>
            </p:extLst>
          </p:nvPr>
        </p:nvGraphicFramePr>
        <p:xfrm>
          <a:off x="2667000" y="2558818"/>
          <a:ext cx="12954000" cy="4525962"/>
        </p:xfrm>
        <a:graphic>
          <a:graphicData uri="http://schemas.openxmlformats.org/drawingml/2006/table">
            <a:tbl>
              <a:tblPr>
                <a:tableStyleId>{BDBED569-4797-4DF1-A0F4-6AAB3CD982D8}</a:tableStyleId>
              </a:tblPr>
              <a:tblGrid>
                <a:gridCol w="2687120">
                  <a:extLst>
                    <a:ext uri="{9D8B030D-6E8A-4147-A177-3AD203B41FA5}">
                      <a16:colId xmlns:a16="http://schemas.microsoft.com/office/drawing/2014/main" val="3250238766"/>
                    </a:ext>
                  </a:extLst>
                </a:gridCol>
                <a:gridCol w="4267777">
                  <a:extLst>
                    <a:ext uri="{9D8B030D-6E8A-4147-A177-3AD203B41FA5}">
                      <a16:colId xmlns:a16="http://schemas.microsoft.com/office/drawing/2014/main" val="2088218242"/>
                    </a:ext>
                  </a:extLst>
                </a:gridCol>
                <a:gridCol w="2036218">
                  <a:extLst>
                    <a:ext uri="{9D8B030D-6E8A-4147-A177-3AD203B41FA5}">
                      <a16:colId xmlns:a16="http://schemas.microsoft.com/office/drawing/2014/main" val="2118648944"/>
                    </a:ext>
                  </a:extLst>
                </a:gridCol>
                <a:gridCol w="2036218">
                  <a:extLst>
                    <a:ext uri="{9D8B030D-6E8A-4147-A177-3AD203B41FA5}">
                      <a16:colId xmlns:a16="http://schemas.microsoft.com/office/drawing/2014/main" val="1213500366"/>
                    </a:ext>
                  </a:extLst>
                </a:gridCol>
                <a:gridCol w="1926667">
                  <a:extLst>
                    <a:ext uri="{9D8B030D-6E8A-4147-A177-3AD203B41FA5}">
                      <a16:colId xmlns:a16="http://schemas.microsoft.com/office/drawing/2014/main" val="4248102838"/>
                    </a:ext>
                  </a:extLst>
                </a:gridCol>
              </a:tblGrid>
              <a:tr h="639538">
                <a:tc>
                  <a:txBody>
                    <a:bodyPr/>
                    <a:lstStyle/>
                    <a:p>
                      <a:pPr algn="ctr" rtl="0">
                        <a:buNone/>
                      </a:pPr>
                      <a:r>
                        <a:rPr lang="en-US" sz="2000" b="1">
                          <a:solidFill>
                            <a:srgbClr val="1F1F1F"/>
                          </a:solidFill>
                          <a:effectLst/>
                          <a:latin typeface="Comic Sans MS" panose="030F0702030302020204" pitchFamily="66" charset="0"/>
                        </a:rPr>
                        <a:t>Model Name</a:t>
                      </a:r>
                      <a:endParaRPr lang="en-US" sz="2000">
                        <a:solidFill>
                          <a:srgbClr val="1F1F1F"/>
                        </a:solidFill>
                        <a:effectLst/>
                        <a:latin typeface="Comic Sans MS" panose="030F0702030302020204" pitchFamily="66" charset="0"/>
                      </a:endParaRPr>
                    </a:p>
                  </a:txBody>
                  <a:tcPr marL="73793" marR="73793" marT="98390" marB="98390" anchor="ctr"/>
                </a:tc>
                <a:tc>
                  <a:txBody>
                    <a:bodyPr/>
                    <a:lstStyle/>
                    <a:p>
                      <a:pPr algn="ctr" rtl="0">
                        <a:buNone/>
                      </a:pPr>
                      <a:r>
                        <a:rPr lang="en-US" sz="2000" b="1">
                          <a:solidFill>
                            <a:srgbClr val="1F1F1F"/>
                          </a:solidFill>
                          <a:effectLst/>
                          <a:latin typeface="Comic Sans MS" panose="030F0702030302020204" pitchFamily="66" charset="0"/>
                        </a:rPr>
                        <a:t>Key Advantage</a:t>
                      </a:r>
                      <a:endParaRPr lang="en-US" sz="2000">
                        <a:solidFill>
                          <a:srgbClr val="1F1F1F"/>
                        </a:solidFill>
                        <a:effectLst/>
                        <a:latin typeface="Comic Sans MS" panose="030F0702030302020204" pitchFamily="66" charset="0"/>
                      </a:endParaRPr>
                    </a:p>
                  </a:txBody>
                  <a:tcPr marL="73793" marR="73793" marT="98390" marB="98390" anchor="ctr"/>
                </a:tc>
                <a:tc>
                  <a:txBody>
                    <a:bodyPr/>
                    <a:lstStyle/>
                    <a:p>
                      <a:pPr algn="ctr" rtl="0">
                        <a:buNone/>
                      </a:pPr>
                      <a:r>
                        <a:rPr lang="en-US" sz="2000" b="1">
                          <a:solidFill>
                            <a:srgbClr val="1F1F1F"/>
                          </a:solidFill>
                          <a:effectLst/>
                          <a:latin typeface="Comic Sans MS" panose="030F0702030302020204" pitchFamily="66" charset="0"/>
                        </a:rPr>
                        <a:t>MAE</a:t>
                      </a:r>
                      <a:endParaRPr lang="en-US" sz="2000">
                        <a:solidFill>
                          <a:srgbClr val="1F1F1F"/>
                        </a:solidFill>
                        <a:effectLst/>
                        <a:latin typeface="Comic Sans MS" panose="030F0702030302020204" pitchFamily="66" charset="0"/>
                      </a:endParaRPr>
                    </a:p>
                  </a:txBody>
                  <a:tcPr marL="73793" marR="73793" marT="98390" marB="98390" anchor="ctr"/>
                </a:tc>
                <a:tc>
                  <a:txBody>
                    <a:bodyPr/>
                    <a:lstStyle/>
                    <a:p>
                      <a:pPr algn="ctr" rtl="0">
                        <a:buNone/>
                      </a:pPr>
                      <a:r>
                        <a:rPr lang="en-US" sz="2000" b="1">
                          <a:solidFill>
                            <a:srgbClr val="1F1F1F"/>
                          </a:solidFill>
                          <a:effectLst/>
                          <a:latin typeface="Comic Sans MS" panose="030F0702030302020204" pitchFamily="66" charset="0"/>
                        </a:rPr>
                        <a:t>RMSE</a:t>
                      </a:r>
                    </a:p>
                  </a:txBody>
                  <a:tcPr marL="73793" marR="73793" marT="98390" marB="98390" anchor="ctr"/>
                </a:tc>
                <a:tc>
                  <a:txBody>
                    <a:bodyPr/>
                    <a:lstStyle/>
                    <a:p>
                      <a:pPr algn="ctr" rtl="0">
                        <a:buNone/>
                      </a:pPr>
                      <a:r>
                        <a:rPr lang="en-US" sz="2000" b="1">
                          <a:solidFill>
                            <a:srgbClr val="1F1F1F"/>
                          </a:solidFill>
                          <a:effectLst/>
                          <a:latin typeface="Comic Sans MS" panose="030F0702030302020204" pitchFamily="66" charset="0"/>
                        </a:rPr>
                        <a:t>MAPE (%)</a:t>
                      </a:r>
                      <a:endParaRPr lang="en-US" sz="2000">
                        <a:solidFill>
                          <a:srgbClr val="1F1F1F"/>
                        </a:solidFill>
                        <a:effectLst/>
                        <a:latin typeface="Comic Sans MS" panose="030F0702030302020204" pitchFamily="66" charset="0"/>
                      </a:endParaRPr>
                    </a:p>
                  </a:txBody>
                  <a:tcPr marL="73793" marR="73793" marT="98390" marB="98390" anchor="ctr"/>
                </a:tc>
                <a:extLst>
                  <a:ext uri="{0D108BD9-81ED-4DB2-BD59-A6C34878D82A}">
                    <a16:rowId xmlns:a16="http://schemas.microsoft.com/office/drawing/2014/main" val="3807625945"/>
                  </a:ext>
                </a:extLst>
              </a:tr>
              <a:tr h="1082295">
                <a:tc>
                  <a:txBody>
                    <a:bodyPr/>
                    <a:lstStyle/>
                    <a:p>
                      <a:pPr algn="ctr" rtl="0">
                        <a:buNone/>
                      </a:pPr>
                      <a:r>
                        <a:rPr lang="en-US" sz="2000" b="0">
                          <a:solidFill>
                            <a:srgbClr val="1F1F1F"/>
                          </a:solidFill>
                          <a:effectLst/>
                          <a:latin typeface="Comic Sans MS" panose="030F0702030302020204" pitchFamily="66" charset="0"/>
                        </a:rPr>
                        <a:t>Seasonal Naive</a:t>
                      </a:r>
                    </a:p>
                  </a:txBody>
                  <a:tcPr marL="73793" marR="73793" marT="98390" marB="98390" anchor="ctr"/>
                </a:tc>
                <a:tc>
                  <a:txBody>
                    <a:bodyPr/>
                    <a:lstStyle/>
                    <a:p>
                      <a:pPr algn="l" rtl="0">
                        <a:buNone/>
                      </a:pPr>
                      <a:r>
                        <a:rPr lang="en-US" sz="2000">
                          <a:solidFill>
                            <a:srgbClr val="1F1F1F"/>
                          </a:solidFill>
                          <a:effectLst/>
                          <a:latin typeface="Comic Sans MS" panose="030F0702030302020204" pitchFamily="66" charset="0"/>
                        </a:rPr>
                        <a:t>Simple benchmark for seasonal repetition.</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1638.08</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1925.47</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37.2%</a:t>
                      </a:r>
                    </a:p>
                  </a:txBody>
                  <a:tcPr marL="73793" marR="73793" marT="98390" marB="98390" anchor="ctr"/>
                </a:tc>
                <a:extLst>
                  <a:ext uri="{0D108BD9-81ED-4DB2-BD59-A6C34878D82A}">
                    <a16:rowId xmlns:a16="http://schemas.microsoft.com/office/drawing/2014/main" val="3556643121"/>
                  </a:ext>
                </a:extLst>
              </a:tr>
              <a:tr h="860917">
                <a:tc>
                  <a:txBody>
                    <a:bodyPr/>
                    <a:lstStyle/>
                    <a:p>
                      <a:pPr algn="ctr" rtl="0">
                        <a:buNone/>
                      </a:pPr>
                      <a:r>
                        <a:rPr lang="en-US" sz="2000" b="0">
                          <a:solidFill>
                            <a:srgbClr val="1F1F1F"/>
                          </a:solidFill>
                          <a:effectLst/>
                          <a:latin typeface="Comic Sans MS" panose="030F0702030302020204" pitchFamily="66" charset="0"/>
                        </a:rPr>
                        <a:t>Holt-Winters</a:t>
                      </a:r>
                    </a:p>
                  </a:txBody>
                  <a:tcPr marL="73793" marR="73793" marT="98390" marB="98390" anchor="ctr"/>
                </a:tc>
                <a:tc>
                  <a:txBody>
                    <a:bodyPr/>
                    <a:lstStyle/>
                    <a:p>
                      <a:pPr algn="l" rtl="0">
                        <a:buNone/>
                      </a:pPr>
                      <a:r>
                        <a:rPr lang="en-US" sz="2000">
                          <a:solidFill>
                            <a:srgbClr val="1F1F1F"/>
                          </a:solidFill>
                          <a:effectLst/>
                          <a:latin typeface="Comic Sans MS" panose="030F0702030302020204" pitchFamily="66" charset="0"/>
                        </a:rPr>
                        <a:t>Captures basic weekly seasonality.</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1695.08</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2250.31</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88.6%</a:t>
                      </a:r>
                    </a:p>
                  </a:txBody>
                  <a:tcPr marL="73793" marR="73793" marT="98390" marB="98390" anchor="ctr"/>
                </a:tc>
                <a:extLst>
                  <a:ext uri="{0D108BD9-81ED-4DB2-BD59-A6C34878D82A}">
                    <a16:rowId xmlns:a16="http://schemas.microsoft.com/office/drawing/2014/main" val="4148153618"/>
                  </a:ext>
                </a:extLst>
              </a:tr>
              <a:tr h="1082295">
                <a:tc>
                  <a:txBody>
                    <a:bodyPr/>
                    <a:lstStyle/>
                    <a:p>
                      <a:pPr algn="ctr" rtl="0">
                        <a:buNone/>
                      </a:pPr>
                      <a:r>
                        <a:rPr lang="en-US" sz="2000" b="0">
                          <a:solidFill>
                            <a:srgbClr val="1F1F1F"/>
                          </a:solidFill>
                          <a:effectLst/>
                          <a:latin typeface="Comic Sans MS" panose="030F0702030302020204" pitchFamily="66" charset="0"/>
                        </a:rPr>
                        <a:t>TBATS</a:t>
                      </a:r>
                    </a:p>
                  </a:txBody>
                  <a:tcPr marL="73793" marR="73793" marT="98390" marB="98390" anchor="ctr"/>
                </a:tc>
                <a:tc>
                  <a:txBody>
                    <a:bodyPr/>
                    <a:lstStyle/>
                    <a:p>
                      <a:pPr algn="l" rtl="0">
                        <a:buNone/>
                      </a:pPr>
                      <a:r>
                        <a:rPr lang="en-US" sz="2000">
                          <a:solidFill>
                            <a:srgbClr val="1F1F1F"/>
                          </a:solidFill>
                          <a:effectLst/>
                          <a:latin typeface="Comic Sans MS" panose="030F0702030302020204" pitchFamily="66" charset="0"/>
                        </a:rPr>
                        <a:t>Handles multiple seasonal cycles (7 &amp; 365).</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1415.95</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1968.86</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77.0%</a:t>
                      </a:r>
                    </a:p>
                  </a:txBody>
                  <a:tcPr marL="73793" marR="73793" marT="98390" marB="98390" anchor="ctr"/>
                </a:tc>
                <a:extLst>
                  <a:ext uri="{0D108BD9-81ED-4DB2-BD59-A6C34878D82A}">
                    <a16:rowId xmlns:a16="http://schemas.microsoft.com/office/drawing/2014/main" val="1629830019"/>
                  </a:ext>
                </a:extLst>
              </a:tr>
              <a:tr h="860917">
                <a:tc>
                  <a:txBody>
                    <a:bodyPr/>
                    <a:lstStyle/>
                    <a:p>
                      <a:pPr algn="ctr" rtl="0">
                        <a:buNone/>
                      </a:pPr>
                      <a:r>
                        <a:rPr lang="en-US" sz="2000" b="0">
                          <a:solidFill>
                            <a:srgbClr val="1F1F1F"/>
                          </a:solidFill>
                          <a:effectLst/>
                          <a:latin typeface="Comic Sans MS" panose="030F0702030302020204" pitchFamily="66" charset="0"/>
                        </a:rPr>
                        <a:t>ARIMA</a:t>
                      </a:r>
                    </a:p>
                  </a:txBody>
                  <a:tcPr marL="73793" marR="73793" marT="98390" marB="98390" anchor="ctr"/>
                </a:tc>
                <a:tc>
                  <a:txBody>
                    <a:bodyPr/>
                    <a:lstStyle/>
                    <a:p>
                      <a:pPr algn="l" rtl="0">
                        <a:buNone/>
                      </a:pPr>
                      <a:r>
                        <a:rPr lang="en-US" sz="2000" b="0">
                          <a:solidFill>
                            <a:srgbClr val="1F1F1F"/>
                          </a:solidFill>
                          <a:effectLst/>
                          <a:latin typeface="Comic Sans MS" panose="030F0702030302020204" pitchFamily="66" charset="0"/>
                        </a:rPr>
                        <a:t>Standard for stationary, linear trends.</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2118.59</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2682.05</a:t>
                      </a:r>
                    </a:p>
                  </a:txBody>
                  <a:tcPr marL="73793" marR="73793" marT="98390" marB="98390" anchor="ctr"/>
                </a:tc>
                <a:tc>
                  <a:txBody>
                    <a:bodyPr/>
                    <a:lstStyle/>
                    <a:p>
                      <a:pPr algn="ctr" rtl="0">
                        <a:buNone/>
                      </a:pPr>
                      <a:r>
                        <a:rPr lang="en-US" sz="2000" b="0">
                          <a:solidFill>
                            <a:srgbClr val="1F1F1F"/>
                          </a:solidFill>
                          <a:effectLst/>
                          <a:latin typeface="Comic Sans MS" panose="030F0702030302020204" pitchFamily="66" charset="0"/>
                        </a:rPr>
                        <a:t>104.7%</a:t>
                      </a:r>
                    </a:p>
                  </a:txBody>
                  <a:tcPr marL="73793" marR="73793" marT="98390" marB="98390" anchor="ctr"/>
                </a:tc>
                <a:extLst>
                  <a:ext uri="{0D108BD9-81ED-4DB2-BD59-A6C34878D82A}">
                    <a16:rowId xmlns:a16="http://schemas.microsoft.com/office/drawing/2014/main" val="2171093054"/>
                  </a:ext>
                </a:extLst>
              </a:tr>
            </a:tbl>
          </a:graphicData>
        </a:graphic>
      </p:graphicFrame>
      <p:sp>
        <p:nvSpPr>
          <p:cNvPr id="3" name="Rectangle 2">
            <a:extLst>
              <a:ext uri="{FF2B5EF4-FFF2-40B4-BE49-F238E27FC236}">
                <a16:creationId xmlns:a16="http://schemas.microsoft.com/office/drawing/2014/main" id="{EF054321-3687-B615-021E-57AE4FB36DA5}"/>
              </a:ext>
            </a:extLst>
          </p:cNvPr>
          <p:cNvSpPr>
            <a:spLocks noChangeArrowheads="1"/>
          </p:cNvSpPr>
          <p:nvPr/>
        </p:nvSpPr>
        <p:spPr bwMode="auto">
          <a:xfrm>
            <a:off x="2335114" y="7722440"/>
            <a:ext cx="1412162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a:ln>
                  <a:noFill/>
                </a:ln>
                <a:solidFill>
                  <a:schemeClr val="tx1"/>
                </a:solidFill>
                <a:effectLst/>
                <a:latin typeface="Comic Sans MS" panose="030F0702030302020204" pitchFamily="66" charset="0"/>
              </a:rPr>
              <a:t>TBATS:</a:t>
            </a:r>
            <a:r>
              <a:rPr kumimoji="0" lang="en-US" altLang="en-US" sz="2400" b="0" i="0" u="none" strike="noStrike" cap="none" normalizeH="0" baseline="0">
                <a:ln>
                  <a:noFill/>
                </a:ln>
                <a:solidFill>
                  <a:schemeClr val="tx1"/>
                </a:solidFill>
                <a:effectLst/>
                <a:latin typeface="Comic Sans MS" panose="030F0702030302020204" pitchFamily="66" charset="0"/>
              </a:rPr>
              <a:t> Lowest MAE, but weak on low-demand (high MAPE) </a:t>
            </a:r>
          </a:p>
          <a:p>
            <a:pPr marR="0" lvl="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a:ln>
                <a:noFill/>
              </a:ln>
              <a:solidFill>
                <a:schemeClr val="tx1"/>
              </a:solidFill>
              <a:effectLst/>
              <a:latin typeface="Comic Sans MS" panose="030F0702030302020204" pitchFamily="66"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a:ln>
                  <a:noFill/>
                </a:ln>
                <a:solidFill>
                  <a:schemeClr val="tx1"/>
                </a:solidFill>
                <a:effectLst/>
                <a:latin typeface="Comic Sans MS" panose="030F0702030302020204" pitchFamily="66" charset="0"/>
              </a:rPr>
              <a:t>Key Insight: </a:t>
            </a:r>
            <a:r>
              <a:rPr kumimoji="0" lang="en-US" altLang="en-US" sz="2400" b="0" i="0" u="none" strike="noStrike" cap="none" normalizeH="0" baseline="0">
                <a:ln>
                  <a:noFill/>
                </a:ln>
                <a:solidFill>
                  <a:schemeClr val="tx1"/>
                </a:solidFill>
                <a:effectLst/>
                <a:latin typeface="Comic Sans MS" panose="030F0702030302020204" pitchFamily="66" charset="0"/>
              </a:rPr>
              <a:t>Strong seasonality in bike demand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endParaRPr kumimoji="0" lang="en-US" altLang="en-US" sz="2400" b="0" i="0" u="none" strike="noStrike" cap="none" normalizeH="0" baseline="0">
              <a:ln>
                <a:noFill/>
              </a:ln>
              <a:solidFill>
                <a:schemeClr val="tx1"/>
              </a:solidFill>
              <a:effectLst/>
              <a:latin typeface="Comic Sans MS" panose="030F0702030302020204" pitchFamily="66"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a:ln>
                  <a:noFill/>
                </a:ln>
                <a:solidFill>
                  <a:schemeClr val="tx1"/>
                </a:solidFill>
                <a:effectLst/>
                <a:latin typeface="Comic Sans MS" panose="030F0702030302020204" pitchFamily="66" charset="0"/>
              </a:rPr>
              <a:t>Conclusion:</a:t>
            </a:r>
            <a:r>
              <a:rPr lang="en-US" altLang="en-US" sz="2400">
                <a:latin typeface="Comic Sans MS" panose="030F0702030302020204" pitchFamily="66" charset="0"/>
              </a:rPr>
              <a:t> </a:t>
            </a:r>
            <a:r>
              <a:rPr kumimoji="0" lang="en-US" altLang="en-US" sz="2400" b="0" i="0" u="none" strike="noStrike" cap="none" normalizeH="0" baseline="0">
                <a:ln>
                  <a:noFill/>
                </a:ln>
                <a:solidFill>
                  <a:schemeClr val="tx1"/>
                </a:solidFill>
                <a:effectLst/>
                <a:latin typeface="Comic Sans MS" panose="030F0702030302020204" pitchFamily="66" charset="0"/>
              </a:rPr>
              <a:t>Statistical models insufficient -&gt; moved to ML (</a:t>
            </a:r>
            <a:r>
              <a:rPr kumimoji="0" lang="en-US" altLang="en-US" sz="2400" b="0" i="0" u="none" strike="noStrike" cap="none" normalizeH="0" baseline="0" err="1">
                <a:ln>
                  <a:noFill/>
                </a:ln>
                <a:solidFill>
                  <a:schemeClr val="tx1"/>
                </a:solidFill>
                <a:effectLst/>
                <a:latin typeface="Comic Sans MS" panose="030F0702030302020204" pitchFamily="66" charset="0"/>
              </a:rPr>
              <a:t>XGBoost</a:t>
            </a:r>
            <a:r>
              <a:rPr kumimoji="0" lang="en-US" altLang="en-US" sz="2400" b="0" i="0" u="none" strike="noStrike" cap="none" normalizeH="0" baseline="0">
                <a:ln>
                  <a:noFill/>
                </a:ln>
                <a:solidFill>
                  <a:schemeClr val="tx1"/>
                </a:solidFill>
                <a:effectLst/>
                <a:latin typeface="Comic Sans MS" panose="030F0702030302020204" pitchFamily="66" charset="0"/>
              </a:rPr>
              <a:t>) </a:t>
            </a:r>
          </a:p>
        </p:txBody>
      </p:sp>
    </p:spTree>
    <p:extLst>
      <p:ext uri="{BB962C8B-B14F-4D97-AF65-F5344CB8AC3E}">
        <p14:creationId xmlns:p14="http://schemas.microsoft.com/office/powerpoint/2010/main" val="88229989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sp>
        <p:nvSpPr>
          <p:cNvPr id="4" name="Freeform 4"/>
          <p:cNvSpPr/>
          <p:nvPr/>
        </p:nvSpPr>
        <p:spPr>
          <a:xfrm>
            <a:off x="17305107" y="6506178"/>
            <a:ext cx="578602" cy="578602"/>
          </a:xfrm>
          <a:custGeom>
            <a:avLst/>
            <a:gdLst/>
            <a:ahLst/>
            <a:cxnLst/>
            <a:rect l="l" t="t" r="r" b="b"/>
            <a:pathLst>
              <a:path w="578602" h="578602">
                <a:moveTo>
                  <a:pt x="0" y="0"/>
                </a:moveTo>
                <a:lnTo>
                  <a:pt x="578602" y="0"/>
                </a:lnTo>
                <a:lnTo>
                  <a:pt x="578602" y="578602"/>
                </a:lnTo>
                <a:lnTo>
                  <a:pt x="0" y="578602"/>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TextBox 5"/>
          <p:cNvSpPr txBox="1"/>
          <p:nvPr/>
        </p:nvSpPr>
        <p:spPr>
          <a:xfrm>
            <a:off x="2094155" y="227590"/>
            <a:ext cx="13649793" cy="923330"/>
          </a:xfrm>
          <a:prstGeom prst="rect">
            <a:avLst/>
          </a:prstGeom>
        </p:spPr>
        <p:txBody>
          <a:bodyPr wrap="square" lIns="0" tIns="0" rIns="0" bIns="0" rtlCol="0" anchor="t">
            <a:spAutoFit/>
          </a:bodyPr>
          <a:lstStyle/>
          <a:p>
            <a:pPr algn="ctr"/>
            <a:r>
              <a:rPr lang="en-US" sz="6000" b="1">
                <a:latin typeface="Gabriola" panose="04040605051002020D02" pitchFamily="82" charset="0"/>
              </a:rPr>
              <a:t>Phase 2: Advanced Modeling Framework</a:t>
            </a:r>
          </a:p>
        </p:txBody>
      </p:sp>
      <p:sp>
        <p:nvSpPr>
          <p:cNvPr id="10" name="Freeform 10"/>
          <p:cNvSpPr/>
          <p:nvPr/>
        </p:nvSpPr>
        <p:spPr>
          <a:xfrm rot="-925859">
            <a:off x="16477690" y="140142"/>
            <a:ext cx="1250368" cy="1453916"/>
          </a:xfrm>
          <a:custGeom>
            <a:avLst/>
            <a:gdLst/>
            <a:ahLst/>
            <a:cxnLst/>
            <a:rect l="l" t="t" r="r" b="b"/>
            <a:pathLst>
              <a:path w="1250368" h="1453916">
                <a:moveTo>
                  <a:pt x="0" y="0"/>
                </a:moveTo>
                <a:lnTo>
                  <a:pt x="1250368" y="0"/>
                </a:lnTo>
                <a:lnTo>
                  <a:pt x="1250368" y="1453916"/>
                </a:lnTo>
                <a:lnTo>
                  <a:pt x="0" y="14539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1" name="Group 11"/>
          <p:cNvGrpSpPr/>
          <p:nvPr/>
        </p:nvGrpSpPr>
        <p:grpSpPr>
          <a:xfrm rot="-10800000">
            <a:off x="0" y="8469231"/>
            <a:ext cx="1573348" cy="1936429"/>
            <a:chOff x="0" y="0"/>
            <a:chExt cx="660400" cy="812800"/>
          </a:xfrm>
        </p:grpSpPr>
        <p:sp>
          <p:nvSpPr>
            <p:cNvPr id="12" name="Freeform 12"/>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p:cNvGrpSpPr/>
          <p:nvPr/>
        </p:nvGrpSpPr>
        <p:grpSpPr>
          <a:xfrm>
            <a:off x="533400" y="7594078"/>
            <a:ext cx="1268314" cy="1561002"/>
            <a:chOff x="0" y="0"/>
            <a:chExt cx="660400" cy="812800"/>
          </a:xfrm>
        </p:grpSpPr>
        <p:sp>
          <p:nvSpPr>
            <p:cNvPr id="15" name="Freeform 15"/>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sp>
        <p:nvSpPr>
          <p:cNvPr id="6" name="Rectangle: Diagonal Corners Rounded 5">
            <a:extLst>
              <a:ext uri="{FF2B5EF4-FFF2-40B4-BE49-F238E27FC236}">
                <a16:creationId xmlns:a16="http://schemas.microsoft.com/office/drawing/2014/main" id="{7508D76D-2DB4-4057-23FC-FF85B8AB4D80}"/>
              </a:ext>
            </a:extLst>
          </p:cNvPr>
          <p:cNvSpPr/>
          <p:nvPr/>
        </p:nvSpPr>
        <p:spPr>
          <a:xfrm>
            <a:off x="2288659" y="1671231"/>
            <a:ext cx="5855136" cy="3607605"/>
          </a:xfrm>
          <a:prstGeom prst="round2Diag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17" name="TextBox 16">
            <a:extLst>
              <a:ext uri="{FF2B5EF4-FFF2-40B4-BE49-F238E27FC236}">
                <a16:creationId xmlns:a16="http://schemas.microsoft.com/office/drawing/2014/main" id="{CCA18BA2-8926-F2C4-723A-11BAF45A6499}"/>
              </a:ext>
            </a:extLst>
          </p:cNvPr>
          <p:cNvSpPr txBox="1"/>
          <p:nvPr/>
        </p:nvSpPr>
        <p:spPr>
          <a:xfrm>
            <a:off x="2453422" y="1941634"/>
            <a:ext cx="5791201" cy="2800767"/>
          </a:xfrm>
          <a:prstGeom prst="rect">
            <a:avLst/>
          </a:prstGeom>
          <a:noFill/>
        </p:spPr>
        <p:txBody>
          <a:bodyPr wrap="square" rtlCol="0">
            <a:spAutoFit/>
          </a:bodyPr>
          <a:lstStyle/>
          <a:p>
            <a:r>
              <a:rPr lang="en-US" sz="2800" b="1">
                <a:latin typeface="Comic Sans MS" panose="030F0702030302020204" pitchFamily="66" charset="0"/>
              </a:rPr>
              <a:t>🚀 Prophet Framework</a:t>
            </a:r>
          </a:p>
          <a:p>
            <a:endParaRPr lang="en-US" sz="2800" b="1">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Multi-seasonality:</a:t>
            </a:r>
            <a:r>
              <a:rPr lang="en-US" sz="2400">
                <a:latin typeface="Comic Sans MS" panose="030F0702030302020204" pitchFamily="66" charset="0"/>
              </a:rPr>
              <a:t> Annual + Weekly </a:t>
            </a:r>
          </a:p>
          <a:p>
            <a:r>
              <a:rPr lang="en-US" sz="2400">
                <a:latin typeface="Comic Sans MS" panose="030F0702030302020204" pitchFamily="66" charset="0"/>
              </a:rPr>
              <a:t>🎉 </a:t>
            </a:r>
            <a:r>
              <a:rPr lang="en-US" sz="2400" b="1">
                <a:latin typeface="Comic Sans MS" panose="030F0702030302020204" pitchFamily="66" charset="0"/>
              </a:rPr>
              <a:t>Holiday effects:</a:t>
            </a:r>
            <a:r>
              <a:rPr lang="en-US" sz="2400">
                <a:latin typeface="Comic Sans MS" panose="030F0702030302020204" pitchFamily="66" charset="0"/>
              </a:rPr>
              <a:t> Built-in US calendar </a:t>
            </a:r>
          </a:p>
          <a:p>
            <a:r>
              <a:rPr lang="en-US" sz="2400">
                <a:latin typeface="Comic Sans MS" panose="030F0702030302020204" pitchFamily="66" charset="0"/>
              </a:rPr>
              <a:t>🌦 </a:t>
            </a:r>
            <a:r>
              <a:rPr lang="en-US" sz="2400" b="1">
                <a:latin typeface="Comic Sans MS" panose="030F0702030302020204" pitchFamily="66" charset="0"/>
              </a:rPr>
              <a:t>External regressors:</a:t>
            </a:r>
            <a:r>
              <a:rPr lang="en-US" sz="2400">
                <a:latin typeface="Comic Sans MS" panose="030F0702030302020204" pitchFamily="66" charset="0"/>
              </a:rPr>
              <a:t> Weather features</a:t>
            </a:r>
          </a:p>
        </p:txBody>
      </p:sp>
      <p:sp>
        <p:nvSpPr>
          <p:cNvPr id="2" name="Rectangle: Diagonal Corners Rounded 1">
            <a:extLst>
              <a:ext uri="{FF2B5EF4-FFF2-40B4-BE49-F238E27FC236}">
                <a16:creationId xmlns:a16="http://schemas.microsoft.com/office/drawing/2014/main" id="{47CFCDA1-3247-B66B-D4CA-C27F32DB0D12}"/>
              </a:ext>
            </a:extLst>
          </p:cNvPr>
          <p:cNvSpPr/>
          <p:nvPr/>
        </p:nvSpPr>
        <p:spPr>
          <a:xfrm>
            <a:off x="10744200" y="1671231"/>
            <a:ext cx="6019800" cy="3693074"/>
          </a:xfrm>
          <a:prstGeom prst="round2Diag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TextBox 7">
            <a:extLst>
              <a:ext uri="{FF2B5EF4-FFF2-40B4-BE49-F238E27FC236}">
                <a16:creationId xmlns:a16="http://schemas.microsoft.com/office/drawing/2014/main" id="{0ABFD31F-19B0-68D6-D7AE-F1F9FA94870F}"/>
              </a:ext>
            </a:extLst>
          </p:cNvPr>
          <p:cNvSpPr txBox="1"/>
          <p:nvPr/>
        </p:nvSpPr>
        <p:spPr>
          <a:xfrm rot="10800000" flipH="1" flipV="1">
            <a:off x="10985090" y="1975483"/>
            <a:ext cx="5791201" cy="2431435"/>
          </a:xfrm>
          <a:prstGeom prst="rect">
            <a:avLst/>
          </a:prstGeom>
          <a:noFill/>
        </p:spPr>
        <p:txBody>
          <a:bodyPr wrap="square" rtlCol="0">
            <a:spAutoFit/>
          </a:bodyPr>
          <a:lstStyle/>
          <a:p>
            <a:r>
              <a:rPr lang="en-US" sz="2800" b="1">
                <a:latin typeface="Comic Sans MS" panose="030F0702030302020204" pitchFamily="66" charset="0"/>
              </a:rPr>
              <a:t>⚙️ </a:t>
            </a:r>
            <a:r>
              <a:rPr lang="en-US" sz="2800" b="1" err="1">
                <a:latin typeface="Comic Sans MS" panose="030F0702030302020204" pitchFamily="66" charset="0"/>
              </a:rPr>
              <a:t>XGBoost</a:t>
            </a:r>
            <a:r>
              <a:rPr lang="en-US" sz="2800" b="1">
                <a:latin typeface="Comic Sans MS" panose="030F0702030302020204" pitchFamily="66" charset="0"/>
              </a:rPr>
              <a:t> Engine</a:t>
            </a:r>
          </a:p>
          <a:p>
            <a:endParaRPr lang="en-US" sz="2800" b="1">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Lag features:</a:t>
            </a:r>
            <a:r>
              <a:rPr lang="en-US" sz="2400">
                <a:latin typeface="Comic Sans MS" panose="030F0702030302020204" pitchFamily="66" charset="0"/>
              </a:rPr>
              <a:t> 1, 7, 30-day memory </a:t>
            </a:r>
          </a:p>
          <a:p>
            <a:r>
              <a:rPr lang="en-US" sz="2400">
                <a:latin typeface="Comic Sans MS" panose="030F0702030302020204" pitchFamily="66" charset="0"/>
              </a:rPr>
              <a:t>📉 </a:t>
            </a:r>
            <a:r>
              <a:rPr lang="en-US" sz="2400" b="1">
                <a:latin typeface="Comic Sans MS" panose="030F0702030302020204" pitchFamily="66" charset="0"/>
              </a:rPr>
              <a:t>Non-linearity:</a:t>
            </a:r>
            <a:r>
              <a:rPr lang="en-US" sz="2400">
                <a:latin typeface="Comic Sans MS" panose="030F0702030302020204" pitchFamily="66" charset="0"/>
              </a:rPr>
              <a:t> Captures complex demand </a:t>
            </a:r>
          </a:p>
          <a:p>
            <a:r>
              <a:rPr lang="en-US" sz="2400">
                <a:latin typeface="Comic Sans MS" panose="030F0702030302020204" pitchFamily="66" charset="0"/>
              </a:rPr>
              <a:t>🧪 </a:t>
            </a:r>
            <a:r>
              <a:rPr lang="en-US" sz="2400" b="1">
                <a:latin typeface="Comic Sans MS" panose="030F0702030302020204" pitchFamily="66" charset="0"/>
              </a:rPr>
              <a:t>CV tuning:</a:t>
            </a:r>
            <a:r>
              <a:rPr lang="en-US" sz="2400">
                <a:latin typeface="Comic Sans MS" panose="030F0702030302020204" pitchFamily="66" charset="0"/>
              </a:rPr>
              <a:t> 5-fold optimization</a:t>
            </a:r>
          </a:p>
        </p:txBody>
      </p:sp>
      <p:graphicFrame>
        <p:nvGraphicFramePr>
          <p:cNvPr id="22" name="Table 21">
            <a:extLst>
              <a:ext uri="{FF2B5EF4-FFF2-40B4-BE49-F238E27FC236}">
                <a16:creationId xmlns:a16="http://schemas.microsoft.com/office/drawing/2014/main" id="{758136AF-50EE-73E3-4C6D-C7A6DACE87AA}"/>
              </a:ext>
            </a:extLst>
          </p:cNvPr>
          <p:cNvGraphicFramePr>
            <a:graphicFrameLocks noGrp="1"/>
          </p:cNvGraphicFramePr>
          <p:nvPr>
            <p:extLst>
              <p:ext uri="{D42A27DB-BD31-4B8C-83A1-F6EECF244321}">
                <p14:modId xmlns:p14="http://schemas.microsoft.com/office/powerpoint/2010/main" val="3167010527"/>
              </p:ext>
            </p:extLst>
          </p:nvPr>
        </p:nvGraphicFramePr>
        <p:xfrm>
          <a:off x="3581399" y="6328335"/>
          <a:ext cx="12725400" cy="1461924"/>
        </p:xfrm>
        <a:graphic>
          <a:graphicData uri="http://schemas.openxmlformats.org/drawingml/2006/table">
            <a:tbl>
              <a:tblPr/>
              <a:tblGrid>
                <a:gridCol w="3181350">
                  <a:extLst>
                    <a:ext uri="{9D8B030D-6E8A-4147-A177-3AD203B41FA5}">
                      <a16:colId xmlns:a16="http://schemas.microsoft.com/office/drawing/2014/main" val="3526270913"/>
                    </a:ext>
                  </a:extLst>
                </a:gridCol>
                <a:gridCol w="3181350">
                  <a:extLst>
                    <a:ext uri="{9D8B030D-6E8A-4147-A177-3AD203B41FA5}">
                      <a16:colId xmlns:a16="http://schemas.microsoft.com/office/drawing/2014/main" val="2633757791"/>
                    </a:ext>
                  </a:extLst>
                </a:gridCol>
                <a:gridCol w="3181350">
                  <a:extLst>
                    <a:ext uri="{9D8B030D-6E8A-4147-A177-3AD203B41FA5}">
                      <a16:colId xmlns:a16="http://schemas.microsoft.com/office/drawing/2014/main" val="1914635095"/>
                    </a:ext>
                  </a:extLst>
                </a:gridCol>
                <a:gridCol w="3181350">
                  <a:extLst>
                    <a:ext uri="{9D8B030D-6E8A-4147-A177-3AD203B41FA5}">
                      <a16:colId xmlns:a16="http://schemas.microsoft.com/office/drawing/2014/main" val="3675549803"/>
                    </a:ext>
                  </a:extLst>
                </a:gridCol>
              </a:tblGrid>
              <a:tr h="487308">
                <a:tc>
                  <a:txBody>
                    <a:bodyPr/>
                    <a:lstStyle/>
                    <a:p>
                      <a:pPr>
                        <a:buNone/>
                      </a:pPr>
                      <a:r>
                        <a:rPr lang="en-US" sz="2400">
                          <a:latin typeface="Comic Sans MS" panose="030F0702030302020204" pitchFamily="66" charset="0"/>
                        </a:rPr>
                        <a:t>Model</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latin typeface="Comic Sans MS" panose="030F0702030302020204" pitchFamily="66" charset="0"/>
                        </a:rPr>
                        <a:t>MAE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latin typeface="Comic Sans MS" panose="030F0702030302020204" pitchFamily="66" charset="0"/>
                        </a:rPr>
                        <a:t>RMSE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latin typeface="Comic Sans MS" panose="030F0702030302020204" pitchFamily="66" charset="0"/>
                        </a:rPr>
                        <a:t>MAPE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956804"/>
                  </a:ext>
                </a:extLst>
              </a:tr>
              <a:tr h="487308">
                <a:tc>
                  <a:txBody>
                    <a:bodyPr/>
                    <a:lstStyle/>
                    <a:p>
                      <a:pPr>
                        <a:buNone/>
                      </a:pPr>
                      <a:r>
                        <a:rPr lang="en-US" sz="2400">
                          <a:latin typeface="Comic Sans MS" panose="030F0702030302020204" pitchFamily="66" charset="0"/>
                        </a:rPr>
                        <a:t>🏆 XGBoost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latin typeface="Comic Sans MS" panose="030F0702030302020204" pitchFamily="66" charset="0"/>
                        </a:rPr>
                        <a:t>666.09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latin typeface="Comic Sans MS" panose="030F0702030302020204" pitchFamily="66" charset="0"/>
                        </a:rPr>
                        <a:t>831.93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b="1">
                          <a:latin typeface="Comic Sans MS" panose="030F0702030302020204" pitchFamily="66" charset="0"/>
                        </a:rPr>
                        <a:t>23.75%</a:t>
                      </a:r>
                      <a:endParaRPr lang="en-US" sz="2400">
                        <a:latin typeface="Comic Sans MS" panose="030F0702030302020204" pitchFamily="66"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81938718"/>
                  </a:ext>
                </a:extLst>
              </a:tr>
              <a:tr h="487308">
                <a:tc>
                  <a:txBody>
                    <a:bodyPr/>
                    <a:lstStyle/>
                    <a:p>
                      <a:pPr>
                        <a:buNone/>
                      </a:pPr>
                      <a:r>
                        <a:rPr lang="en-US" sz="2400">
                          <a:latin typeface="Comic Sans MS" panose="030F0702030302020204" pitchFamily="66" charset="0"/>
                        </a:rPr>
                        <a:t>🔵 Prophet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latin typeface="Comic Sans MS" panose="030F0702030302020204" pitchFamily="66" charset="0"/>
                        </a:rPr>
                        <a:t>691.78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latin typeface="Comic Sans MS" panose="030F0702030302020204" pitchFamily="66" charset="0"/>
                        </a:rPr>
                        <a:t>941.02</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buNone/>
                      </a:pPr>
                      <a:r>
                        <a:rPr lang="en-US" sz="2400">
                          <a:latin typeface="Comic Sans MS" panose="030F0702030302020204" pitchFamily="66" charset="0"/>
                        </a:rPr>
                        <a:t>25.6%</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3217075"/>
                  </a:ext>
                </a:extLst>
              </a:tr>
            </a:tbl>
          </a:graphicData>
        </a:graphic>
      </p:graphicFrame>
      <p:sp>
        <p:nvSpPr>
          <p:cNvPr id="23" name="Rectangle 1">
            <a:extLst>
              <a:ext uri="{FF2B5EF4-FFF2-40B4-BE49-F238E27FC236}">
                <a16:creationId xmlns:a16="http://schemas.microsoft.com/office/drawing/2014/main" id="{DCC75789-C54C-2BC5-6C51-F0D10C51654C}"/>
              </a:ext>
            </a:extLst>
          </p:cNvPr>
          <p:cNvSpPr>
            <a:spLocks noChangeArrowheads="1"/>
          </p:cNvSpPr>
          <p:nvPr/>
        </p:nvSpPr>
        <p:spPr bwMode="auto">
          <a:xfrm>
            <a:off x="5181599" y="5736577"/>
            <a:ext cx="5791201"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a:ln>
                  <a:noFill/>
                </a:ln>
                <a:solidFill>
                  <a:schemeClr val="tx1"/>
                </a:solidFill>
                <a:effectLst/>
                <a:latin typeface="Comic Sans MS" panose="030F0702030302020204" pitchFamily="66" charset="0"/>
              </a:rPr>
              <a:t>Model Performance Comparison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a:ln>
                <a:noFill/>
              </a:ln>
              <a:solidFill>
                <a:schemeClr val="tx1"/>
              </a:solidFill>
              <a:effectLst/>
              <a:latin typeface="Comic Sans MS" panose="030F0702030302020204" pitchFamily="66" charset="0"/>
            </a:endParaRPr>
          </a:p>
        </p:txBody>
      </p:sp>
      <p:sp>
        <p:nvSpPr>
          <p:cNvPr id="24" name="Rectangle: Rounded Corners 23">
            <a:extLst>
              <a:ext uri="{FF2B5EF4-FFF2-40B4-BE49-F238E27FC236}">
                <a16:creationId xmlns:a16="http://schemas.microsoft.com/office/drawing/2014/main" id="{430AE64B-5E76-1359-C9CF-FE4D013CB250}"/>
              </a:ext>
            </a:extLst>
          </p:cNvPr>
          <p:cNvSpPr/>
          <p:nvPr/>
        </p:nvSpPr>
        <p:spPr>
          <a:xfrm>
            <a:off x="3962400" y="8410861"/>
            <a:ext cx="10896600" cy="1561002"/>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 name="TextBox 24">
            <a:extLst>
              <a:ext uri="{FF2B5EF4-FFF2-40B4-BE49-F238E27FC236}">
                <a16:creationId xmlns:a16="http://schemas.microsoft.com/office/drawing/2014/main" id="{272B36FD-3B2B-89AC-5E53-680B5C6623AB}"/>
              </a:ext>
            </a:extLst>
          </p:cNvPr>
          <p:cNvSpPr txBox="1"/>
          <p:nvPr/>
        </p:nvSpPr>
        <p:spPr>
          <a:xfrm>
            <a:off x="4334798" y="8595527"/>
            <a:ext cx="11294806" cy="892552"/>
          </a:xfrm>
          <a:prstGeom prst="rect">
            <a:avLst/>
          </a:prstGeom>
          <a:noFill/>
        </p:spPr>
        <p:txBody>
          <a:bodyPr wrap="square" rtlCol="0">
            <a:spAutoFit/>
          </a:bodyPr>
          <a:lstStyle/>
          <a:p>
            <a:r>
              <a:rPr lang="en-US" sz="2800">
                <a:latin typeface="Comic Sans MS" panose="030F0702030302020204" pitchFamily="66" charset="0"/>
              </a:rPr>
              <a:t>💡 </a:t>
            </a:r>
            <a:r>
              <a:rPr lang="en-US" sz="2800" b="1">
                <a:latin typeface="Comic Sans MS" panose="030F0702030302020204" pitchFamily="66" charset="0"/>
              </a:rPr>
              <a:t>Insight:</a:t>
            </a:r>
            <a:r>
              <a:rPr lang="en-US" sz="2800">
                <a:latin typeface="Comic Sans MS" panose="030F0702030302020204" pitchFamily="66" charset="0"/>
              </a:rPr>
              <a:t> </a:t>
            </a:r>
          </a:p>
          <a:p>
            <a:r>
              <a:rPr lang="en-US" sz="2400" err="1">
                <a:latin typeface="Comic Sans MS" panose="030F0702030302020204" pitchFamily="66" charset="0"/>
              </a:rPr>
              <a:t>XGBoost</a:t>
            </a:r>
            <a:r>
              <a:rPr lang="en-US" sz="2400">
                <a:latin typeface="Comic Sans MS" panose="030F0702030302020204" pitchFamily="66" charset="0"/>
              </a:rPr>
              <a:t> outperforms due to lag-driven memory + nonlinear modeling</a:t>
            </a:r>
          </a:p>
        </p:txBody>
      </p:sp>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066A2639-297B-5E91-1D58-8C4C733F526C}"/>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B4EBE4BC-12EF-CFDE-DE73-5B37ECEBB3E4}"/>
              </a:ext>
            </a:extLst>
          </p:cNvPr>
          <p:cNvSpPr/>
          <p:nvPr/>
        </p:nvSpPr>
        <p:spPr>
          <a:xfrm>
            <a:off x="17305107" y="6506178"/>
            <a:ext cx="578602" cy="578602"/>
          </a:xfrm>
          <a:custGeom>
            <a:avLst/>
            <a:gdLst/>
            <a:ahLst/>
            <a:cxnLst/>
            <a:rect l="l" t="t" r="r" b="b"/>
            <a:pathLst>
              <a:path w="578602" h="578602">
                <a:moveTo>
                  <a:pt x="0" y="0"/>
                </a:moveTo>
                <a:lnTo>
                  <a:pt x="578602" y="0"/>
                </a:lnTo>
                <a:lnTo>
                  <a:pt x="578602" y="578602"/>
                </a:lnTo>
                <a:lnTo>
                  <a:pt x="0" y="578602"/>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TextBox 5">
            <a:extLst>
              <a:ext uri="{FF2B5EF4-FFF2-40B4-BE49-F238E27FC236}">
                <a16:creationId xmlns:a16="http://schemas.microsoft.com/office/drawing/2014/main" id="{2213C129-928F-16D9-34F1-9A9A1898B4B2}"/>
              </a:ext>
            </a:extLst>
          </p:cNvPr>
          <p:cNvSpPr txBox="1"/>
          <p:nvPr/>
        </p:nvSpPr>
        <p:spPr>
          <a:xfrm>
            <a:off x="2094155" y="227590"/>
            <a:ext cx="13649793" cy="923330"/>
          </a:xfrm>
          <a:prstGeom prst="rect">
            <a:avLst/>
          </a:prstGeom>
        </p:spPr>
        <p:txBody>
          <a:bodyPr wrap="square" lIns="0" tIns="0" rIns="0" bIns="0" rtlCol="0" anchor="t">
            <a:spAutoFit/>
          </a:bodyPr>
          <a:lstStyle/>
          <a:p>
            <a:pPr algn="ctr"/>
            <a:r>
              <a:rPr lang="en-US" sz="6000" b="1">
                <a:latin typeface="Gabriola" panose="04040605051002020D02" pitchFamily="82" charset="0"/>
              </a:rPr>
              <a:t>Phase 3: The Final Showdown</a:t>
            </a:r>
          </a:p>
        </p:txBody>
      </p:sp>
      <p:sp>
        <p:nvSpPr>
          <p:cNvPr id="10" name="Freeform 10">
            <a:extLst>
              <a:ext uri="{FF2B5EF4-FFF2-40B4-BE49-F238E27FC236}">
                <a16:creationId xmlns:a16="http://schemas.microsoft.com/office/drawing/2014/main" id="{E1D7CE15-BEC4-6B4A-DFB0-A96D33A02676}"/>
              </a:ext>
            </a:extLst>
          </p:cNvPr>
          <p:cNvSpPr/>
          <p:nvPr/>
        </p:nvSpPr>
        <p:spPr>
          <a:xfrm rot="-925859">
            <a:off x="16477690" y="140142"/>
            <a:ext cx="1250368" cy="1453916"/>
          </a:xfrm>
          <a:custGeom>
            <a:avLst/>
            <a:gdLst/>
            <a:ahLst/>
            <a:cxnLst/>
            <a:rect l="l" t="t" r="r" b="b"/>
            <a:pathLst>
              <a:path w="1250368" h="1453916">
                <a:moveTo>
                  <a:pt x="0" y="0"/>
                </a:moveTo>
                <a:lnTo>
                  <a:pt x="1250368" y="0"/>
                </a:lnTo>
                <a:lnTo>
                  <a:pt x="1250368" y="1453916"/>
                </a:lnTo>
                <a:lnTo>
                  <a:pt x="0" y="14539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1" name="Group 11">
            <a:extLst>
              <a:ext uri="{FF2B5EF4-FFF2-40B4-BE49-F238E27FC236}">
                <a16:creationId xmlns:a16="http://schemas.microsoft.com/office/drawing/2014/main" id="{68D2BB4E-A7CE-F077-C202-DAA23D6944C9}"/>
              </a:ext>
            </a:extLst>
          </p:cNvPr>
          <p:cNvGrpSpPr/>
          <p:nvPr/>
        </p:nvGrpSpPr>
        <p:grpSpPr>
          <a:xfrm rot="-10800000">
            <a:off x="16714652" y="8270053"/>
            <a:ext cx="1573348" cy="1936429"/>
            <a:chOff x="0" y="0"/>
            <a:chExt cx="660400" cy="812800"/>
          </a:xfrm>
        </p:grpSpPr>
        <p:sp>
          <p:nvSpPr>
            <p:cNvPr id="12" name="Freeform 12">
              <a:extLst>
                <a:ext uri="{FF2B5EF4-FFF2-40B4-BE49-F238E27FC236}">
                  <a16:creationId xmlns:a16="http://schemas.microsoft.com/office/drawing/2014/main" id="{C394B79E-DAD3-A26F-9E7D-A45FD849612D}"/>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5E9DBE88-4B57-BC76-B583-C142923631B4}"/>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597C9820-733C-99D5-18A8-25D66E88441F}"/>
              </a:ext>
            </a:extLst>
          </p:cNvPr>
          <p:cNvGrpSpPr/>
          <p:nvPr/>
        </p:nvGrpSpPr>
        <p:grpSpPr>
          <a:xfrm>
            <a:off x="17653843" y="7257978"/>
            <a:ext cx="1268314" cy="1561002"/>
            <a:chOff x="0" y="0"/>
            <a:chExt cx="660400" cy="812800"/>
          </a:xfrm>
        </p:grpSpPr>
        <p:sp>
          <p:nvSpPr>
            <p:cNvPr id="15" name="Freeform 15">
              <a:extLst>
                <a:ext uri="{FF2B5EF4-FFF2-40B4-BE49-F238E27FC236}">
                  <a16:creationId xmlns:a16="http://schemas.microsoft.com/office/drawing/2014/main" id="{B2ED1C2D-1018-FC0C-6997-F80D14247E8D}"/>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7672321B-FC4F-AFDA-531B-CB00D116984E}"/>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3" name="Picture 2">
            <a:extLst>
              <a:ext uri="{FF2B5EF4-FFF2-40B4-BE49-F238E27FC236}">
                <a16:creationId xmlns:a16="http://schemas.microsoft.com/office/drawing/2014/main" id="{02352E37-8BCC-D320-D701-4293DDA01345}"/>
              </a:ext>
            </a:extLst>
          </p:cNvPr>
          <p:cNvPicPr>
            <a:picLocks noChangeAspect="1"/>
          </p:cNvPicPr>
          <p:nvPr/>
        </p:nvPicPr>
        <p:blipFill>
          <a:blip r:embed="rId5"/>
          <a:stretch>
            <a:fillRect/>
          </a:stretch>
        </p:blipFill>
        <p:spPr>
          <a:xfrm>
            <a:off x="5947331" y="1734200"/>
            <a:ext cx="12325921" cy="7997517"/>
          </a:xfrm>
          <a:prstGeom prst="rect">
            <a:avLst/>
          </a:prstGeom>
        </p:spPr>
      </p:pic>
      <p:sp>
        <p:nvSpPr>
          <p:cNvPr id="2" name="TextBox 1">
            <a:extLst>
              <a:ext uri="{FF2B5EF4-FFF2-40B4-BE49-F238E27FC236}">
                <a16:creationId xmlns:a16="http://schemas.microsoft.com/office/drawing/2014/main" id="{982449A5-7A46-EBC0-48E9-91AE4461181C}"/>
              </a:ext>
            </a:extLst>
          </p:cNvPr>
          <p:cNvSpPr txBox="1"/>
          <p:nvPr/>
        </p:nvSpPr>
        <p:spPr>
          <a:xfrm>
            <a:off x="404291" y="2656934"/>
            <a:ext cx="5776452" cy="5293757"/>
          </a:xfrm>
          <a:prstGeom prst="rect">
            <a:avLst/>
          </a:prstGeom>
          <a:noFill/>
        </p:spPr>
        <p:txBody>
          <a:bodyPr wrap="square" rtlCol="0">
            <a:spAutoFit/>
          </a:bodyPr>
          <a:lstStyle/>
          <a:p>
            <a:r>
              <a:rPr lang="en-US" sz="2800" b="1">
                <a:latin typeface="Comic Sans MS" panose="030F0702030302020204" pitchFamily="66" charset="0"/>
              </a:rPr>
              <a:t>Key Performance Insights</a:t>
            </a:r>
          </a:p>
          <a:p>
            <a:endParaRPr lang="en-US" sz="2800" b="1">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Best Models:</a:t>
            </a:r>
            <a:r>
              <a:rPr lang="en-US" sz="2400">
                <a:latin typeface="Comic Sans MS" panose="030F0702030302020204" pitchFamily="66" charset="0"/>
              </a:rPr>
              <a:t> </a:t>
            </a:r>
            <a:r>
              <a:rPr lang="en-US" sz="2400" err="1">
                <a:latin typeface="Comic Sans MS" panose="030F0702030302020204" pitchFamily="66" charset="0"/>
              </a:rPr>
              <a:t>XGBoost</a:t>
            </a:r>
            <a:r>
              <a:rPr lang="en-US" sz="2400">
                <a:latin typeface="Comic Sans MS" panose="030F0702030302020204" pitchFamily="66" charset="0"/>
              </a:rPr>
              <a:t> &amp; Prophet track actual demand most closely</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Weak Models:</a:t>
            </a:r>
            <a:r>
              <a:rPr lang="en-US" sz="2400">
                <a:latin typeface="Comic Sans MS" panose="030F0702030302020204" pitchFamily="66" charset="0"/>
              </a:rPr>
              <a:t> ARIMA &amp; TBATS miss sharp demand changes</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Volatility Capture:</a:t>
            </a:r>
            <a:r>
              <a:rPr lang="en-US" sz="2400">
                <a:latin typeface="Comic Sans MS" panose="030F0702030302020204" pitchFamily="66" charset="0"/>
              </a:rPr>
              <a:t> ML models capture weather/holiday dips</a:t>
            </a:r>
          </a:p>
          <a:p>
            <a:endParaRPr lang="en-US" sz="2400">
              <a:latin typeface="Comic Sans MS" panose="030F0702030302020204" pitchFamily="66" charset="0"/>
            </a:endParaRPr>
          </a:p>
          <a:p>
            <a:r>
              <a:rPr lang="en-US" sz="2400">
                <a:latin typeface="Comic Sans MS" panose="030F0702030302020204" pitchFamily="66" charset="0"/>
              </a:rPr>
              <a:t>🏆 </a:t>
            </a:r>
            <a:r>
              <a:rPr lang="en-US" sz="2400" b="1">
                <a:latin typeface="Comic Sans MS" panose="030F0702030302020204" pitchFamily="66" charset="0"/>
              </a:rPr>
              <a:t>Bottom Line:</a:t>
            </a:r>
            <a:r>
              <a:rPr lang="en-US" sz="2400">
                <a:latin typeface="Comic Sans MS" panose="030F0702030302020204" pitchFamily="66" charset="0"/>
              </a:rPr>
              <a:t> </a:t>
            </a:r>
            <a:r>
              <a:rPr lang="en-US" sz="2400" err="1">
                <a:latin typeface="Comic Sans MS" panose="030F0702030302020204" pitchFamily="66" charset="0"/>
              </a:rPr>
              <a:t>XGBoost</a:t>
            </a:r>
            <a:r>
              <a:rPr lang="en-US" sz="2400">
                <a:latin typeface="Comic Sans MS" panose="030F0702030302020204" pitchFamily="66" charset="0"/>
              </a:rPr>
              <a:t> = lowest error (MAPE ~23.8%)</a:t>
            </a:r>
          </a:p>
          <a:p>
            <a:endParaRPr lang="en-US">
              <a:latin typeface="Comic Sans MS" panose="030F0702030302020204" pitchFamily="66" charset="0"/>
            </a:endParaRPr>
          </a:p>
        </p:txBody>
      </p:sp>
      <p:sp>
        <p:nvSpPr>
          <p:cNvPr id="6" name="Freeform 14"/>
          <p:cNvSpPr/>
          <p:nvPr/>
        </p:nvSpPr>
        <p:spPr>
          <a:xfrm rot="20842598">
            <a:off x="61285" y="128483"/>
            <a:ext cx="1545166" cy="1814013"/>
          </a:xfrm>
          <a:custGeom>
            <a:avLst/>
            <a:gdLst/>
            <a:ahLst/>
            <a:cxnLst/>
            <a:rect l="l" t="t" r="r" b="b"/>
            <a:pathLst>
              <a:path w="1545166" h="1814013">
                <a:moveTo>
                  <a:pt x="0" y="0"/>
                </a:moveTo>
                <a:lnTo>
                  <a:pt x="1545166" y="0"/>
                </a:lnTo>
                <a:lnTo>
                  <a:pt x="1545166" y="1814014"/>
                </a:lnTo>
                <a:lnTo>
                  <a:pt x="0" y="181401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2549816025"/>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EE6D92FB-CC38-7115-86FA-1CD3CF4487C4}"/>
            </a:ext>
          </a:extLst>
        </p:cNvPr>
        <p:cNvGrpSpPr/>
        <p:nvPr/>
      </p:nvGrpSpPr>
      <p:grpSpPr>
        <a:xfrm>
          <a:off x="0" y="0"/>
          <a:ext cx="0" cy="0"/>
          <a:chOff x="0" y="0"/>
          <a:chExt cx="0" cy="0"/>
        </a:xfrm>
      </p:grpSpPr>
      <p:sp>
        <p:nvSpPr>
          <p:cNvPr id="4" name="Freeform 4">
            <a:extLst>
              <a:ext uri="{FF2B5EF4-FFF2-40B4-BE49-F238E27FC236}">
                <a16:creationId xmlns:a16="http://schemas.microsoft.com/office/drawing/2014/main" id="{F45D6E13-E70B-A8D8-5A0F-E139E5A78A0F}"/>
              </a:ext>
            </a:extLst>
          </p:cNvPr>
          <p:cNvSpPr/>
          <p:nvPr/>
        </p:nvSpPr>
        <p:spPr>
          <a:xfrm>
            <a:off x="17305107" y="6506178"/>
            <a:ext cx="578602" cy="578602"/>
          </a:xfrm>
          <a:custGeom>
            <a:avLst/>
            <a:gdLst/>
            <a:ahLst/>
            <a:cxnLst/>
            <a:rect l="l" t="t" r="r" b="b"/>
            <a:pathLst>
              <a:path w="578602" h="578602">
                <a:moveTo>
                  <a:pt x="0" y="0"/>
                </a:moveTo>
                <a:lnTo>
                  <a:pt x="578602" y="0"/>
                </a:lnTo>
                <a:lnTo>
                  <a:pt x="578602" y="578602"/>
                </a:lnTo>
                <a:lnTo>
                  <a:pt x="0" y="578602"/>
                </a:lnTo>
                <a:lnTo>
                  <a:pt x="0" y="0"/>
                </a:lnTo>
                <a:close/>
              </a:path>
            </a:pathLst>
          </a:custGeom>
          <a:blipFill>
            <a:blip>
              <a:extLst>
                <a:ext uri="{96DAC541-7B7A-43D3-8B79-37D633B846F1}">
                  <asvg:svgBlip xmlns:asvg="http://schemas.microsoft.com/office/drawing/2016/SVG/main" r:embed="rId3"/>
                </a:ext>
              </a:extLst>
            </a:blip>
            <a:stretch>
              <a:fillRect/>
            </a:stretch>
          </a:blipFill>
          <a:ln cap="sq">
            <a:noFill/>
            <a:prstDash val="solid"/>
            <a:miter/>
          </a:ln>
        </p:spPr>
        <p:txBody>
          <a:bodyPr/>
          <a:lstStyle/>
          <a:p>
            <a:endParaRPr lang="en-US"/>
          </a:p>
        </p:txBody>
      </p:sp>
      <p:sp>
        <p:nvSpPr>
          <p:cNvPr id="5" name="TextBox 5">
            <a:extLst>
              <a:ext uri="{FF2B5EF4-FFF2-40B4-BE49-F238E27FC236}">
                <a16:creationId xmlns:a16="http://schemas.microsoft.com/office/drawing/2014/main" id="{CF368A5F-C017-C084-54FB-6CF22E2DEFDC}"/>
              </a:ext>
            </a:extLst>
          </p:cNvPr>
          <p:cNvSpPr txBox="1"/>
          <p:nvPr/>
        </p:nvSpPr>
        <p:spPr>
          <a:xfrm>
            <a:off x="2094155" y="227590"/>
            <a:ext cx="13649793" cy="923330"/>
          </a:xfrm>
          <a:prstGeom prst="rect">
            <a:avLst/>
          </a:prstGeom>
        </p:spPr>
        <p:txBody>
          <a:bodyPr wrap="square" lIns="0" tIns="0" rIns="0" bIns="0" rtlCol="0" anchor="t">
            <a:spAutoFit/>
          </a:bodyPr>
          <a:lstStyle/>
          <a:p>
            <a:pPr algn="ctr"/>
            <a:r>
              <a:rPr lang="en-US" sz="6000" b="1">
                <a:latin typeface="Gabriola"/>
              </a:rPr>
              <a:t>XGBoost Feature Importance</a:t>
            </a:r>
          </a:p>
        </p:txBody>
      </p:sp>
      <p:sp>
        <p:nvSpPr>
          <p:cNvPr id="10" name="Freeform 10">
            <a:extLst>
              <a:ext uri="{FF2B5EF4-FFF2-40B4-BE49-F238E27FC236}">
                <a16:creationId xmlns:a16="http://schemas.microsoft.com/office/drawing/2014/main" id="{C62F2B89-5AF0-FE59-27DF-2F4747CEDF2E}"/>
              </a:ext>
            </a:extLst>
          </p:cNvPr>
          <p:cNvSpPr/>
          <p:nvPr/>
        </p:nvSpPr>
        <p:spPr>
          <a:xfrm rot="-925859">
            <a:off x="16477690" y="140142"/>
            <a:ext cx="1250368" cy="1453916"/>
          </a:xfrm>
          <a:custGeom>
            <a:avLst/>
            <a:gdLst/>
            <a:ahLst/>
            <a:cxnLst/>
            <a:rect l="l" t="t" r="r" b="b"/>
            <a:pathLst>
              <a:path w="1250368" h="1453916">
                <a:moveTo>
                  <a:pt x="0" y="0"/>
                </a:moveTo>
                <a:lnTo>
                  <a:pt x="1250368" y="0"/>
                </a:lnTo>
                <a:lnTo>
                  <a:pt x="1250368" y="1453916"/>
                </a:lnTo>
                <a:lnTo>
                  <a:pt x="0" y="145391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1" name="Group 11">
            <a:extLst>
              <a:ext uri="{FF2B5EF4-FFF2-40B4-BE49-F238E27FC236}">
                <a16:creationId xmlns:a16="http://schemas.microsoft.com/office/drawing/2014/main" id="{1B09080D-B37C-0FC7-C324-FC264C115CF1}"/>
              </a:ext>
            </a:extLst>
          </p:cNvPr>
          <p:cNvGrpSpPr/>
          <p:nvPr/>
        </p:nvGrpSpPr>
        <p:grpSpPr>
          <a:xfrm rot="-10800000">
            <a:off x="16714652" y="8270053"/>
            <a:ext cx="1573348" cy="1936429"/>
            <a:chOff x="0" y="0"/>
            <a:chExt cx="660400" cy="812800"/>
          </a:xfrm>
        </p:grpSpPr>
        <p:sp>
          <p:nvSpPr>
            <p:cNvPr id="12" name="Freeform 12">
              <a:extLst>
                <a:ext uri="{FF2B5EF4-FFF2-40B4-BE49-F238E27FC236}">
                  <a16:creationId xmlns:a16="http://schemas.microsoft.com/office/drawing/2014/main" id="{2CA33897-6E8D-C29D-89F1-9B91FF5906FC}"/>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268DCFFA-7BDF-F8F2-F072-2CBF7882F6C6}"/>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3058A877-DF15-2AA9-4577-9088B050EB89}"/>
              </a:ext>
            </a:extLst>
          </p:cNvPr>
          <p:cNvGrpSpPr/>
          <p:nvPr/>
        </p:nvGrpSpPr>
        <p:grpSpPr>
          <a:xfrm>
            <a:off x="17653843" y="7257978"/>
            <a:ext cx="1268314" cy="1561002"/>
            <a:chOff x="0" y="0"/>
            <a:chExt cx="660400" cy="812800"/>
          </a:xfrm>
        </p:grpSpPr>
        <p:sp>
          <p:nvSpPr>
            <p:cNvPr id="15" name="Freeform 15">
              <a:extLst>
                <a:ext uri="{FF2B5EF4-FFF2-40B4-BE49-F238E27FC236}">
                  <a16:creationId xmlns:a16="http://schemas.microsoft.com/office/drawing/2014/main" id="{E6F3248D-880B-D95D-11A0-AD9A9088A326}"/>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135069CF-3622-1322-F515-8795A8DA2FCA}"/>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6" name="Picture 5">
            <a:extLst>
              <a:ext uri="{FF2B5EF4-FFF2-40B4-BE49-F238E27FC236}">
                <a16:creationId xmlns:a16="http://schemas.microsoft.com/office/drawing/2014/main" id="{9355CD61-6BE5-C9EA-5A49-7C83E02A87A5}"/>
              </a:ext>
            </a:extLst>
          </p:cNvPr>
          <p:cNvPicPr>
            <a:picLocks noChangeAspect="1"/>
          </p:cNvPicPr>
          <p:nvPr/>
        </p:nvPicPr>
        <p:blipFill>
          <a:blip r:embed="rId5"/>
          <a:stretch>
            <a:fillRect/>
          </a:stretch>
        </p:blipFill>
        <p:spPr>
          <a:xfrm>
            <a:off x="67891" y="1715765"/>
            <a:ext cx="11412543" cy="7373379"/>
          </a:xfrm>
          <a:prstGeom prst="rect">
            <a:avLst/>
          </a:prstGeom>
        </p:spPr>
      </p:pic>
      <p:sp>
        <p:nvSpPr>
          <p:cNvPr id="7" name="TextBox 6">
            <a:extLst>
              <a:ext uri="{FF2B5EF4-FFF2-40B4-BE49-F238E27FC236}">
                <a16:creationId xmlns:a16="http://schemas.microsoft.com/office/drawing/2014/main" id="{8CBE9608-A2F8-B631-7CA0-D1DFF7A641D5}"/>
              </a:ext>
            </a:extLst>
          </p:cNvPr>
          <p:cNvSpPr txBox="1"/>
          <p:nvPr/>
        </p:nvSpPr>
        <p:spPr>
          <a:xfrm>
            <a:off x="11634043" y="3463243"/>
            <a:ext cx="6653957" cy="3077766"/>
          </a:xfrm>
          <a:prstGeom prst="rect">
            <a:avLst/>
          </a:prstGeom>
          <a:noFill/>
        </p:spPr>
        <p:txBody>
          <a:bodyPr wrap="square" rtlCol="0">
            <a:spAutoFit/>
          </a:bodyPr>
          <a:lstStyle/>
          <a:p>
            <a:r>
              <a:rPr lang="en-US" sz="2800" b="1">
                <a:latin typeface="Comic Sans MS" panose="030F0702030302020204" pitchFamily="66" charset="0"/>
              </a:rPr>
              <a:t>Predictive Insights</a:t>
            </a:r>
          </a:p>
          <a:p>
            <a:endParaRPr lang="en-US" sz="2800" b="1">
              <a:latin typeface="Comic Sans MS" panose="030F0702030302020204" pitchFamily="66" charset="0"/>
            </a:endParaRPr>
          </a:p>
          <a:p>
            <a:r>
              <a:rPr lang="en-US" sz="2400">
                <a:latin typeface="Comic Sans MS" panose="030F0702030302020204" pitchFamily="66" charset="0"/>
              </a:rPr>
              <a:t>The model heavily prioritizes </a:t>
            </a:r>
            <a:r>
              <a:rPr lang="en-US" sz="2400" b="1">
                <a:latin typeface="Comic Sans MS" panose="030F0702030302020204" pitchFamily="66" charset="0"/>
              </a:rPr>
              <a:t>Temperature</a:t>
            </a:r>
            <a:r>
              <a:rPr lang="en-US" sz="2400">
                <a:latin typeface="Comic Sans MS" panose="030F0702030302020204" pitchFamily="66" charset="0"/>
              </a:rPr>
              <a:t> and </a:t>
            </a:r>
            <a:r>
              <a:rPr lang="en-US" sz="2400" b="1">
                <a:latin typeface="Comic Sans MS" panose="030F0702030302020204" pitchFamily="66" charset="0"/>
              </a:rPr>
              <a:t>Lagged Ridership</a:t>
            </a:r>
            <a:r>
              <a:rPr lang="en-US" sz="2400">
                <a:latin typeface="Comic Sans MS" panose="030F0702030302020204" pitchFamily="66" charset="0"/>
              </a:rPr>
              <a:t>, confirming that DC's supply needs are driven by environmental comfort and historical memory.</a:t>
            </a:r>
          </a:p>
          <a:p>
            <a:endParaRPr lang="en-US">
              <a:latin typeface="Comic Sans MS" panose="030F0702030302020204" pitchFamily="66" charset="0"/>
            </a:endParaRPr>
          </a:p>
        </p:txBody>
      </p:sp>
      <p:sp>
        <p:nvSpPr>
          <p:cNvPr id="8" name="Freeform 10">
            <a:extLst>
              <a:ext uri="{FF2B5EF4-FFF2-40B4-BE49-F238E27FC236}">
                <a16:creationId xmlns:a16="http://schemas.microsoft.com/office/drawing/2014/main" id="{79FDC56D-8D4D-2BEF-08DB-F93604C0639E}"/>
              </a:ext>
            </a:extLst>
          </p:cNvPr>
          <p:cNvSpPr/>
          <p:nvPr/>
        </p:nvSpPr>
        <p:spPr>
          <a:xfrm>
            <a:off x="-2055130" y="-2399035"/>
            <a:ext cx="4246041" cy="4114800"/>
          </a:xfrm>
          <a:custGeom>
            <a:avLst/>
            <a:gdLst/>
            <a:ahLst/>
            <a:cxnLst/>
            <a:rect l="l" t="t" r="r" b="b"/>
            <a:pathLst>
              <a:path w="4246041" h="4114800">
                <a:moveTo>
                  <a:pt x="0" y="0"/>
                </a:moveTo>
                <a:lnTo>
                  <a:pt x="4246042" y="0"/>
                </a:lnTo>
                <a:lnTo>
                  <a:pt x="4246042"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Tree>
    <p:extLst>
      <p:ext uri="{BB962C8B-B14F-4D97-AF65-F5344CB8AC3E}">
        <p14:creationId xmlns:p14="http://schemas.microsoft.com/office/powerpoint/2010/main" val="504980920"/>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747FDB2B-56C4-E70A-0B9C-160312D5D929}"/>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A524C22F-133E-3EAD-78D1-EF35D73ABBF0}"/>
              </a:ext>
            </a:extLst>
          </p:cNvPr>
          <p:cNvSpPr txBox="1"/>
          <p:nvPr/>
        </p:nvSpPr>
        <p:spPr>
          <a:xfrm>
            <a:off x="2895600" y="74042"/>
            <a:ext cx="13649793" cy="872034"/>
          </a:xfrm>
          <a:prstGeom prst="rect">
            <a:avLst/>
          </a:prstGeom>
        </p:spPr>
        <p:txBody>
          <a:bodyPr wrap="square" lIns="0" tIns="0" rIns="0" bIns="0" rtlCol="0" anchor="t">
            <a:spAutoFit/>
          </a:bodyPr>
          <a:lstStyle/>
          <a:p>
            <a:pPr algn="ctr">
              <a:lnSpc>
                <a:spcPts val="6800"/>
              </a:lnSpc>
            </a:pPr>
            <a:r>
              <a:rPr lang="en-US" sz="6000" b="1">
                <a:latin typeface="Gabriola"/>
              </a:rPr>
              <a:t>Business Application: The Supply Plan</a:t>
            </a:r>
            <a:endParaRPr lang="en-US" sz="6000" b="1" spc="-374">
              <a:solidFill>
                <a:srgbClr val="1E2A38"/>
              </a:solidFill>
              <a:latin typeface="Gabriola"/>
              <a:ea typeface="Heading Now 71-78"/>
              <a:cs typeface="Heading Now 71-78"/>
              <a:sym typeface="Heading Now 71-78"/>
            </a:endParaRPr>
          </a:p>
        </p:txBody>
      </p:sp>
      <p:sp>
        <p:nvSpPr>
          <p:cNvPr id="7" name="TextBox 7">
            <a:extLst>
              <a:ext uri="{FF2B5EF4-FFF2-40B4-BE49-F238E27FC236}">
                <a16:creationId xmlns:a16="http://schemas.microsoft.com/office/drawing/2014/main" id="{0D4C8F4D-4C20-7499-25F1-C7BC937FE98D}"/>
              </a:ext>
            </a:extLst>
          </p:cNvPr>
          <p:cNvSpPr txBox="1"/>
          <p:nvPr/>
        </p:nvSpPr>
        <p:spPr>
          <a:xfrm>
            <a:off x="502920" y="1102594"/>
            <a:ext cx="16374949" cy="840295"/>
          </a:xfrm>
          <a:prstGeom prst="rect">
            <a:avLst/>
          </a:prstGeom>
        </p:spPr>
        <p:txBody>
          <a:bodyPr wrap="square" lIns="0" tIns="0" rIns="0" bIns="0" rtlCol="0" anchor="t">
            <a:spAutoFit/>
          </a:bodyPr>
          <a:lstStyle/>
          <a:p>
            <a:pPr algn="just">
              <a:lnSpc>
                <a:spcPts val="3359"/>
              </a:lnSpc>
            </a:pPr>
            <a:r>
              <a:rPr lang="en-US" sz="2000">
                <a:latin typeface="Comic Sans MS" panose="030F0702030302020204" pitchFamily="66" charset="0"/>
              </a:rPr>
              <a:t>The ultimate goal of this project is to move from reactive maintenance to </a:t>
            </a:r>
            <a:r>
              <a:rPr lang="en-US" sz="2000" b="1">
                <a:latin typeface="Comic Sans MS" panose="030F0702030302020204" pitchFamily="66" charset="0"/>
              </a:rPr>
              <a:t>proactive supply optimization</a:t>
            </a:r>
            <a:r>
              <a:rPr lang="en-US" sz="2000">
                <a:latin typeface="Comic Sans MS" panose="030F0702030302020204" pitchFamily="66" charset="0"/>
              </a:rPr>
              <a:t>. Based on our high-precision forecast, we have developed a data-driven strategy for January 2013.</a:t>
            </a:r>
            <a:endParaRPr lang="en-US" sz="2000" b="1">
              <a:solidFill>
                <a:srgbClr val="231F20"/>
              </a:solidFill>
              <a:latin typeface="Comic Sans MS" panose="030F0702030302020204" pitchFamily="66" charset="0"/>
              <a:ea typeface="TT Firs Neue Bold"/>
              <a:cs typeface="TT Firs Neue Bold"/>
              <a:sym typeface="TT Firs Neue Bold"/>
            </a:endParaRPr>
          </a:p>
        </p:txBody>
      </p:sp>
      <p:sp>
        <p:nvSpPr>
          <p:cNvPr id="10" name="Freeform 10">
            <a:extLst>
              <a:ext uri="{FF2B5EF4-FFF2-40B4-BE49-F238E27FC236}">
                <a16:creationId xmlns:a16="http://schemas.microsoft.com/office/drawing/2014/main" id="{AF4F3F57-37BD-6D55-3573-98AEAFD6FC42}"/>
              </a:ext>
            </a:extLst>
          </p:cNvPr>
          <p:cNvSpPr/>
          <p:nvPr/>
        </p:nvSpPr>
        <p:spPr>
          <a:xfrm rot="-925859">
            <a:off x="16896313" y="116819"/>
            <a:ext cx="1250368" cy="1453916"/>
          </a:xfrm>
          <a:custGeom>
            <a:avLst/>
            <a:gdLst/>
            <a:ahLst/>
            <a:cxnLst/>
            <a:rect l="l" t="t" r="r" b="b"/>
            <a:pathLst>
              <a:path w="1250368" h="1453916">
                <a:moveTo>
                  <a:pt x="0" y="0"/>
                </a:moveTo>
                <a:lnTo>
                  <a:pt x="1250368" y="0"/>
                </a:lnTo>
                <a:lnTo>
                  <a:pt x="1250368" y="1453916"/>
                </a:lnTo>
                <a:lnTo>
                  <a:pt x="0" y="14539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1" name="Group 11">
            <a:extLst>
              <a:ext uri="{FF2B5EF4-FFF2-40B4-BE49-F238E27FC236}">
                <a16:creationId xmlns:a16="http://schemas.microsoft.com/office/drawing/2014/main" id="{3B1B37C1-6B1A-56AA-46B6-848A13600F34}"/>
              </a:ext>
            </a:extLst>
          </p:cNvPr>
          <p:cNvGrpSpPr/>
          <p:nvPr/>
        </p:nvGrpSpPr>
        <p:grpSpPr>
          <a:xfrm rot="-10800000">
            <a:off x="0" y="8469231"/>
            <a:ext cx="1573348" cy="1936429"/>
            <a:chOff x="0" y="0"/>
            <a:chExt cx="660400" cy="812800"/>
          </a:xfrm>
        </p:grpSpPr>
        <p:sp>
          <p:nvSpPr>
            <p:cNvPr id="12" name="Freeform 12">
              <a:extLst>
                <a:ext uri="{FF2B5EF4-FFF2-40B4-BE49-F238E27FC236}">
                  <a16:creationId xmlns:a16="http://schemas.microsoft.com/office/drawing/2014/main" id="{62E9156E-2943-9144-75FC-7BB081BF757A}"/>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CFD85D6E-9E14-EDED-4EBE-64245F348ACF}"/>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E0D7B59E-A4D5-CB19-CE50-EBA8E9C4D72C}"/>
              </a:ext>
            </a:extLst>
          </p:cNvPr>
          <p:cNvGrpSpPr/>
          <p:nvPr/>
        </p:nvGrpSpPr>
        <p:grpSpPr>
          <a:xfrm>
            <a:off x="533400" y="7594078"/>
            <a:ext cx="1268314" cy="1561002"/>
            <a:chOff x="0" y="0"/>
            <a:chExt cx="660400" cy="812800"/>
          </a:xfrm>
        </p:grpSpPr>
        <p:sp>
          <p:nvSpPr>
            <p:cNvPr id="15" name="Freeform 15">
              <a:extLst>
                <a:ext uri="{FF2B5EF4-FFF2-40B4-BE49-F238E27FC236}">
                  <a16:creationId xmlns:a16="http://schemas.microsoft.com/office/drawing/2014/main" id="{6A603FFE-6EB3-5F0C-1B52-8BED41B3FDE3}"/>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FFBE6381-9151-2F09-C006-06567F4E48DF}"/>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sp>
        <p:nvSpPr>
          <p:cNvPr id="17" name="Rectangle 1">
            <a:extLst>
              <a:ext uri="{FF2B5EF4-FFF2-40B4-BE49-F238E27FC236}">
                <a16:creationId xmlns:a16="http://schemas.microsoft.com/office/drawing/2014/main" id="{30489459-31DC-03D1-1CFB-C6432E3E5952}"/>
              </a:ext>
            </a:extLst>
          </p:cNvPr>
          <p:cNvSpPr>
            <a:spLocks noChangeArrowheads="1"/>
          </p:cNvSpPr>
          <p:nvPr/>
        </p:nvSpPr>
        <p:spPr bwMode="auto">
          <a:xfrm>
            <a:off x="11201400" y="2433486"/>
            <a:ext cx="7086600"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400" b="1">
                <a:latin typeface="Comic Sans MS" panose="030F0702030302020204" pitchFamily="66" charset="0"/>
              </a:rPr>
              <a:t>Supply Strategy</a:t>
            </a:r>
          </a:p>
          <a:p>
            <a:pPr marL="457200" indent="-457200" algn="just">
              <a:buAutoNum type="arabicPeriod"/>
            </a:pPr>
            <a:endParaRPr lang="en-US" sz="2400">
              <a:latin typeface="Comic Sans MS" panose="030F0702030302020204" pitchFamily="66" charset="0"/>
            </a:endParaRPr>
          </a:p>
          <a:p>
            <a:pPr marL="800100" lvl="1" indent="-342900" algn="just">
              <a:buFont typeface="Wingdings" panose="05000000000000000000" pitchFamily="2" charset="2"/>
              <a:buChar char="Ø"/>
            </a:pPr>
            <a:r>
              <a:rPr lang="en-US" sz="2400" b="1">
                <a:latin typeface="Comic Sans MS" panose="030F0702030302020204" pitchFamily="66" charset="0"/>
              </a:rPr>
              <a:t>+15% Buffer</a:t>
            </a:r>
            <a:r>
              <a:rPr lang="en-US" sz="2400">
                <a:latin typeface="Comic Sans MS" panose="030F0702030302020204" pitchFamily="66" charset="0"/>
              </a:rPr>
              <a:t> -&gt; Prevent stock-outs</a:t>
            </a:r>
          </a:p>
          <a:p>
            <a:pPr lvl="1" algn="just"/>
            <a:r>
              <a:rPr lang="en-US" sz="2400">
                <a:latin typeface="Comic Sans MS" panose="030F0702030302020204" pitchFamily="66" charset="0"/>
              </a:rPr>
              <a:t> </a:t>
            </a:r>
          </a:p>
          <a:p>
            <a:pPr marL="800100" lvl="1" indent="-342900" algn="just">
              <a:buFont typeface="Wingdings" panose="05000000000000000000" pitchFamily="2" charset="2"/>
              <a:buChar char="Ø"/>
            </a:pPr>
            <a:r>
              <a:rPr lang="en-US" sz="2400" b="1">
                <a:latin typeface="Comic Sans MS" panose="030F0702030302020204" pitchFamily="66" charset="0"/>
              </a:rPr>
              <a:t>99% Availability Target</a:t>
            </a:r>
          </a:p>
          <a:p>
            <a:pPr lvl="1" algn="just"/>
            <a:r>
              <a:rPr lang="en-US" sz="2400">
                <a:latin typeface="Comic Sans MS" panose="030F0702030302020204" pitchFamily="66" charset="0"/>
              </a:rPr>
              <a:t> </a:t>
            </a:r>
          </a:p>
          <a:p>
            <a:pPr marL="800100" lvl="1" indent="-342900" algn="just">
              <a:buFont typeface="Wingdings" panose="05000000000000000000" pitchFamily="2" charset="2"/>
              <a:buChar char="Ø"/>
            </a:pPr>
            <a:r>
              <a:rPr lang="en-US" sz="2400" b="1">
                <a:latin typeface="Comic Sans MS" panose="030F0702030302020204" pitchFamily="66" charset="0"/>
              </a:rPr>
              <a:t>Dynamic Scaling</a:t>
            </a:r>
            <a:r>
              <a:rPr lang="en-US" sz="2400">
                <a:latin typeface="Comic Sans MS" panose="030F0702030302020204" pitchFamily="66" charset="0"/>
              </a:rPr>
              <a:t> -&gt; Adjust for low-demand periods </a:t>
            </a:r>
          </a:p>
          <a:p>
            <a:pPr marL="800100" lvl="1" indent="-342900" algn="just">
              <a:buFont typeface="Wingdings" panose="05000000000000000000" pitchFamily="2" charset="2"/>
              <a:buChar char="Ø"/>
            </a:pPr>
            <a:endParaRPr lang="en-US" sz="2400">
              <a:latin typeface="Comic Sans MS" panose="030F0702030302020204" pitchFamily="66" charset="0"/>
            </a:endParaRPr>
          </a:p>
          <a:p>
            <a:pPr algn="just"/>
            <a:r>
              <a:rPr lang="en-US" sz="2400" b="1">
                <a:latin typeface="Comic Sans MS" panose="030F0702030302020204" pitchFamily="66" charset="0"/>
              </a:rPr>
              <a:t>Operational “Sweet Spots”</a:t>
            </a:r>
          </a:p>
          <a:p>
            <a:pPr algn="just"/>
            <a:endParaRPr lang="en-US" sz="2400">
              <a:latin typeface="Comic Sans MS" panose="030F0702030302020204" pitchFamily="66" charset="0"/>
            </a:endParaRPr>
          </a:p>
          <a:p>
            <a:pPr marL="800100" lvl="1" indent="-342900" algn="just">
              <a:buFont typeface="Wingdings" panose="05000000000000000000" pitchFamily="2" charset="2"/>
              <a:buChar char="Ø"/>
            </a:pPr>
            <a:r>
              <a:rPr lang="en-US" sz="2400" b="1">
                <a:latin typeface="Comic Sans MS" panose="030F0702030302020204" pitchFamily="66" charset="0"/>
              </a:rPr>
              <a:t>3–4 AM Window</a:t>
            </a:r>
            <a:r>
              <a:rPr lang="en-US" sz="2400">
                <a:latin typeface="Comic Sans MS" panose="030F0702030302020204" pitchFamily="66" charset="0"/>
              </a:rPr>
              <a:t> -&gt; Best time for redistribution </a:t>
            </a:r>
          </a:p>
          <a:p>
            <a:pPr marL="800100" lvl="1" indent="-342900" algn="just">
              <a:buFont typeface="Wingdings" panose="05000000000000000000" pitchFamily="2" charset="2"/>
              <a:buChar char="Ø"/>
            </a:pPr>
            <a:endParaRPr lang="en-US" sz="2400">
              <a:latin typeface="Comic Sans MS" panose="030F0702030302020204" pitchFamily="66" charset="0"/>
            </a:endParaRPr>
          </a:p>
          <a:p>
            <a:pPr marL="800100" lvl="1" indent="-342900" algn="just">
              <a:buFont typeface="Wingdings" panose="05000000000000000000" pitchFamily="2" charset="2"/>
              <a:buChar char="Ø"/>
            </a:pPr>
            <a:r>
              <a:rPr lang="en-US" sz="2400" b="1">
                <a:latin typeface="Comic Sans MS" panose="030F0702030302020204" pitchFamily="66" charset="0"/>
              </a:rPr>
              <a:t>Zero Disruption</a:t>
            </a:r>
            <a:r>
              <a:rPr lang="en-US" sz="2400">
                <a:latin typeface="Comic Sans MS" panose="030F0702030302020204" pitchFamily="66" charset="0"/>
              </a:rPr>
              <a:t> -&gt; Ready before morning commute </a:t>
            </a:r>
          </a:p>
        </p:txBody>
      </p:sp>
      <p:pic>
        <p:nvPicPr>
          <p:cNvPr id="3" name="Picture 2">
            <a:extLst>
              <a:ext uri="{FF2B5EF4-FFF2-40B4-BE49-F238E27FC236}">
                <a16:creationId xmlns:a16="http://schemas.microsoft.com/office/drawing/2014/main" id="{7B599D1F-E5DC-04EF-B8BF-3CAD1FF470EA}"/>
              </a:ext>
            </a:extLst>
          </p:cNvPr>
          <p:cNvPicPr>
            <a:picLocks noChangeAspect="1"/>
          </p:cNvPicPr>
          <p:nvPr/>
        </p:nvPicPr>
        <p:blipFill>
          <a:blip r:embed="rId4"/>
          <a:stretch>
            <a:fillRect/>
          </a:stretch>
        </p:blipFill>
        <p:spPr>
          <a:xfrm>
            <a:off x="0" y="2172727"/>
            <a:ext cx="11201400" cy="7015277"/>
          </a:xfrm>
          <a:prstGeom prst="rect">
            <a:avLst/>
          </a:prstGeom>
        </p:spPr>
      </p:pic>
      <p:sp>
        <p:nvSpPr>
          <p:cNvPr id="2" name="Freeform 10">
            <a:extLst>
              <a:ext uri="{FF2B5EF4-FFF2-40B4-BE49-F238E27FC236}">
                <a16:creationId xmlns:a16="http://schemas.microsoft.com/office/drawing/2014/main" id="{F4F54D02-93D1-B51B-1B3E-586290C8521F}"/>
              </a:ext>
            </a:extLst>
          </p:cNvPr>
          <p:cNvSpPr/>
          <p:nvPr/>
        </p:nvSpPr>
        <p:spPr>
          <a:xfrm>
            <a:off x="-2123021" y="-2705100"/>
            <a:ext cx="4246041" cy="4114800"/>
          </a:xfrm>
          <a:custGeom>
            <a:avLst/>
            <a:gdLst/>
            <a:ahLst/>
            <a:cxnLst/>
            <a:rect l="l" t="t" r="r" b="b"/>
            <a:pathLst>
              <a:path w="4246041" h="4114800">
                <a:moveTo>
                  <a:pt x="0" y="0"/>
                </a:moveTo>
                <a:lnTo>
                  <a:pt x="4246042" y="0"/>
                </a:lnTo>
                <a:lnTo>
                  <a:pt x="424604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2699096952"/>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252DCF8F-8817-8805-A6D2-1D675035F69C}"/>
            </a:ext>
          </a:extLst>
        </p:cNvPr>
        <p:cNvGrpSpPr/>
        <p:nvPr/>
      </p:nvGrpSpPr>
      <p:grpSpPr>
        <a:xfrm>
          <a:off x="0" y="0"/>
          <a:ext cx="0" cy="0"/>
          <a:chOff x="0" y="0"/>
          <a:chExt cx="0" cy="0"/>
        </a:xfrm>
      </p:grpSpPr>
      <p:sp>
        <p:nvSpPr>
          <p:cNvPr id="6" name="TextBox 6">
            <a:extLst>
              <a:ext uri="{FF2B5EF4-FFF2-40B4-BE49-F238E27FC236}">
                <a16:creationId xmlns:a16="http://schemas.microsoft.com/office/drawing/2014/main" id="{8290E9BC-370B-6F51-4FCF-AEFEFD0CDDA5}"/>
              </a:ext>
            </a:extLst>
          </p:cNvPr>
          <p:cNvSpPr txBox="1"/>
          <p:nvPr/>
        </p:nvSpPr>
        <p:spPr>
          <a:xfrm>
            <a:off x="2933700" y="2120383"/>
            <a:ext cx="12420600" cy="6647974"/>
          </a:xfrm>
          <a:prstGeom prst="rect">
            <a:avLst/>
          </a:prstGeom>
        </p:spPr>
        <p:txBody>
          <a:bodyPr wrap="square" lIns="0" tIns="0" rIns="0" bIns="0" rtlCol="0" anchor="t">
            <a:spAutoFit/>
          </a:bodyPr>
          <a:lstStyle/>
          <a:p>
            <a:pPr algn="just"/>
            <a:r>
              <a:rPr lang="en-US" sz="3200" b="1">
                <a:latin typeface="Comic Sans MS" panose="030F0702030302020204" pitchFamily="66" charset="0"/>
              </a:rPr>
              <a:t>Conclusion:</a:t>
            </a:r>
          </a:p>
          <a:p>
            <a:pPr algn="just"/>
            <a:endParaRPr lang="en-US" sz="3200">
              <a:latin typeface="Comic Sans MS" panose="030F0702030302020204" pitchFamily="66" charset="0"/>
            </a:endParaRPr>
          </a:p>
          <a:p>
            <a:pPr marL="800100" lvl="1" indent="-342900" algn="just">
              <a:buFont typeface="Wingdings" panose="05000000000000000000" pitchFamily="2" charset="2"/>
              <a:buChar char="Ø"/>
            </a:pPr>
            <a:r>
              <a:rPr lang="en-US" sz="2400" b="1">
                <a:latin typeface="Comic Sans MS" panose="030F0702030302020204" pitchFamily="66" charset="0"/>
              </a:rPr>
              <a:t>Forecasting Impact:</a:t>
            </a:r>
            <a:r>
              <a:rPr lang="en-US" sz="2400">
                <a:latin typeface="Comic Sans MS" panose="030F0702030302020204" pitchFamily="66" charset="0"/>
              </a:rPr>
              <a:t> Reduced wait times via optimized supply</a:t>
            </a:r>
          </a:p>
          <a:p>
            <a:pPr lvl="1" algn="just"/>
            <a:r>
              <a:rPr lang="en-US" sz="2400">
                <a:latin typeface="Comic Sans MS" panose="030F0702030302020204" pitchFamily="66" charset="0"/>
              </a:rPr>
              <a:t> </a:t>
            </a:r>
          </a:p>
          <a:p>
            <a:pPr marL="800100" lvl="1" indent="-342900" algn="just">
              <a:buFont typeface="Wingdings" panose="05000000000000000000" pitchFamily="2" charset="2"/>
              <a:buChar char="Ø"/>
            </a:pPr>
            <a:r>
              <a:rPr lang="en-US" sz="2400" b="1">
                <a:latin typeface="Comic Sans MS" panose="030F0702030302020204" pitchFamily="66" charset="0"/>
              </a:rPr>
              <a:t>Prediction Model: XG- Boost</a:t>
            </a:r>
            <a:endParaRPr lang="en-US" sz="2400">
              <a:latin typeface="Comic Sans MS" panose="030F0702030302020204" pitchFamily="66" charset="0"/>
            </a:endParaRPr>
          </a:p>
          <a:p>
            <a:pPr lvl="1" algn="just"/>
            <a:endParaRPr lang="en-US" sz="2400">
              <a:latin typeface="Comic Sans MS" panose="030F0702030302020204" pitchFamily="66" charset="0"/>
            </a:endParaRPr>
          </a:p>
          <a:p>
            <a:pPr marL="800100" lvl="1" indent="-342900" algn="just">
              <a:buFont typeface="Wingdings" panose="05000000000000000000" pitchFamily="2" charset="2"/>
              <a:buChar char="Ø"/>
            </a:pPr>
            <a:r>
              <a:rPr lang="en-US" sz="2400" b="1">
                <a:latin typeface="Comic Sans MS" panose="030F0702030302020204" pitchFamily="66" charset="0"/>
              </a:rPr>
              <a:t>Operations:</a:t>
            </a:r>
            <a:r>
              <a:rPr lang="en-US" sz="2400">
                <a:latin typeface="Comic Sans MS" panose="030F0702030302020204" pitchFamily="66" charset="0"/>
              </a:rPr>
              <a:t> +15% buffer &amp; 3–4 AM window validated</a:t>
            </a:r>
          </a:p>
          <a:p>
            <a:pPr algn="just"/>
            <a:endParaRPr lang="en-US" sz="2400">
              <a:latin typeface="Comic Sans MS" panose="030F0702030302020204" pitchFamily="66" charset="0"/>
            </a:endParaRPr>
          </a:p>
          <a:p>
            <a:pPr algn="just"/>
            <a:r>
              <a:rPr lang="en-US" sz="2800" b="1">
                <a:latin typeface="Comic Sans MS" panose="030F0702030302020204" pitchFamily="66" charset="0"/>
              </a:rPr>
              <a:t>Future Work &amp; Enhancements:</a:t>
            </a:r>
          </a:p>
          <a:p>
            <a:pPr algn="just"/>
            <a:endParaRPr lang="en-US" sz="2800">
              <a:latin typeface="Comic Sans MS" panose="030F0702030302020204" pitchFamily="66" charset="0"/>
            </a:endParaRPr>
          </a:p>
          <a:p>
            <a:pPr marL="800100" lvl="1" indent="-342900" algn="just" eaLnBrk="0" fontAlgn="base" hangingPunct="0">
              <a:spcBef>
                <a:spcPct val="0"/>
              </a:spcBef>
              <a:spcAft>
                <a:spcPct val="0"/>
              </a:spcAft>
              <a:buFont typeface="Wingdings" panose="05000000000000000000" pitchFamily="2" charset="2"/>
              <a:buChar char="Ø"/>
            </a:pPr>
            <a:r>
              <a:rPr lang="en-US" altLang="en-US" sz="2400" b="1">
                <a:latin typeface="Comic Sans MS" panose="030F0702030302020204" pitchFamily="66" charset="0"/>
              </a:rPr>
              <a:t>Real-time Rebalancing</a:t>
            </a:r>
            <a:r>
              <a:rPr lang="en-US" altLang="en-US" sz="2400">
                <a:latin typeface="Comic Sans MS" panose="030F0702030302020204" pitchFamily="66" charset="0"/>
              </a:rPr>
              <a:t> (GPS-based) </a:t>
            </a:r>
          </a:p>
          <a:p>
            <a:pPr marL="800100" lvl="1" indent="-342900" algn="just" eaLnBrk="0" fontAlgn="base" hangingPunct="0">
              <a:spcBef>
                <a:spcPct val="0"/>
              </a:spcBef>
              <a:spcAft>
                <a:spcPct val="0"/>
              </a:spcAft>
              <a:buFont typeface="Wingdings" panose="05000000000000000000" pitchFamily="2" charset="2"/>
              <a:buChar char="Ø"/>
            </a:pPr>
            <a:endParaRPr lang="en-US" altLang="en-US" sz="2400">
              <a:latin typeface="Comic Sans MS" panose="030F0702030302020204" pitchFamily="66" charset="0"/>
            </a:endParaRPr>
          </a:p>
          <a:p>
            <a:pPr marL="800100" lvl="1" indent="-342900" algn="just" eaLnBrk="0" fontAlgn="base" hangingPunct="0">
              <a:spcBef>
                <a:spcPct val="0"/>
              </a:spcBef>
              <a:spcAft>
                <a:spcPct val="0"/>
              </a:spcAft>
              <a:buFont typeface="Wingdings" panose="05000000000000000000" pitchFamily="2" charset="2"/>
              <a:buChar char="Ø"/>
            </a:pPr>
            <a:r>
              <a:rPr lang="en-US" altLang="en-US" sz="2400" b="1">
                <a:latin typeface="Comic Sans MS" panose="030F0702030302020204" pitchFamily="66" charset="0"/>
              </a:rPr>
              <a:t>Advanced Modeling</a:t>
            </a:r>
            <a:r>
              <a:rPr lang="en-US" altLang="en-US" sz="2400">
                <a:latin typeface="Comic Sans MS" panose="030F0702030302020204" pitchFamily="66" charset="0"/>
              </a:rPr>
              <a:t> (Gamma GLMM) </a:t>
            </a:r>
          </a:p>
          <a:p>
            <a:pPr marL="800100" lvl="1" indent="-342900" algn="just" eaLnBrk="0" fontAlgn="base" hangingPunct="0">
              <a:spcBef>
                <a:spcPct val="0"/>
              </a:spcBef>
              <a:spcAft>
                <a:spcPct val="0"/>
              </a:spcAft>
              <a:buFont typeface="Wingdings" panose="05000000000000000000" pitchFamily="2" charset="2"/>
              <a:buChar char="Ø"/>
            </a:pPr>
            <a:endParaRPr lang="en-US" altLang="en-US" sz="2400">
              <a:latin typeface="Comic Sans MS" panose="030F0702030302020204" pitchFamily="66" charset="0"/>
            </a:endParaRPr>
          </a:p>
          <a:p>
            <a:pPr marL="800100" lvl="1" indent="-342900" algn="just" eaLnBrk="0" fontAlgn="base" hangingPunct="0">
              <a:spcBef>
                <a:spcPct val="0"/>
              </a:spcBef>
              <a:spcAft>
                <a:spcPct val="0"/>
              </a:spcAft>
              <a:buFont typeface="Wingdings" panose="05000000000000000000" pitchFamily="2" charset="2"/>
              <a:buChar char="Ø"/>
            </a:pPr>
            <a:r>
              <a:rPr lang="en-US" altLang="en-US" sz="2400" b="1">
                <a:latin typeface="Comic Sans MS" panose="030F0702030302020204" pitchFamily="66" charset="0"/>
              </a:rPr>
              <a:t>External Data</a:t>
            </a:r>
            <a:r>
              <a:rPr lang="en-US" altLang="en-US" sz="2400">
                <a:latin typeface="Comic Sans MS" panose="030F0702030302020204" pitchFamily="66" charset="0"/>
              </a:rPr>
              <a:t> (events, holidays)</a:t>
            </a:r>
          </a:p>
          <a:p>
            <a:pPr lvl="1" algn="just" eaLnBrk="0" fontAlgn="base" hangingPunct="0">
              <a:spcBef>
                <a:spcPct val="0"/>
              </a:spcBef>
              <a:spcAft>
                <a:spcPct val="0"/>
              </a:spcAft>
            </a:pPr>
            <a:r>
              <a:rPr lang="en-US" altLang="en-US" sz="2400">
                <a:latin typeface="Comic Sans MS" panose="030F0702030302020204" pitchFamily="66" charset="0"/>
              </a:rPr>
              <a:t> </a:t>
            </a:r>
          </a:p>
          <a:p>
            <a:pPr marL="800100" lvl="1" indent="-342900" algn="just" eaLnBrk="0" fontAlgn="base" hangingPunct="0">
              <a:spcBef>
                <a:spcPct val="0"/>
              </a:spcBef>
              <a:spcAft>
                <a:spcPct val="0"/>
              </a:spcAft>
              <a:buFont typeface="Wingdings" panose="05000000000000000000" pitchFamily="2" charset="2"/>
              <a:buChar char="Ø"/>
            </a:pPr>
            <a:r>
              <a:rPr lang="en-US" altLang="en-US" sz="2400" b="1">
                <a:latin typeface="Comic Sans MS" panose="030F0702030302020204" pitchFamily="66" charset="0"/>
              </a:rPr>
              <a:t>Sustainability Optimization</a:t>
            </a:r>
            <a:r>
              <a:rPr lang="en-US" altLang="en-US" sz="2400">
                <a:latin typeface="Comic Sans MS" panose="030F0702030302020204" pitchFamily="66" charset="0"/>
              </a:rPr>
              <a:t> (routing efficiency) </a:t>
            </a:r>
          </a:p>
        </p:txBody>
      </p:sp>
      <p:sp>
        <p:nvSpPr>
          <p:cNvPr id="7" name="TextBox 7">
            <a:extLst>
              <a:ext uri="{FF2B5EF4-FFF2-40B4-BE49-F238E27FC236}">
                <a16:creationId xmlns:a16="http://schemas.microsoft.com/office/drawing/2014/main" id="{0D29E29A-5082-A4A5-AEC0-C51FD5F85E5A}"/>
              </a:ext>
            </a:extLst>
          </p:cNvPr>
          <p:cNvSpPr txBox="1"/>
          <p:nvPr/>
        </p:nvSpPr>
        <p:spPr>
          <a:xfrm>
            <a:off x="5257800" y="310246"/>
            <a:ext cx="7543800" cy="923330"/>
          </a:xfrm>
          <a:prstGeom prst="rect">
            <a:avLst/>
          </a:prstGeom>
        </p:spPr>
        <p:txBody>
          <a:bodyPr wrap="square" lIns="0" tIns="0" rIns="0" bIns="0" rtlCol="0" anchor="t">
            <a:spAutoFit/>
          </a:bodyPr>
          <a:lstStyle/>
          <a:p>
            <a:r>
              <a:rPr lang="en-US" sz="6000" b="1">
                <a:latin typeface="Gabriola" panose="04040605051002020D02" pitchFamily="82" charset="0"/>
              </a:rPr>
              <a:t>Conclusion and Future Work</a:t>
            </a:r>
          </a:p>
        </p:txBody>
      </p:sp>
      <p:sp>
        <p:nvSpPr>
          <p:cNvPr id="10" name="Freeform 10">
            <a:extLst>
              <a:ext uri="{FF2B5EF4-FFF2-40B4-BE49-F238E27FC236}">
                <a16:creationId xmlns:a16="http://schemas.microsoft.com/office/drawing/2014/main" id="{D177FF8C-45B7-ABEF-E011-66FEC4E85227}"/>
              </a:ext>
            </a:extLst>
          </p:cNvPr>
          <p:cNvSpPr/>
          <p:nvPr/>
        </p:nvSpPr>
        <p:spPr>
          <a:xfrm>
            <a:off x="-2123021" y="-1741009"/>
            <a:ext cx="4246041" cy="4114800"/>
          </a:xfrm>
          <a:custGeom>
            <a:avLst/>
            <a:gdLst/>
            <a:ahLst/>
            <a:cxnLst/>
            <a:rect l="l" t="t" r="r" b="b"/>
            <a:pathLst>
              <a:path w="4246041" h="4114800">
                <a:moveTo>
                  <a:pt x="0" y="0"/>
                </a:moveTo>
                <a:lnTo>
                  <a:pt x="4246042" y="0"/>
                </a:lnTo>
                <a:lnTo>
                  <a:pt x="424604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1" name="Group 11">
            <a:extLst>
              <a:ext uri="{FF2B5EF4-FFF2-40B4-BE49-F238E27FC236}">
                <a16:creationId xmlns:a16="http://schemas.microsoft.com/office/drawing/2014/main" id="{5733F948-3E60-1EB9-F876-D08E7B62CF68}"/>
              </a:ext>
            </a:extLst>
          </p:cNvPr>
          <p:cNvGrpSpPr/>
          <p:nvPr/>
        </p:nvGrpSpPr>
        <p:grpSpPr>
          <a:xfrm rot="-10800000">
            <a:off x="-201749" y="7460299"/>
            <a:ext cx="9864468" cy="3124829"/>
            <a:chOff x="0" y="-498821"/>
            <a:chExt cx="4140530" cy="1311621"/>
          </a:xfrm>
        </p:grpSpPr>
        <p:sp>
          <p:nvSpPr>
            <p:cNvPr id="12" name="Freeform 12">
              <a:extLst>
                <a:ext uri="{FF2B5EF4-FFF2-40B4-BE49-F238E27FC236}">
                  <a16:creationId xmlns:a16="http://schemas.microsoft.com/office/drawing/2014/main" id="{2E5F6F1B-F84B-4368-CE8B-6C50635D3A93}"/>
                </a:ext>
              </a:extLst>
            </p:cNvPr>
            <p:cNvSpPr/>
            <p:nvPr/>
          </p:nvSpPr>
          <p:spPr>
            <a:xfrm>
              <a:off x="3480130" y="-498821"/>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3F2D7408-1D59-870A-7AC5-75805B5C45B1}"/>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92FAE880-77FE-AC8E-A696-D05D29FA31EA}"/>
              </a:ext>
            </a:extLst>
          </p:cNvPr>
          <p:cNvGrpSpPr/>
          <p:nvPr/>
        </p:nvGrpSpPr>
        <p:grpSpPr>
          <a:xfrm rot="5400000">
            <a:off x="17326541" y="-968215"/>
            <a:ext cx="1573348" cy="1936429"/>
            <a:chOff x="0" y="0"/>
            <a:chExt cx="660400" cy="812800"/>
          </a:xfrm>
        </p:grpSpPr>
        <p:sp>
          <p:nvSpPr>
            <p:cNvPr id="15" name="Freeform 15">
              <a:extLst>
                <a:ext uri="{FF2B5EF4-FFF2-40B4-BE49-F238E27FC236}">
                  <a16:creationId xmlns:a16="http://schemas.microsoft.com/office/drawing/2014/main" id="{1098E8A7-ED96-8ACA-681B-1360BFD54C38}"/>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623C0F2A-905B-6172-2CD2-9C5F2C3C22AF}"/>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4" name="Picture 3">
            <a:extLst>
              <a:ext uri="{FF2B5EF4-FFF2-40B4-BE49-F238E27FC236}">
                <a16:creationId xmlns:a16="http://schemas.microsoft.com/office/drawing/2014/main" id="{B8554C39-9BB1-5069-306B-BF2ACB5FFAB8}"/>
              </a:ext>
            </a:extLst>
          </p:cNvPr>
          <p:cNvPicPr>
            <a:picLocks noChangeAspect="1"/>
          </p:cNvPicPr>
          <p:nvPr/>
        </p:nvPicPr>
        <p:blipFill>
          <a:blip r:embed="rId3"/>
          <a:stretch/>
        </p:blipFill>
        <p:spPr>
          <a:xfrm>
            <a:off x="15960962" y="8170899"/>
            <a:ext cx="2176834" cy="2073449"/>
          </a:xfrm>
          <a:prstGeom prst="rect">
            <a:avLst/>
          </a:prstGeom>
        </p:spPr>
      </p:pic>
    </p:spTree>
    <p:extLst>
      <p:ext uri="{BB962C8B-B14F-4D97-AF65-F5344CB8AC3E}">
        <p14:creationId xmlns:p14="http://schemas.microsoft.com/office/powerpoint/2010/main" val="2015449551"/>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a:extLst>
            <a:ext uri="{FF2B5EF4-FFF2-40B4-BE49-F238E27FC236}">
              <a16:creationId xmlns:a16="http://schemas.microsoft.com/office/drawing/2014/main" id="{DFB928AE-88D6-2FD3-D7E7-E924403EB95F}"/>
            </a:ext>
          </a:extLst>
        </p:cNvPr>
        <p:cNvGrpSpPr/>
        <p:nvPr/>
      </p:nvGrpSpPr>
      <p:grpSpPr>
        <a:xfrm>
          <a:off x="0" y="0"/>
          <a:ext cx="0" cy="0"/>
          <a:chOff x="0" y="0"/>
          <a:chExt cx="0" cy="0"/>
        </a:xfrm>
      </p:grpSpPr>
      <p:sp>
        <p:nvSpPr>
          <p:cNvPr id="7" name="TextBox 7">
            <a:extLst>
              <a:ext uri="{FF2B5EF4-FFF2-40B4-BE49-F238E27FC236}">
                <a16:creationId xmlns:a16="http://schemas.microsoft.com/office/drawing/2014/main" id="{AB006DF1-1F40-62CB-FD5C-DFCCC71739E6}"/>
              </a:ext>
            </a:extLst>
          </p:cNvPr>
          <p:cNvSpPr txBox="1"/>
          <p:nvPr/>
        </p:nvSpPr>
        <p:spPr>
          <a:xfrm>
            <a:off x="5257800" y="310246"/>
            <a:ext cx="7543800" cy="1107996"/>
          </a:xfrm>
          <a:prstGeom prst="rect">
            <a:avLst/>
          </a:prstGeom>
        </p:spPr>
        <p:txBody>
          <a:bodyPr wrap="square" lIns="0" tIns="0" rIns="0" bIns="0" rtlCol="0" anchor="t">
            <a:spAutoFit/>
          </a:bodyPr>
          <a:lstStyle/>
          <a:p>
            <a:pPr algn="ctr"/>
            <a:r>
              <a:rPr lang="en-US" sz="7200" b="1">
                <a:latin typeface="Gabriola" panose="04040605051002020D02" pitchFamily="82" charset="0"/>
              </a:rPr>
              <a:t>References</a:t>
            </a:r>
          </a:p>
        </p:txBody>
      </p:sp>
      <p:sp>
        <p:nvSpPr>
          <p:cNvPr id="10" name="Freeform 10">
            <a:extLst>
              <a:ext uri="{FF2B5EF4-FFF2-40B4-BE49-F238E27FC236}">
                <a16:creationId xmlns:a16="http://schemas.microsoft.com/office/drawing/2014/main" id="{3BF2731B-3DEB-4629-200C-3AA98A9EE594}"/>
              </a:ext>
            </a:extLst>
          </p:cNvPr>
          <p:cNvSpPr/>
          <p:nvPr/>
        </p:nvSpPr>
        <p:spPr>
          <a:xfrm>
            <a:off x="-2123021" y="-1741009"/>
            <a:ext cx="4246041" cy="4114800"/>
          </a:xfrm>
          <a:custGeom>
            <a:avLst/>
            <a:gdLst/>
            <a:ahLst/>
            <a:cxnLst/>
            <a:rect l="l" t="t" r="r" b="b"/>
            <a:pathLst>
              <a:path w="4246041" h="4114800">
                <a:moveTo>
                  <a:pt x="0" y="0"/>
                </a:moveTo>
                <a:lnTo>
                  <a:pt x="4246042" y="0"/>
                </a:lnTo>
                <a:lnTo>
                  <a:pt x="424604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1" name="Group 11">
            <a:extLst>
              <a:ext uri="{FF2B5EF4-FFF2-40B4-BE49-F238E27FC236}">
                <a16:creationId xmlns:a16="http://schemas.microsoft.com/office/drawing/2014/main" id="{180B8A4E-D125-9D94-1178-05CFD253FCF5}"/>
              </a:ext>
            </a:extLst>
          </p:cNvPr>
          <p:cNvGrpSpPr/>
          <p:nvPr/>
        </p:nvGrpSpPr>
        <p:grpSpPr>
          <a:xfrm rot="-10800000">
            <a:off x="-201749" y="7460299"/>
            <a:ext cx="9864468" cy="3124829"/>
            <a:chOff x="0" y="-498821"/>
            <a:chExt cx="4140530" cy="1311621"/>
          </a:xfrm>
        </p:grpSpPr>
        <p:sp>
          <p:nvSpPr>
            <p:cNvPr id="12" name="Freeform 12">
              <a:extLst>
                <a:ext uri="{FF2B5EF4-FFF2-40B4-BE49-F238E27FC236}">
                  <a16:creationId xmlns:a16="http://schemas.microsoft.com/office/drawing/2014/main" id="{5726E1C4-ED18-3134-CAE4-DBF348799C05}"/>
                </a:ext>
              </a:extLst>
            </p:cNvPr>
            <p:cNvSpPr/>
            <p:nvPr/>
          </p:nvSpPr>
          <p:spPr>
            <a:xfrm>
              <a:off x="3480130" y="-498821"/>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3" name="TextBox 13">
              <a:extLst>
                <a:ext uri="{FF2B5EF4-FFF2-40B4-BE49-F238E27FC236}">
                  <a16:creationId xmlns:a16="http://schemas.microsoft.com/office/drawing/2014/main" id="{F8C3E9D2-3914-A4FC-41FB-977344BA9F5E}"/>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14" name="Group 14">
            <a:extLst>
              <a:ext uri="{FF2B5EF4-FFF2-40B4-BE49-F238E27FC236}">
                <a16:creationId xmlns:a16="http://schemas.microsoft.com/office/drawing/2014/main" id="{25DB180C-82E8-DB39-62DE-995A351E0000}"/>
              </a:ext>
            </a:extLst>
          </p:cNvPr>
          <p:cNvGrpSpPr/>
          <p:nvPr/>
        </p:nvGrpSpPr>
        <p:grpSpPr>
          <a:xfrm rot="5400000">
            <a:off x="17326541" y="-968215"/>
            <a:ext cx="1573348" cy="1936429"/>
            <a:chOff x="0" y="0"/>
            <a:chExt cx="660400" cy="812800"/>
          </a:xfrm>
        </p:grpSpPr>
        <p:sp>
          <p:nvSpPr>
            <p:cNvPr id="15" name="Freeform 15">
              <a:extLst>
                <a:ext uri="{FF2B5EF4-FFF2-40B4-BE49-F238E27FC236}">
                  <a16:creationId xmlns:a16="http://schemas.microsoft.com/office/drawing/2014/main" id="{EC976BDA-CCF4-1CE0-21E0-64E1959AB574}"/>
                </a:ext>
              </a:extLst>
            </p:cNvPr>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E2A38"/>
            </a:solidFill>
          </p:spPr>
          <p:txBody>
            <a:bodyPr/>
            <a:lstStyle/>
            <a:p>
              <a:endParaRPr lang="en-US"/>
            </a:p>
          </p:txBody>
        </p:sp>
        <p:sp>
          <p:nvSpPr>
            <p:cNvPr id="16" name="TextBox 16">
              <a:extLst>
                <a:ext uri="{FF2B5EF4-FFF2-40B4-BE49-F238E27FC236}">
                  <a16:creationId xmlns:a16="http://schemas.microsoft.com/office/drawing/2014/main" id="{E83E5B2F-2A65-6E55-DC20-C60EFB41C820}"/>
                </a:ext>
              </a:extLst>
            </p:cNvPr>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pic>
        <p:nvPicPr>
          <p:cNvPr id="4" name="Picture 3">
            <a:extLst>
              <a:ext uri="{FF2B5EF4-FFF2-40B4-BE49-F238E27FC236}">
                <a16:creationId xmlns:a16="http://schemas.microsoft.com/office/drawing/2014/main" id="{55AA5D57-14A1-E3A5-9057-D02FF1942D9B}"/>
              </a:ext>
            </a:extLst>
          </p:cNvPr>
          <p:cNvPicPr>
            <a:picLocks noChangeAspect="1"/>
          </p:cNvPicPr>
          <p:nvPr/>
        </p:nvPicPr>
        <p:blipFill>
          <a:blip r:embed="rId3"/>
          <a:stretch/>
        </p:blipFill>
        <p:spPr>
          <a:xfrm>
            <a:off x="15960962" y="8170899"/>
            <a:ext cx="2176834" cy="2073449"/>
          </a:xfrm>
          <a:prstGeom prst="rect">
            <a:avLst/>
          </a:prstGeom>
        </p:spPr>
      </p:pic>
      <p:sp>
        <p:nvSpPr>
          <p:cNvPr id="2" name="TextBox 1">
            <a:extLst>
              <a:ext uri="{FF2B5EF4-FFF2-40B4-BE49-F238E27FC236}">
                <a16:creationId xmlns:a16="http://schemas.microsoft.com/office/drawing/2014/main" id="{B423344E-8FE7-70FA-52CF-A41FBC0DEA90}"/>
              </a:ext>
            </a:extLst>
          </p:cNvPr>
          <p:cNvSpPr txBox="1"/>
          <p:nvPr/>
        </p:nvSpPr>
        <p:spPr>
          <a:xfrm>
            <a:off x="2690419" y="2798432"/>
            <a:ext cx="13802032" cy="5262979"/>
          </a:xfrm>
          <a:prstGeom prst="rect">
            <a:avLst/>
          </a:prstGeom>
          <a:noFill/>
        </p:spPr>
        <p:txBody>
          <a:bodyPr wrap="square" rtlCol="0">
            <a:spAutoFit/>
          </a:bodyPr>
          <a:lstStyle/>
          <a:p>
            <a:r>
              <a:rPr lang="en-US" sz="2800" b="1">
                <a:latin typeface="Comic Sans MS" panose="030F0702030302020204" pitchFamily="66" charset="0"/>
              </a:rPr>
              <a:t>Academic &amp; Data Sources</a:t>
            </a:r>
          </a:p>
          <a:p>
            <a:pPr marL="342900" indent="-342900">
              <a:buFont typeface="Wingdings" panose="05000000000000000000" pitchFamily="2" charset="2"/>
              <a:buChar char="Ø"/>
            </a:pPr>
            <a:r>
              <a:rPr lang="en-US" sz="2800" b="1" err="1">
                <a:latin typeface="Comic Sans MS" panose="030F0702030302020204" pitchFamily="66" charset="0"/>
              </a:rPr>
              <a:t>Fanaee</a:t>
            </a:r>
            <a:r>
              <a:rPr lang="en-US" sz="2800" b="1">
                <a:latin typeface="Comic Sans MS" panose="030F0702030302020204" pitchFamily="66" charset="0"/>
              </a:rPr>
              <a:t>-T, H., &amp; Gama, J. (2014).</a:t>
            </a:r>
            <a:r>
              <a:rPr lang="en-US" sz="2800">
                <a:latin typeface="Comic Sans MS" panose="030F0702030302020204" pitchFamily="66" charset="0"/>
              </a:rPr>
              <a:t> </a:t>
            </a:r>
            <a:r>
              <a:rPr lang="en-US" sz="2800">
                <a:latin typeface="Comic Sans MS" panose="030F0702030302020204" pitchFamily="66" charset="0"/>
                <a:hlinkClick r:id="rId4"/>
              </a:rPr>
              <a:t>Event labeling combining ensemble detectors and background knowledge. </a:t>
            </a:r>
            <a:r>
              <a:rPr lang="en-US" sz="2800" i="1">
                <a:latin typeface="Comic Sans MS" panose="030F0702030302020204" pitchFamily="66" charset="0"/>
                <a:hlinkClick r:id="rId4"/>
              </a:rPr>
              <a:t>Progress in AI</a:t>
            </a:r>
            <a:r>
              <a:rPr lang="en-US" sz="2800">
                <a:latin typeface="Comic Sans MS" panose="030F0702030302020204" pitchFamily="66" charset="0"/>
                <a:hlinkClick r:id="rId4"/>
              </a:rPr>
              <a:t>, 2(2-3), 113-127.</a:t>
            </a:r>
            <a:endParaRPr lang="en-US" sz="2800">
              <a:latin typeface="Comic Sans MS" panose="030F0702030302020204" pitchFamily="66" charset="0"/>
            </a:endParaRPr>
          </a:p>
          <a:p>
            <a:pPr marL="342900" indent="-342900">
              <a:buFont typeface="Wingdings" panose="05000000000000000000" pitchFamily="2" charset="2"/>
              <a:buChar char="Ø"/>
            </a:pPr>
            <a:endParaRPr lang="en-US" sz="2800">
              <a:latin typeface="Comic Sans MS" panose="030F0702030302020204" pitchFamily="66" charset="0"/>
            </a:endParaRPr>
          </a:p>
          <a:p>
            <a:pPr marL="342900" indent="-342900">
              <a:buFont typeface="Wingdings" panose="05000000000000000000" pitchFamily="2" charset="2"/>
              <a:buChar char="Ø"/>
            </a:pPr>
            <a:r>
              <a:rPr lang="en-US" sz="2800" b="1">
                <a:latin typeface="Comic Sans MS" panose="030F0702030302020204" pitchFamily="66" charset="0"/>
              </a:rPr>
              <a:t>UCI Machine Learning Repository.</a:t>
            </a:r>
            <a:r>
              <a:rPr lang="en-US" sz="2800">
                <a:latin typeface="Comic Sans MS" panose="030F0702030302020204" pitchFamily="66" charset="0"/>
              </a:rPr>
              <a:t> Bike Sharing Dataset. </a:t>
            </a:r>
            <a:r>
              <a:rPr lang="en-US" sz="2800">
                <a:latin typeface="Comic Sans MS" panose="030F0702030302020204" pitchFamily="66" charset="0"/>
                <a:hlinkClick r:id="rId5"/>
              </a:rPr>
              <a:t>Dataset Source</a:t>
            </a:r>
            <a:endParaRPr lang="en-US" sz="2800">
              <a:latin typeface="Comic Sans MS" panose="030F0702030302020204" pitchFamily="66" charset="0"/>
            </a:endParaRPr>
          </a:p>
          <a:p>
            <a:endParaRPr lang="en-US" sz="2800">
              <a:latin typeface="Comic Sans MS" panose="030F0702030302020204" pitchFamily="66" charset="0"/>
            </a:endParaRPr>
          </a:p>
          <a:p>
            <a:pPr marL="342900" indent="-342900">
              <a:buFont typeface="Wingdings" panose="05000000000000000000" pitchFamily="2" charset="2"/>
              <a:buChar char="Ø"/>
            </a:pPr>
            <a:r>
              <a:rPr lang="en-US" sz="2800" b="1">
                <a:latin typeface="Comic Sans MS" panose="030F0702030302020204" pitchFamily="66" charset="0"/>
              </a:rPr>
              <a:t>Chen, T., &amp; </a:t>
            </a:r>
            <a:r>
              <a:rPr lang="en-US" sz="2800" b="1" err="1">
                <a:latin typeface="Comic Sans MS" panose="030F0702030302020204" pitchFamily="66" charset="0"/>
              </a:rPr>
              <a:t>Guestrin</a:t>
            </a:r>
            <a:r>
              <a:rPr lang="en-US" sz="2800" b="1">
                <a:latin typeface="Comic Sans MS" panose="030F0702030302020204" pitchFamily="66" charset="0"/>
              </a:rPr>
              <a:t>, C. (2016).</a:t>
            </a:r>
            <a:r>
              <a:rPr lang="en-US" sz="2800">
                <a:latin typeface="Comic Sans MS" panose="030F0702030302020204" pitchFamily="66" charset="0"/>
              </a:rPr>
              <a:t> </a:t>
            </a:r>
            <a:r>
              <a:rPr lang="en-US" sz="2800" err="1">
                <a:latin typeface="Comic Sans MS" panose="030F0702030302020204" pitchFamily="66" charset="0"/>
                <a:hlinkClick r:id="rId6"/>
              </a:rPr>
              <a:t>XGBoost</a:t>
            </a:r>
            <a:r>
              <a:rPr lang="en-US" sz="2800">
                <a:latin typeface="Comic Sans MS" panose="030F0702030302020204" pitchFamily="66" charset="0"/>
                <a:hlinkClick r:id="rId6"/>
              </a:rPr>
              <a:t>: A Scalable Tree Boosting System. </a:t>
            </a:r>
            <a:r>
              <a:rPr lang="en-US" sz="2800" i="1">
                <a:latin typeface="Comic Sans MS" panose="030F0702030302020204" pitchFamily="66" charset="0"/>
                <a:hlinkClick r:id="rId6"/>
              </a:rPr>
              <a:t>KDD '16</a:t>
            </a:r>
            <a:r>
              <a:rPr lang="en-US" sz="2800">
                <a:latin typeface="Comic Sans MS" panose="030F0702030302020204" pitchFamily="66" charset="0"/>
                <a:hlinkClick r:id="rId6"/>
              </a:rPr>
              <a:t>.</a:t>
            </a:r>
            <a:endParaRPr lang="en-US" sz="2800">
              <a:latin typeface="Comic Sans MS" panose="030F0702030302020204" pitchFamily="66" charset="0"/>
            </a:endParaRPr>
          </a:p>
          <a:p>
            <a:endParaRPr lang="en-US" sz="2800">
              <a:latin typeface="Comic Sans MS" panose="030F0702030302020204" pitchFamily="66" charset="0"/>
            </a:endParaRPr>
          </a:p>
          <a:p>
            <a:r>
              <a:rPr lang="en-US" sz="2800" b="1">
                <a:latin typeface="Comic Sans MS" panose="030F0702030302020204" pitchFamily="66" charset="0"/>
              </a:rPr>
              <a:t>Media Sources:</a:t>
            </a:r>
          </a:p>
          <a:p>
            <a:r>
              <a:rPr lang="en-US" sz="2800">
                <a:latin typeface="Comic Sans MS" panose="030F0702030302020204" pitchFamily="66" charset="0"/>
                <a:hlinkClick r:id="rId7"/>
              </a:rPr>
              <a:t>https://abcnews.com/US/hurricane-sandy-mass-transit-systems-closing-ahead-storm/story?id=17582687</a:t>
            </a:r>
            <a:endParaRPr lang="en-US" sz="2800">
              <a:latin typeface="Comic Sans MS" panose="030F0702030302020204" pitchFamily="66" charset="0"/>
            </a:endParaRPr>
          </a:p>
        </p:txBody>
      </p:sp>
    </p:spTree>
    <p:extLst>
      <p:ext uri="{BB962C8B-B14F-4D97-AF65-F5344CB8AC3E}">
        <p14:creationId xmlns:p14="http://schemas.microsoft.com/office/powerpoint/2010/main" val="3233809977"/>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F6F8"/>
        </a:solidFill>
        <a:effectLst/>
      </p:bgPr>
    </p:bg>
    <p:spTree>
      <p:nvGrpSpPr>
        <p:cNvPr id="1" name=""/>
        <p:cNvGrpSpPr/>
        <p:nvPr/>
      </p:nvGrpSpPr>
      <p:grpSpPr>
        <a:xfrm>
          <a:off x="0" y="0"/>
          <a:ext cx="0" cy="0"/>
          <a:chOff x="0" y="0"/>
          <a:chExt cx="0" cy="0"/>
        </a:xfrm>
      </p:grpSpPr>
      <p:grpSp>
        <p:nvGrpSpPr>
          <p:cNvPr id="2" name="Group 2"/>
          <p:cNvGrpSpPr/>
          <p:nvPr/>
        </p:nvGrpSpPr>
        <p:grpSpPr>
          <a:xfrm>
            <a:off x="9910741" y="-71373"/>
            <a:ext cx="8377259" cy="10358373"/>
            <a:chOff x="0" y="0"/>
            <a:chExt cx="2206356" cy="2728131"/>
          </a:xfrm>
        </p:grpSpPr>
        <p:sp>
          <p:nvSpPr>
            <p:cNvPr id="3" name="Freeform 3"/>
            <p:cNvSpPr/>
            <p:nvPr/>
          </p:nvSpPr>
          <p:spPr>
            <a:xfrm>
              <a:off x="0" y="0"/>
              <a:ext cx="2206356" cy="2728131"/>
            </a:xfrm>
            <a:custGeom>
              <a:avLst/>
              <a:gdLst/>
              <a:ahLst/>
              <a:cxnLst/>
              <a:rect l="l" t="t" r="r" b="b"/>
              <a:pathLst>
                <a:path w="2206356" h="2728131">
                  <a:moveTo>
                    <a:pt x="0" y="0"/>
                  </a:moveTo>
                  <a:lnTo>
                    <a:pt x="2206356" y="0"/>
                  </a:lnTo>
                  <a:lnTo>
                    <a:pt x="2206356" y="2728131"/>
                  </a:lnTo>
                  <a:lnTo>
                    <a:pt x="0" y="2728131"/>
                  </a:lnTo>
                  <a:close/>
                </a:path>
              </a:pathLst>
            </a:custGeom>
            <a:solidFill>
              <a:srgbClr val="1E2A38"/>
            </a:solidFill>
          </p:spPr>
          <p:txBody>
            <a:bodyPr/>
            <a:lstStyle/>
            <a:p>
              <a:endParaRPr lang="en-US"/>
            </a:p>
          </p:txBody>
        </p:sp>
        <p:sp>
          <p:nvSpPr>
            <p:cNvPr id="4" name="TextBox 4"/>
            <p:cNvSpPr txBox="1"/>
            <p:nvPr/>
          </p:nvSpPr>
          <p:spPr>
            <a:xfrm>
              <a:off x="0" y="-47625"/>
              <a:ext cx="2206356" cy="2775756"/>
            </a:xfrm>
            <a:prstGeom prst="rect">
              <a:avLst/>
            </a:prstGeom>
          </p:spPr>
          <p:txBody>
            <a:bodyPr lIns="50800" tIns="50800" rIns="50800" bIns="50800" rtlCol="0" anchor="ctr"/>
            <a:lstStyle/>
            <a:p>
              <a:pPr algn="ctr">
                <a:lnSpc>
                  <a:spcPts val="3360"/>
                </a:lnSpc>
              </a:pPr>
              <a:endParaRPr/>
            </a:p>
          </p:txBody>
        </p:sp>
      </p:grpSp>
      <p:sp>
        <p:nvSpPr>
          <p:cNvPr id="9" name="TextBox 9"/>
          <p:cNvSpPr txBox="1"/>
          <p:nvPr/>
        </p:nvSpPr>
        <p:spPr>
          <a:xfrm>
            <a:off x="10896600" y="3363746"/>
            <a:ext cx="7050817" cy="2616101"/>
          </a:xfrm>
          <a:prstGeom prst="rect">
            <a:avLst/>
          </a:prstGeom>
        </p:spPr>
        <p:txBody>
          <a:bodyPr wrap="square" lIns="0" tIns="0" rIns="0" bIns="0" rtlCol="0" anchor="t">
            <a:spAutoFit/>
          </a:bodyPr>
          <a:lstStyle/>
          <a:p>
            <a:pPr algn="ctr">
              <a:lnSpc>
                <a:spcPts val="6800"/>
              </a:lnSpc>
            </a:pPr>
            <a:r>
              <a:rPr lang="en-US" sz="6800" spc="-374">
                <a:solidFill>
                  <a:srgbClr val="F4F6F8"/>
                </a:solidFill>
                <a:latin typeface="Gabriola" panose="04040605051002020D02" pitchFamily="82" charset="0"/>
                <a:ea typeface="Heading Now 71-78"/>
                <a:cs typeface="Heading Now 71-78"/>
                <a:sym typeface="Heading Now 71-78"/>
              </a:rPr>
              <a:t>Thank you</a:t>
            </a:r>
          </a:p>
          <a:p>
            <a:pPr algn="ctr">
              <a:lnSpc>
                <a:spcPts val="6800"/>
              </a:lnSpc>
            </a:pPr>
            <a:endParaRPr lang="en-US" sz="6800" spc="-374">
              <a:solidFill>
                <a:srgbClr val="F4F6F8"/>
              </a:solidFill>
              <a:latin typeface="Gabriola" panose="04040605051002020D02" pitchFamily="82" charset="0"/>
              <a:ea typeface="Heading Now 71-78"/>
              <a:cs typeface="Heading Now 71-78"/>
              <a:sym typeface="Heading Now 71-78"/>
            </a:endParaRPr>
          </a:p>
          <a:p>
            <a:pPr algn="ctr">
              <a:lnSpc>
                <a:spcPts val="6800"/>
              </a:lnSpc>
            </a:pPr>
            <a:r>
              <a:rPr lang="en-US" sz="6800" spc="-374">
                <a:solidFill>
                  <a:srgbClr val="F4F6F8"/>
                </a:solidFill>
                <a:latin typeface="Gabriola" panose="04040605051002020D02" pitchFamily="82" charset="0"/>
                <a:ea typeface="Heading Now 71-78"/>
                <a:cs typeface="Heading Now 71-78"/>
                <a:sym typeface="Heading Now 71-78"/>
              </a:rPr>
              <a:t>Any Questions?</a:t>
            </a:r>
          </a:p>
        </p:txBody>
      </p:sp>
      <p:sp>
        <p:nvSpPr>
          <p:cNvPr id="10" name="Freeform 10"/>
          <p:cNvSpPr/>
          <p:nvPr/>
        </p:nvSpPr>
        <p:spPr>
          <a:xfrm rot="1174804" flipH="1">
            <a:off x="14480259" y="267966"/>
            <a:ext cx="5726172" cy="3261179"/>
          </a:xfrm>
          <a:custGeom>
            <a:avLst/>
            <a:gdLst/>
            <a:ahLst/>
            <a:cxnLst/>
            <a:rect l="l" t="t" r="r" b="b"/>
            <a:pathLst>
              <a:path w="5726172" h="3261179">
                <a:moveTo>
                  <a:pt x="5726172" y="0"/>
                </a:moveTo>
                <a:lnTo>
                  <a:pt x="0" y="0"/>
                </a:lnTo>
                <a:lnTo>
                  <a:pt x="0" y="3261179"/>
                </a:lnTo>
                <a:lnTo>
                  <a:pt x="5726172" y="3261179"/>
                </a:lnTo>
                <a:lnTo>
                  <a:pt x="5726172"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2" name="Freeform 12"/>
          <p:cNvSpPr/>
          <p:nvPr/>
        </p:nvSpPr>
        <p:spPr>
          <a:xfrm rot="1365931">
            <a:off x="731831" y="3065500"/>
            <a:ext cx="1545166" cy="1814013"/>
          </a:xfrm>
          <a:custGeom>
            <a:avLst/>
            <a:gdLst/>
            <a:ahLst/>
            <a:cxnLst/>
            <a:rect l="l" t="t" r="r" b="b"/>
            <a:pathLst>
              <a:path w="1545166" h="1814013">
                <a:moveTo>
                  <a:pt x="0" y="0"/>
                </a:moveTo>
                <a:lnTo>
                  <a:pt x="1545166" y="0"/>
                </a:lnTo>
                <a:lnTo>
                  <a:pt x="1545166" y="1814013"/>
                </a:lnTo>
                <a:lnTo>
                  <a:pt x="0" y="181401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6" name="Freeform 16"/>
          <p:cNvSpPr/>
          <p:nvPr/>
        </p:nvSpPr>
        <p:spPr>
          <a:xfrm>
            <a:off x="-1457396" y="-2128773"/>
            <a:ext cx="4246041" cy="4114800"/>
          </a:xfrm>
          <a:custGeom>
            <a:avLst/>
            <a:gdLst/>
            <a:ahLst/>
            <a:cxnLst/>
            <a:rect l="l" t="t" r="r" b="b"/>
            <a:pathLst>
              <a:path w="4246041" h="4114800">
                <a:moveTo>
                  <a:pt x="0" y="0"/>
                </a:moveTo>
                <a:lnTo>
                  <a:pt x="4246041" y="0"/>
                </a:lnTo>
                <a:lnTo>
                  <a:pt x="4246041"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17" name="Group 17"/>
          <p:cNvGrpSpPr/>
          <p:nvPr/>
        </p:nvGrpSpPr>
        <p:grpSpPr>
          <a:xfrm rot="-10800000">
            <a:off x="9144000" y="9258300"/>
            <a:ext cx="1573348" cy="1936429"/>
            <a:chOff x="0" y="0"/>
            <a:chExt cx="660400" cy="812800"/>
          </a:xfrm>
        </p:grpSpPr>
        <p:sp>
          <p:nvSpPr>
            <p:cNvPr id="18" name="Freeform 18"/>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F39C3D"/>
            </a:solidFill>
          </p:spPr>
          <p:txBody>
            <a:bodyPr/>
            <a:lstStyle/>
            <a:p>
              <a:endParaRPr lang="en-US"/>
            </a:p>
          </p:txBody>
        </p:sp>
        <p:sp>
          <p:nvSpPr>
            <p:cNvPr id="19" name="TextBox 19"/>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grpSp>
        <p:nvGrpSpPr>
          <p:cNvPr id="20" name="Group 20"/>
          <p:cNvGrpSpPr/>
          <p:nvPr/>
        </p:nvGrpSpPr>
        <p:grpSpPr>
          <a:xfrm>
            <a:off x="8476229" y="8282908"/>
            <a:ext cx="1181840" cy="1454573"/>
            <a:chOff x="0" y="0"/>
            <a:chExt cx="660400" cy="812800"/>
          </a:xfrm>
        </p:grpSpPr>
        <p:sp>
          <p:nvSpPr>
            <p:cNvPr id="21" name="Freeform 21"/>
            <p:cNvSpPr/>
            <p:nvPr/>
          </p:nvSpPr>
          <p:spPr>
            <a:xfrm>
              <a:off x="0" y="0"/>
              <a:ext cx="660400" cy="812800"/>
            </a:xfrm>
            <a:custGeom>
              <a:avLst/>
              <a:gdLst/>
              <a:ahLst/>
              <a:cxnLst/>
              <a:rect l="l" t="t" r="r" b="b"/>
              <a:pathLst>
                <a:path w="660400" h="8128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solidFill>
              <a:srgbClr val="1F7A63"/>
            </a:solidFill>
          </p:spPr>
          <p:txBody>
            <a:bodyPr/>
            <a:lstStyle/>
            <a:p>
              <a:endParaRPr lang="en-US"/>
            </a:p>
          </p:txBody>
        </p:sp>
        <p:sp>
          <p:nvSpPr>
            <p:cNvPr id="22" name="TextBox 22"/>
            <p:cNvSpPr txBox="1"/>
            <p:nvPr/>
          </p:nvSpPr>
          <p:spPr>
            <a:xfrm>
              <a:off x="0" y="79375"/>
              <a:ext cx="660400" cy="733425"/>
            </a:xfrm>
            <a:prstGeom prst="rect">
              <a:avLst/>
            </a:prstGeom>
          </p:spPr>
          <p:txBody>
            <a:bodyPr lIns="50800" tIns="50800" rIns="50800" bIns="50800" rtlCol="0" anchor="ctr"/>
            <a:lstStyle/>
            <a:p>
              <a:pPr algn="ctr">
                <a:lnSpc>
                  <a:spcPts val="3359"/>
                </a:lnSpc>
              </a:pPr>
              <a:endParaRPr/>
            </a:p>
          </p:txBody>
        </p:sp>
      </p:grpSp>
      <p:sp>
        <p:nvSpPr>
          <p:cNvPr id="5" name="Freeform 2">
            <a:extLst>
              <a:ext uri="{FF2B5EF4-FFF2-40B4-BE49-F238E27FC236}">
                <a16:creationId xmlns:a16="http://schemas.microsoft.com/office/drawing/2014/main" id="{BA48FB3F-5570-2EA7-C657-F476E1E84FD7}"/>
              </a:ext>
            </a:extLst>
          </p:cNvPr>
          <p:cNvSpPr/>
          <p:nvPr/>
        </p:nvSpPr>
        <p:spPr>
          <a:xfrm>
            <a:off x="2254667" y="3632925"/>
            <a:ext cx="5838191" cy="5455051"/>
          </a:xfrm>
          <a:custGeom>
            <a:avLst/>
            <a:gdLst/>
            <a:ahLst/>
            <a:cxnLst/>
            <a:rect l="l" t="t" r="r" b="b"/>
            <a:pathLst>
              <a:path w="5838191" h="5455051">
                <a:moveTo>
                  <a:pt x="5838191" y="0"/>
                </a:moveTo>
                <a:lnTo>
                  <a:pt x="0" y="0"/>
                </a:lnTo>
                <a:lnTo>
                  <a:pt x="0" y="5455051"/>
                </a:lnTo>
                <a:lnTo>
                  <a:pt x="5838191" y="5455051"/>
                </a:lnTo>
                <a:lnTo>
                  <a:pt x="5838191"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transition spd="slow">
    <p:wipe dir="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1052</TotalTime>
  <Words>2929</Words>
  <Application>Microsoft Office PowerPoint</Application>
  <PresentationFormat>Custom</PresentationFormat>
  <Paragraphs>308</Paragraphs>
  <Slides>21</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Gabriola</vt:lpstr>
      <vt:lpstr>Calibri</vt:lpstr>
      <vt:lpstr>Wingdings</vt:lpstr>
      <vt:lpstr>Comic Sans MS</vt:lpstr>
      <vt:lpstr>Arial</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5306_GRP6_ppt</dc:title>
  <cp:lastModifiedBy>Ch Venkata Satya Sreeya</cp:lastModifiedBy>
  <cp:revision>1</cp:revision>
  <dcterms:created xsi:type="dcterms:W3CDTF">2006-08-16T00:00:00Z</dcterms:created>
  <dcterms:modified xsi:type="dcterms:W3CDTF">2026-05-01T18:00:34Z</dcterms:modified>
  <dc:identifier>DAHHhUw2c1k</dc:identifier>
</cp:coreProperties>
</file>